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102136"/>
    <a:srgbClr val="17304F"/>
    <a:srgbClr val="1B3A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102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6844E4-EE2A-402E-842C-8AEC32C35EA2}"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E20E8B-645E-4B86-8EF6-71C90E071519}" type="slidenum">
              <a:rPr lang="en-US" smtClean="0"/>
              <a:t>‹#›</a:t>
            </a:fld>
            <a:endParaRPr lang="en-US"/>
          </a:p>
        </p:txBody>
      </p:sp>
    </p:spTree>
    <p:extLst>
      <p:ext uri="{BB962C8B-B14F-4D97-AF65-F5344CB8AC3E}">
        <p14:creationId xmlns:p14="http://schemas.microsoft.com/office/powerpoint/2010/main" val="1269150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 name="Google Shape;2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 name="Google Shape;6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5" name="Google Shape;6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7" name="Google Shape;17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7" name="Google Shape;337;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2" name="Google Shape;35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5" name="Google Shape;39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6" name="Google Shape;39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4" name="Google Shape;434;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2FB0D-D8AE-8BB4-CB08-4E16FF1008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9E019-E803-D044-9000-02BC9DBAA3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25744F-0F8A-EF99-DDD6-EADEA59C7BD7}"/>
              </a:ext>
            </a:extLst>
          </p:cNvPr>
          <p:cNvSpPr>
            <a:spLocks noGrp="1"/>
          </p:cNvSpPr>
          <p:nvPr>
            <p:ph type="dt" sz="half" idx="10"/>
          </p:nvPr>
        </p:nvSpPr>
        <p:spPr/>
        <p:txBody>
          <a:bodyPr/>
          <a:lstStyle/>
          <a:p>
            <a:fld id="{BA76D95A-08C2-4979-BD0E-164947926AF4}" type="datetime1">
              <a:rPr lang="en-US" smtClean="0"/>
              <a:t>9/16/2026</a:t>
            </a:fld>
            <a:endParaRPr lang="en-US"/>
          </a:p>
        </p:txBody>
      </p:sp>
      <p:sp>
        <p:nvSpPr>
          <p:cNvPr id="5" name="Footer Placeholder 4">
            <a:extLst>
              <a:ext uri="{FF2B5EF4-FFF2-40B4-BE49-F238E27FC236}">
                <a16:creationId xmlns:a16="http://schemas.microsoft.com/office/drawing/2014/main" id="{99063747-7852-EC6E-0328-9CD29C7274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F7EEE4-259B-93B0-A05E-F4AED5BEC6C0}"/>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3081960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E1C2A-DBE3-A006-BC5D-9ABA2BA6D1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194A20-E171-DF8E-29E9-841F055032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FC2F52-7717-68FB-14C2-E3D88A1F572C}"/>
              </a:ext>
            </a:extLst>
          </p:cNvPr>
          <p:cNvSpPr>
            <a:spLocks noGrp="1"/>
          </p:cNvSpPr>
          <p:nvPr>
            <p:ph type="dt" sz="half" idx="10"/>
          </p:nvPr>
        </p:nvSpPr>
        <p:spPr/>
        <p:txBody>
          <a:bodyPr/>
          <a:lstStyle/>
          <a:p>
            <a:fld id="{346444F8-ABFD-4B49-8526-94AA9CB7C1BE}" type="datetime1">
              <a:rPr lang="en-US" smtClean="0"/>
              <a:t>9/16/2026</a:t>
            </a:fld>
            <a:endParaRPr lang="en-US"/>
          </a:p>
        </p:txBody>
      </p:sp>
      <p:sp>
        <p:nvSpPr>
          <p:cNvPr id="5" name="Footer Placeholder 4">
            <a:extLst>
              <a:ext uri="{FF2B5EF4-FFF2-40B4-BE49-F238E27FC236}">
                <a16:creationId xmlns:a16="http://schemas.microsoft.com/office/drawing/2014/main" id="{D70D2E1F-1345-EF32-94BB-00AEB25FDD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583E17-1840-E629-9AF7-C55B234284C3}"/>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2897697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17B9-679B-EC37-6BCE-87ABD19EDD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251667-751E-DEA2-AA33-EFCAD92A9F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1B5A7D-020F-E654-5F08-F1A81A376D26}"/>
              </a:ext>
            </a:extLst>
          </p:cNvPr>
          <p:cNvSpPr>
            <a:spLocks noGrp="1"/>
          </p:cNvSpPr>
          <p:nvPr>
            <p:ph type="dt" sz="half" idx="10"/>
          </p:nvPr>
        </p:nvSpPr>
        <p:spPr/>
        <p:txBody>
          <a:bodyPr/>
          <a:lstStyle/>
          <a:p>
            <a:fld id="{28AF7616-070D-4A48-812D-D5FA5B39B854}" type="datetime1">
              <a:rPr lang="en-US" smtClean="0"/>
              <a:t>9/16/2026</a:t>
            </a:fld>
            <a:endParaRPr lang="en-US"/>
          </a:p>
        </p:txBody>
      </p:sp>
      <p:sp>
        <p:nvSpPr>
          <p:cNvPr id="5" name="Footer Placeholder 4">
            <a:extLst>
              <a:ext uri="{FF2B5EF4-FFF2-40B4-BE49-F238E27FC236}">
                <a16:creationId xmlns:a16="http://schemas.microsoft.com/office/drawing/2014/main" id="{9FA340F3-617F-D471-EDFD-84406C1AEA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036710-7447-4C40-1127-E1B446B660D4}"/>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2590474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A0917-463A-8263-8522-9D59C3E1AD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B50D80-411B-25E4-A079-3E8A4E68E9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CDC560-13CC-B90E-F540-57AEA1B713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C1097A-DF7A-9BF2-6F1C-2BB0500329E3}"/>
              </a:ext>
            </a:extLst>
          </p:cNvPr>
          <p:cNvSpPr>
            <a:spLocks noGrp="1"/>
          </p:cNvSpPr>
          <p:nvPr>
            <p:ph type="dt" sz="half" idx="10"/>
          </p:nvPr>
        </p:nvSpPr>
        <p:spPr/>
        <p:txBody>
          <a:bodyPr/>
          <a:lstStyle/>
          <a:p>
            <a:fld id="{67BBAC62-69F1-4721-8F6F-3459BF674152}" type="datetime1">
              <a:rPr lang="en-US" smtClean="0"/>
              <a:t>9/16/2026</a:t>
            </a:fld>
            <a:endParaRPr lang="en-US"/>
          </a:p>
        </p:txBody>
      </p:sp>
      <p:sp>
        <p:nvSpPr>
          <p:cNvPr id="6" name="Footer Placeholder 5">
            <a:extLst>
              <a:ext uri="{FF2B5EF4-FFF2-40B4-BE49-F238E27FC236}">
                <a16:creationId xmlns:a16="http://schemas.microsoft.com/office/drawing/2014/main" id="{7610FB2F-5217-F321-55CC-62A43DE29E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F6B689-2E0A-502C-167A-0F58B832B09D}"/>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3188149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AF47-8185-7E92-E60D-6685644725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B493DA-2118-24B3-9D70-67BFFFEC65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5C4932-A1C9-D5A2-E953-F0720303AE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FD82F2-8ED0-7043-CFB2-2F40900930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9DAA43-269E-55E9-7DE1-F6FDC935BE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0D3BF-C749-F28E-DB95-1037336FD46E}"/>
              </a:ext>
            </a:extLst>
          </p:cNvPr>
          <p:cNvSpPr>
            <a:spLocks noGrp="1"/>
          </p:cNvSpPr>
          <p:nvPr>
            <p:ph type="dt" sz="half" idx="10"/>
          </p:nvPr>
        </p:nvSpPr>
        <p:spPr/>
        <p:txBody>
          <a:bodyPr/>
          <a:lstStyle/>
          <a:p>
            <a:fld id="{AE80AFFA-0E97-4494-88AF-ADC141629E26}" type="datetime1">
              <a:rPr lang="en-US" smtClean="0"/>
              <a:t>9/16/2026</a:t>
            </a:fld>
            <a:endParaRPr lang="en-US"/>
          </a:p>
        </p:txBody>
      </p:sp>
      <p:sp>
        <p:nvSpPr>
          <p:cNvPr id="8" name="Footer Placeholder 7">
            <a:extLst>
              <a:ext uri="{FF2B5EF4-FFF2-40B4-BE49-F238E27FC236}">
                <a16:creationId xmlns:a16="http://schemas.microsoft.com/office/drawing/2014/main" id="{EBB10A2B-769D-694C-2317-2D16EA4294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B44CD8-D021-038A-CDDB-13CEBE0E5A0C}"/>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3789066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52377-91CB-F55A-3746-E68C1120870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C6E188-7510-63BE-FD3D-A543C08A70D8}"/>
              </a:ext>
            </a:extLst>
          </p:cNvPr>
          <p:cNvSpPr>
            <a:spLocks noGrp="1"/>
          </p:cNvSpPr>
          <p:nvPr>
            <p:ph type="dt" sz="half" idx="10"/>
          </p:nvPr>
        </p:nvSpPr>
        <p:spPr/>
        <p:txBody>
          <a:bodyPr/>
          <a:lstStyle/>
          <a:p>
            <a:fld id="{D8C72E00-DD91-4FAF-9AE9-697FAD9EA75F}" type="datetime1">
              <a:rPr lang="en-US" smtClean="0"/>
              <a:t>9/16/2026</a:t>
            </a:fld>
            <a:endParaRPr lang="en-US"/>
          </a:p>
        </p:txBody>
      </p:sp>
      <p:sp>
        <p:nvSpPr>
          <p:cNvPr id="4" name="Footer Placeholder 3">
            <a:extLst>
              <a:ext uri="{FF2B5EF4-FFF2-40B4-BE49-F238E27FC236}">
                <a16:creationId xmlns:a16="http://schemas.microsoft.com/office/drawing/2014/main" id="{195A5923-8049-5A8A-DC2E-F47E13B3F3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10E78F0-4E6E-6DC8-EF46-046E5F529CA2}"/>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4230951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303ABD-F4DA-2B33-5D91-07651EEF4931}"/>
              </a:ext>
            </a:extLst>
          </p:cNvPr>
          <p:cNvSpPr>
            <a:spLocks noGrp="1"/>
          </p:cNvSpPr>
          <p:nvPr>
            <p:ph type="dt" sz="half" idx="10"/>
          </p:nvPr>
        </p:nvSpPr>
        <p:spPr/>
        <p:txBody>
          <a:bodyPr/>
          <a:lstStyle/>
          <a:p>
            <a:fld id="{E4928816-5F6A-43EA-A896-3FCDECFF9C63}" type="datetime1">
              <a:rPr lang="en-US" smtClean="0"/>
              <a:t>9/16/2026</a:t>
            </a:fld>
            <a:endParaRPr lang="en-US"/>
          </a:p>
        </p:txBody>
      </p:sp>
      <p:sp>
        <p:nvSpPr>
          <p:cNvPr id="3" name="Footer Placeholder 2">
            <a:extLst>
              <a:ext uri="{FF2B5EF4-FFF2-40B4-BE49-F238E27FC236}">
                <a16:creationId xmlns:a16="http://schemas.microsoft.com/office/drawing/2014/main" id="{CA1A3975-51A9-AFE3-B43B-D231B1BD78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87F98F-6E99-43D2-FB8C-64D9FE0785C8}"/>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3225878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4546B-B076-4A92-EC39-59A8263BE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376C1F-521E-686F-010A-0CC18D146E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6CAF3D-2FCF-AB81-83EF-F1B206E023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EDFE0-9CC7-B2CC-25DE-E8BF1A93BB95}"/>
              </a:ext>
            </a:extLst>
          </p:cNvPr>
          <p:cNvSpPr>
            <a:spLocks noGrp="1"/>
          </p:cNvSpPr>
          <p:nvPr>
            <p:ph type="dt" sz="half" idx="10"/>
          </p:nvPr>
        </p:nvSpPr>
        <p:spPr/>
        <p:txBody>
          <a:bodyPr/>
          <a:lstStyle/>
          <a:p>
            <a:fld id="{AD045E56-8B35-4741-8F9B-BC01CEF4EE2B}" type="datetime1">
              <a:rPr lang="en-US" smtClean="0"/>
              <a:t>9/16/2026</a:t>
            </a:fld>
            <a:endParaRPr lang="en-US"/>
          </a:p>
        </p:txBody>
      </p:sp>
      <p:sp>
        <p:nvSpPr>
          <p:cNvPr id="6" name="Footer Placeholder 5">
            <a:extLst>
              <a:ext uri="{FF2B5EF4-FFF2-40B4-BE49-F238E27FC236}">
                <a16:creationId xmlns:a16="http://schemas.microsoft.com/office/drawing/2014/main" id="{D967DC8B-5BB1-473F-0A46-7A1AC7F54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D49A50-69DA-790C-599F-02920D45B7E3}"/>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1277478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DE70D-2846-D744-EC43-2F8D5AC73D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47C07F-3962-B3A5-BE87-B89E10C44C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CB0DE4-B86E-FEDF-0D7F-601E20A45D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8AEDF6-8378-D590-5AA1-632B84D99564}"/>
              </a:ext>
            </a:extLst>
          </p:cNvPr>
          <p:cNvSpPr>
            <a:spLocks noGrp="1"/>
          </p:cNvSpPr>
          <p:nvPr>
            <p:ph type="dt" sz="half" idx="10"/>
          </p:nvPr>
        </p:nvSpPr>
        <p:spPr/>
        <p:txBody>
          <a:bodyPr/>
          <a:lstStyle/>
          <a:p>
            <a:fld id="{A07B3274-F188-48B0-865A-DD7CA7BF9C57}" type="datetime1">
              <a:rPr lang="en-US" smtClean="0"/>
              <a:t>9/16/2026</a:t>
            </a:fld>
            <a:endParaRPr lang="en-US"/>
          </a:p>
        </p:txBody>
      </p:sp>
      <p:sp>
        <p:nvSpPr>
          <p:cNvPr id="6" name="Footer Placeholder 5">
            <a:extLst>
              <a:ext uri="{FF2B5EF4-FFF2-40B4-BE49-F238E27FC236}">
                <a16:creationId xmlns:a16="http://schemas.microsoft.com/office/drawing/2014/main" id="{C4282E1B-B978-7EAB-E871-C73B37E46D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A3C334-270D-4F05-5122-ABBF99E1D85F}"/>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1696845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4988B-63D1-064F-9AF2-60DF38EC3B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72F96A-A341-AFDC-C5A8-ECE2C8B734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C1C4A2-D147-9152-F119-90F67F5C4B67}"/>
              </a:ext>
            </a:extLst>
          </p:cNvPr>
          <p:cNvSpPr>
            <a:spLocks noGrp="1"/>
          </p:cNvSpPr>
          <p:nvPr>
            <p:ph type="dt" sz="half" idx="10"/>
          </p:nvPr>
        </p:nvSpPr>
        <p:spPr/>
        <p:txBody>
          <a:bodyPr/>
          <a:lstStyle/>
          <a:p>
            <a:fld id="{1B8C4B4A-28EF-4429-9A62-AB22C0960A2E}" type="datetime1">
              <a:rPr lang="en-US" smtClean="0"/>
              <a:t>9/16/2026</a:t>
            </a:fld>
            <a:endParaRPr lang="en-US"/>
          </a:p>
        </p:txBody>
      </p:sp>
      <p:sp>
        <p:nvSpPr>
          <p:cNvPr id="5" name="Footer Placeholder 4">
            <a:extLst>
              <a:ext uri="{FF2B5EF4-FFF2-40B4-BE49-F238E27FC236}">
                <a16:creationId xmlns:a16="http://schemas.microsoft.com/office/drawing/2014/main" id="{A7C589A3-50C5-97AD-243A-AD87AB1CB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4F6D90-A694-D016-DCA0-671AEE71BED4}"/>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723739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ED29E4-A866-84F0-F19B-B624785D30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49AB00-3A7B-6A1A-3731-0D1835A963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6461C4-7C39-87C1-D0E4-EDE1A0E8F88D}"/>
              </a:ext>
            </a:extLst>
          </p:cNvPr>
          <p:cNvSpPr>
            <a:spLocks noGrp="1"/>
          </p:cNvSpPr>
          <p:nvPr>
            <p:ph type="dt" sz="half" idx="10"/>
          </p:nvPr>
        </p:nvSpPr>
        <p:spPr/>
        <p:txBody>
          <a:bodyPr/>
          <a:lstStyle/>
          <a:p>
            <a:fld id="{7FBDB2E8-4891-43D1-8E6F-A1B2EB75C46F}" type="datetime1">
              <a:rPr lang="en-US" smtClean="0"/>
              <a:t>9/16/2026</a:t>
            </a:fld>
            <a:endParaRPr lang="en-US"/>
          </a:p>
        </p:txBody>
      </p:sp>
      <p:sp>
        <p:nvSpPr>
          <p:cNvPr id="5" name="Footer Placeholder 4">
            <a:extLst>
              <a:ext uri="{FF2B5EF4-FFF2-40B4-BE49-F238E27FC236}">
                <a16:creationId xmlns:a16="http://schemas.microsoft.com/office/drawing/2014/main" id="{188F9129-A6A6-E8D4-7481-A62861D4F9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60F8C7-F694-290C-C50E-6EB2A80BCE0D}"/>
              </a:ext>
            </a:extLst>
          </p:cNvPr>
          <p:cNvSpPr>
            <a:spLocks noGrp="1"/>
          </p:cNvSpPr>
          <p:nvPr>
            <p:ph type="sldNum" sz="quarter" idx="12"/>
          </p:nvPr>
        </p:nvSpPr>
        <p:spPr/>
        <p:txBody>
          <a:bodyPr/>
          <a:lstStyle/>
          <a:p>
            <a:fld id="{8EB36327-5F95-426A-8489-815E38143575}" type="slidenum">
              <a:rPr lang="en-US" smtClean="0"/>
              <a:t>‹#›</a:t>
            </a:fld>
            <a:endParaRPr lang="en-US"/>
          </a:p>
        </p:txBody>
      </p:sp>
    </p:spTree>
    <p:extLst>
      <p:ext uri="{BB962C8B-B14F-4D97-AF65-F5344CB8AC3E}">
        <p14:creationId xmlns:p14="http://schemas.microsoft.com/office/powerpoint/2010/main" val="25504569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3664213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93BC42-3F04-A56A-A9E6-ED99DD0981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EDF7C5B-56E3-3275-A0C8-17C75411E2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F1D93C-344E-B1B5-0418-B457781F6D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A0322B-53B9-4E6D-82E2-96CAB5AE7491}" type="datetime1">
              <a:rPr lang="en-US" smtClean="0"/>
              <a:t>9/16/2026</a:t>
            </a:fld>
            <a:endParaRPr lang="en-US"/>
          </a:p>
        </p:txBody>
      </p:sp>
      <p:sp>
        <p:nvSpPr>
          <p:cNvPr id="5" name="Footer Placeholder 4">
            <a:extLst>
              <a:ext uri="{FF2B5EF4-FFF2-40B4-BE49-F238E27FC236}">
                <a16:creationId xmlns:a16="http://schemas.microsoft.com/office/drawing/2014/main" id="{449858F4-FF9D-831B-1C27-A827905860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B16C86-4059-2817-39A6-183F67C9D0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B36327-5F95-426A-8489-815E38143575}" type="slidenum">
              <a:rPr lang="en-US" smtClean="0"/>
              <a:t>‹#›</a:t>
            </a:fld>
            <a:endParaRPr lang="en-US"/>
          </a:p>
        </p:txBody>
      </p:sp>
      <p:sp>
        <p:nvSpPr>
          <p:cNvPr id="8" name="Google Shape;312;p14">
            <a:extLst>
              <a:ext uri="{FF2B5EF4-FFF2-40B4-BE49-F238E27FC236}">
                <a16:creationId xmlns:a16="http://schemas.microsoft.com/office/drawing/2014/main" id="{4701F558-0D18-EA2E-5CBB-D3AC01EAC6EC}"/>
              </a:ext>
            </a:extLst>
          </p:cNvPr>
          <p:cNvSpPr txBox="1"/>
          <p:nvPr userDrawn="1"/>
        </p:nvSpPr>
        <p:spPr>
          <a:xfrm>
            <a:off x="548640" y="6473952"/>
            <a:ext cx="7315200"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000"/>
              <a:buFont typeface="Calibri"/>
              <a:buNone/>
            </a:pPr>
            <a:r>
              <a:rPr lang="en-US" sz="1000" b="0" i="0" u="none" strike="noStrike" cap="none" dirty="0">
                <a:solidFill>
                  <a:srgbClr val="5B6472"/>
                </a:solidFill>
                <a:latin typeface="Calibri"/>
                <a:ea typeface="Calibri"/>
                <a:cs typeface="Calibri"/>
                <a:sym typeface="Calibri"/>
              </a:rPr>
              <a:t>Determinants and Dynamics of Nigeria's External Reserves</a:t>
            </a:r>
            <a:endParaRPr sz="1000" b="0" i="0" u="none" strike="noStrike" cap="none" dirty="0">
              <a:solidFill>
                <a:schemeClr val="dk1"/>
              </a:solidFill>
              <a:latin typeface="Calibri"/>
              <a:ea typeface="Calibri"/>
              <a:cs typeface="Calibri"/>
              <a:sym typeface="Calibri"/>
            </a:endParaRPr>
          </a:p>
        </p:txBody>
      </p:sp>
      <p:sp>
        <p:nvSpPr>
          <p:cNvPr id="12" name="TextBox 11">
            <a:extLst>
              <a:ext uri="{FF2B5EF4-FFF2-40B4-BE49-F238E27FC236}">
                <a16:creationId xmlns:a16="http://schemas.microsoft.com/office/drawing/2014/main" id="{E74F131E-4AE5-FDCC-4410-399E07F8774D}"/>
              </a:ext>
            </a:extLst>
          </p:cNvPr>
          <p:cNvSpPr txBox="1"/>
          <p:nvPr userDrawn="1"/>
        </p:nvSpPr>
        <p:spPr>
          <a:xfrm rot="19343243">
            <a:off x="1916645" y="1280803"/>
            <a:ext cx="7344508" cy="3631763"/>
          </a:xfrm>
          <a:prstGeom prst="rect">
            <a:avLst/>
          </a:prstGeom>
          <a:noFill/>
        </p:spPr>
        <p:txBody>
          <a:bodyPr wrap="square" rtlCol="0">
            <a:spAutoFit/>
          </a:bodyPr>
          <a:lstStyle/>
          <a:p>
            <a:pPr algn="ctr"/>
            <a:r>
              <a:rPr lang="en-US" sz="11500" dirty="0">
                <a:solidFill>
                  <a:srgbClr val="F2F2F2">
                    <a:alpha val="20000"/>
                  </a:srgbClr>
                </a:solidFill>
                <a:latin typeface="Calibri" panose="020F0502020204030204" pitchFamily="34" charset="0"/>
                <a:cs typeface="Calibri" panose="020F0502020204030204" pitchFamily="34" charset="0"/>
              </a:rPr>
              <a:t>RIDWAN OKESHOLA</a:t>
            </a:r>
          </a:p>
        </p:txBody>
      </p:sp>
    </p:spTree>
    <p:extLst>
      <p:ext uri="{BB962C8B-B14F-4D97-AF65-F5344CB8AC3E}">
        <p14:creationId xmlns:p14="http://schemas.microsoft.com/office/powerpoint/2010/main" val="2998980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02136"/>
        </a:solidFill>
        <a:effectLst/>
      </p:bgPr>
    </p:bg>
    <p:spTree>
      <p:nvGrpSpPr>
        <p:cNvPr id="1" name="Shape 15"/>
        <p:cNvGrpSpPr/>
        <p:nvPr/>
      </p:nvGrpSpPr>
      <p:grpSpPr>
        <a:xfrm>
          <a:off x="0" y="0"/>
          <a:ext cx="0" cy="0"/>
          <a:chOff x="0" y="0"/>
          <a:chExt cx="0" cy="0"/>
        </a:xfrm>
      </p:grpSpPr>
      <p:sp>
        <p:nvSpPr>
          <p:cNvPr id="16" name="Google Shape;16;p3"/>
          <p:cNvSpPr/>
          <p:nvPr/>
        </p:nvSpPr>
        <p:spPr>
          <a:xfrm>
            <a:off x="9418320" y="-2011680"/>
            <a:ext cx="5943600" cy="5943600"/>
          </a:xfrm>
          <a:prstGeom prst="ellipse">
            <a:avLst/>
          </a:prstGeom>
          <a:solidFill>
            <a:srgbClr val="173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3"/>
          <p:cNvSpPr/>
          <p:nvPr/>
        </p:nvSpPr>
        <p:spPr>
          <a:xfrm>
            <a:off x="10332720" y="-1097280"/>
            <a:ext cx="4114800" cy="4114800"/>
          </a:xfrm>
          <a:prstGeom prst="ellipse">
            <a:avLst/>
          </a:prstGeom>
          <a:solidFill>
            <a:srgbClr val="1B3A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txBox="1"/>
          <p:nvPr/>
        </p:nvSpPr>
        <p:spPr>
          <a:xfrm>
            <a:off x="731520" y="1554480"/>
            <a:ext cx="91440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4AF37"/>
              </a:buClr>
              <a:buSzPts val="1300"/>
              <a:buFont typeface="Calibri"/>
              <a:buNone/>
            </a:pPr>
            <a:r>
              <a:rPr lang="en-US" b="1" i="0" u="none" strike="noStrike" cap="none" dirty="0">
                <a:solidFill>
                  <a:srgbClr val="D4AF37"/>
                </a:solidFill>
                <a:latin typeface="Calibri"/>
                <a:ea typeface="Calibri"/>
                <a:cs typeface="Calibri"/>
                <a:sym typeface="Calibri"/>
              </a:rPr>
              <a:t>ECONOMETRIC ANALYSIS  ·  NIGERIA  ·  2005–2024</a:t>
            </a:r>
            <a:endParaRPr b="0" i="0" u="none" strike="noStrike" cap="none" dirty="0">
              <a:solidFill>
                <a:schemeClr val="dk1"/>
              </a:solidFill>
              <a:latin typeface="Calibri"/>
              <a:ea typeface="Calibri"/>
              <a:cs typeface="Calibri"/>
              <a:sym typeface="Calibri"/>
            </a:endParaRPr>
          </a:p>
        </p:txBody>
      </p:sp>
      <p:sp>
        <p:nvSpPr>
          <p:cNvPr id="19" name="Google Shape;19;p3"/>
          <p:cNvSpPr txBox="1"/>
          <p:nvPr/>
        </p:nvSpPr>
        <p:spPr>
          <a:xfrm>
            <a:off x="731520" y="1965960"/>
            <a:ext cx="10241280" cy="1828800"/>
          </a:xfrm>
          <a:prstGeom prst="rect">
            <a:avLst/>
          </a:prstGeom>
          <a:noFill/>
          <a:ln>
            <a:noFill/>
          </a:ln>
        </p:spPr>
        <p:txBody>
          <a:bodyPr spcFirstLastPara="1" wrap="square" lIns="91425" tIns="45700" rIns="91425" bIns="45700" anchor="ctr" anchorCtr="0">
            <a:noAutofit/>
          </a:bodyPr>
          <a:lstStyle/>
          <a:p>
            <a:pPr marL="0" marR="0" lvl="0" indent="0" algn="l" rtl="0">
              <a:lnSpc>
                <a:spcPct val="109523"/>
              </a:lnSpc>
              <a:spcBef>
                <a:spcPts val="0"/>
              </a:spcBef>
              <a:spcAft>
                <a:spcPts val="0"/>
              </a:spcAft>
              <a:buClr>
                <a:srgbClr val="FFFFFF"/>
              </a:buClr>
              <a:buSzPts val="4200"/>
              <a:buFont typeface="Cambria"/>
              <a:buNone/>
            </a:pPr>
            <a:r>
              <a:rPr lang="en-US" sz="4400" b="1" i="0" u="none" strike="noStrike" cap="none" dirty="0">
                <a:solidFill>
                  <a:srgbClr val="FFFFFF"/>
                </a:solidFill>
                <a:latin typeface="Cambria"/>
                <a:ea typeface="Cambria"/>
                <a:cs typeface="Cambria"/>
                <a:sym typeface="Cambria"/>
              </a:rPr>
              <a:t>Determinants and Dynamics of</a:t>
            </a:r>
            <a:endParaRPr sz="4400" b="0" i="0" u="none" strike="noStrike" cap="none" dirty="0">
              <a:solidFill>
                <a:schemeClr val="dk1"/>
              </a:solidFill>
              <a:latin typeface="Calibri"/>
              <a:ea typeface="Calibri"/>
              <a:cs typeface="Calibri"/>
              <a:sym typeface="Calibri"/>
            </a:endParaRPr>
          </a:p>
          <a:p>
            <a:pPr marL="0" marR="0" lvl="0" indent="0" algn="l" rtl="0">
              <a:lnSpc>
                <a:spcPct val="109523"/>
              </a:lnSpc>
              <a:spcBef>
                <a:spcPts val="0"/>
              </a:spcBef>
              <a:spcAft>
                <a:spcPts val="0"/>
              </a:spcAft>
              <a:buClr>
                <a:srgbClr val="FFFFFF"/>
              </a:buClr>
              <a:buSzPts val="4200"/>
              <a:buFont typeface="Cambria"/>
              <a:buNone/>
            </a:pPr>
            <a:r>
              <a:rPr lang="en-US" sz="4400" b="1" i="0" u="none" strike="noStrike" cap="none" dirty="0">
                <a:solidFill>
                  <a:srgbClr val="FFFFFF"/>
                </a:solidFill>
                <a:latin typeface="Cambria"/>
                <a:ea typeface="Cambria"/>
                <a:cs typeface="Cambria"/>
                <a:sym typeface="Cambria"/>
              </a:rPr>
              <a:t>Nigeria's External Reserves</a:t>
            </a:r>
            <a:endParaRPr sz="4400" b="0" i="0" u="none" strike="noStrike" cap="none" dirty="0">
              <a:solidFill>
                <a:schemeClr val="dk1"/>
              </a:solidFill>
              <a:latin typeface="Calibri"/>
              <a:ea typeface="Calibri"/>
              <a:cs typeface="Calibri"/>
              <a:sym typeface="Calibri"/>
            </a:endParaRPr>
          </a:p>
        </p:txBody>
      </p:sp>
      <p:sp>
        <p:nvSpPr>
          <p:cNvPr id="20" name="Google Shape;20;p3"/>
          <p:cNvSpPr txBox="1"/>
          <p:nvPr/>
        </p:nvSpPr>
        <p:spPr>
          <a:xfrm>
            <a:off x="731520" y="3777175"/>
            <a:ext cx="896112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FE0EF"/>
              </a:buClr>
              <a:buSzPts val="1600"/>
              <a:buFont typeface="Calibri"/>
              <a:buNone/>
            </a:pPr>
            <a:r>
              <a:rPr lang="en-US" sz="1800" b="0" i="1" u="none" strike="noStrike" cap="none" dirty="0">
                <a:solidFill>
                  <a:srgbClr val="CFE0EF"/>
                </a:solidFill>
                <a:latin typeface="Calibri"/>
                <a:ea typeface="Calibri"/>
                <a:cs typeface="Calibri"/>
                <a:sym typeface="Calibri"/>
              </a:rPr>
              <a:t>A Cointegration and Vector Error Correction (VECM) Approach to Exchange Rate, Interest Rate, Remittance, and FDI Linkages</a:t>
            </a:r>
            <a:endParaRPr sz="1800" b="0" i="0" u="none" strike="noStrike" cap="none" dirty="0">
              <a:solidFill>
                <a:schemeClr val="dk1"/>
              </a:solidFill>
              <a:latin typeface="Calibri"/>
              <a:ea typeface="Calibri"/>
              <a:cs typeface="Calibri"/>
              <a:sym typeface="Calibri"/>
            </a:endParaRPr>
          </a:p>
        </p:txBody>
      </p:sp>
      <p:cxnSp>
        <p:nvCxnSpPr>
          <p:cNvPr id="21" name="Google Shape;21;p3"/>
          <p:cNvCxnSpPr/>
          <p:nvPr/>
        </p:nvCxnSpPr>
        <p:spPr>
          <a:xfrm>
            <a:off x="731520" y="4709160"/>
            <a:ext cx="2011680" cy="0"/>
          </a:xfrm>
          <a:prstGeom prst="straightConnector1">
            <a:avLst/>
          </a:prstGeom>
          <a:noFill/>
          <a:ln w="25400" cap="flat" cmpd="sng">
            <a:solidFill>
              <a:srgbClr val="D4AF37"/>
            </a:solidFill>
            <a:prstDash val="solid"/>
            <a:round/>
            <a:headEnd type="none" w="sm" len="sm"/>
            <a:tailEnd type="none" w="sm" len="sm"/>
          </a:ln>
        </p:spPr>
      </p:cxnSp>
      <p:sp>
        <p:nvSpPr>
          <p:cNvPr id="22" name="Google Shape;22;p3"/>
          <p:cNvSpPr txBox="1"/>
          <p:nvPr/>
        </p:nvSpPr>
        <p:spPr>
          <a:xfrm>
            <a:off x="731520" y="4892040"/>
            <a:ext cx="54864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500"/>
              <a:buFont typeface="Calibri"/>
              <a:buNone/>
            </a:pPr>
            <a:r>
              <a:rPr lang="en-US" sz="1600" b="1" i="0" u="none" strike="noStrike" cap="none" dirty="0">
                <a:solidFill>
                  <a:srgbClr val="FFFFFF"/>
                </a:solidFill>
                <a:latin typeface="Calibri"/>
                <a:ea typeface="Calibri"/>
                <a:cs typeface="Calibri"/>
                <a:sym typeface="Calibri"/>
              </a:rPr>
              <a:t>Ridwan </a:t>
            </a:r>
            <a:r>
              <a:rPr lang="en-US" sz="1600" b="1" i="0" u="none" strike="noStrike" cap="none" dirty="0" err="1">
                <a:solidFill>
                  <a:srgbClr val="FFFFFF"/>
                </a:solidFill>
                <a:latin typeface="Calibri"/>
                <a:ea typeface="Calibri"/>
                <a:cs typeface="Calibri"/>
                <a:sym typeface="Calibri"/>
              </a:rPr>
              <a:t>Okeshola</a:t>
            </a:r>
            <a:r>
              <a:rPr lang="en-US" sz="1600" b="1" i="0" u="none" strike="noStrike" cap="none" dirty="0">
                <a:solidFill>
                  <a:srgbClr val="FFFFFF"/>
                </a:solidFill>
                <a:latin typeface="Calibri"/>
                <a:ea typeface="Calibri"/>
                <a:cs typeface="Calibri"/>
                <a:sym typeface="Calibri"/>
              </a:rPr>
              <a:t> </a:t>
            </a:r>
            <a:endParaRPr sz="1600" b="0" i="0" u="none" strike="noStrike" cap="none" dirty="0">
              <a:solidFill>
                <a:schemeClr val="dk1"/>
              </a:solidFill>
              <a:latin typeface="Calibri"/>
              <a:ea typeface="Calibri"/>
              <a:cs typeface="Calibri"/>
              <a:sym typeface="Calibri"/>
            </a:endParaRPr>
          </a:p>
        </p:txBody>
      </p:sp>
      <p:sp>
        <p:nvSpPr>
          <p:cNvPr id="23" name="Google Shape;23;p3"/>
          <p:cNvSpPr txBox="1"/>
          <p:nvPr/>
        </p:nvSpPr>
        <p:spPr>
          <a:xfrm>
            <a:off x="731520" y="5257800"/>
            <a:ext cx="96012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EC2D6"/>
              </a:buClr>
              <a:buSzPts val="1200"/>
              <a:buFont typeface="Calibri"/>
              <a:buNone/>
            </a:pPr>
            <a:r>
              <a:rPr lang="en-US" b="0" i="0" u="none" strike="noStrike" cap="none" dirty="0">
                <a:solidFill>
                  <a:srgbClr val="AEC2D6"/>
                </a:solidFill>
                <a:latin typeface="Calibri"/>
                <a:ea typeface="Calibri"/>
                <a:cs typeface="Calibri"/>
                <a:sym typeface="Calibri"/>
              </a:rPr>
              <a:t>Financial/ Economic Analyst</a:t>
            </a:r>
            <a:endParaRPr b="0" i="0" u="none" strike="noStrike" cap="none" dirty="0">
              <a:solidFill>
                <a:schemeClr val="dk1"/>
              </a:solidFill>
              <a:latin typeface="Calibri"/>
              <a:ea typeface="Calibri"/>
              <a:cs typeface="Calibri"/>
              <a:sym typeface="Calibri"/>
            </a:endParaRPr>
          </a:p>
        </p:txBody>
      </p:sp>
      <p:sp>
        <p:nvSpPr>
          <p:cNvPr id="24" name="Google Shape;24;p3"/>
          <p:cNvSpPr txBox="1"/>
          <p:nvPr/>
        </p:nvSpPr>
        <p:spPr>
          <a:xfrm>
            <a:off x="731520" y="5623560"/>
            <a:ext cx="5486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EC2D6"/>
              </a:buClr>
              <a:buSzPts val="1200"/>
              <a:buFont typeface="Calibri"/>
              <a:buNone/>
            </a:pPr>
            <a:r>
              <a:rPr lang="en-US" b="0" i="0" u="none" strike="noStrike" cap="none" dirty="0">
                <a:solidFill>
                  <a:srgbClr val="AEC2D6"/>
                </a:solidFill>
                <a:latin typeface="Calibri"/>
                <a:ea typeface="Calibri"/>
                <a:cs typeface="Calibri"/>
                <a:sym typeface="Calibri"/>
              </a:rPr>
              <a:t>September 2026</a:t>
            </a:r>
            <a:endParaRPr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4"/>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b="1" i="0" u="none" strike="noStrike" cap="none" dirty="0">
                <a:solidFill>
                  <a:srgbClr val="1F6F5C"/>
                </a:solidFill>
                <a:latin typeface="Calibri"/>
                <a:ea typeface="Calibri"/>
                <a:cs typeface="Calibri"/>
                <a:sym typeface="Calibri"/>
              </a:rPr>
              <a:t>ROADMAP</a:t>
            </a:r>
            <a:endParaRPr b="0" i="0" u="none" strike="noStrike" cap="none" dirty="0">
              <a:solidFill>
                <a:schemeClr val="dk1"/>
              </a:solidFill>
              <a:latin typeface="Calibri"/>
              <a:ea typeface="Calibri"/>
              <a:cs typeface="Calibri"/>
              <a:sym typeface="Calibri"/>
            </a:endParaRPr>
          </a:p>
        </p:txBody>
      </p:sp>
      <p:sp>
        <p:nvSpPr>
          <p:cNvPr id="31" name="Google Shape;31;p4"/>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200" b="1" i="0" u="none" strike="noStrike" cap="none" dirty="0">
                <a:solidFill>
                  <a:srgbClr val="10243E"/>
                </a:solidFill>
                <a:latin typeface="Cambria"/>
                <a:ea typeface="Cambria"/>
                <a:cs typeface="Cambria"/>
                <a:sym typeface="Cambria"/>
              </a:rPr>
              <a:t>What This Analysis Covers</a:t>
            </a:r>
            <a:endParaRPr sz="3200" b="0" i="0" u="none" strike="noStrike" cap="none" dirty="0">
              <a:solidFill>
                <a:schemeClr val="dk1"/>
              </a:solidFill>
              <a:latin typeface="Calibri"/>
              <a:ea typeface="Calibri"/>
              <a:cs typeface="Calibri"/>
              <a:sym typeface="Calibri"/>
            </a:endParaRPr>
          </a:p>
        </p:txBody>
      </p:sp>
      <p:sp>
        <p:nvSpPr>
          <p:cNvPr id="32" name="Google Shape;32;p4"/>
          <p:cNvSpPr/>
          <p:nvPr/>
        </p:nvSpPr>
        <p:spPr>
          <a:xfrm>
            <a:off x="548640" y="1508760"/>
            <a:ext cx="566928" cy="566928"/>
          </a:xfrm>
          <a:prstGeom prst="roundRect">
            <a:avLst>
              <a:gd name="adj" fmla="val 16129"/>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33" name="Google Shape;33;p4"/>
          <p:cNvSpPr txBox="1"/>
          <p:nvPr/>
        </p:nvSpPr>
        <p:spPr>
          <a:xfrm>
            <a:off x="548640" y="1508760"/>
            <a:ext cx="566928" cy="56692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2000" b="1" i="0" u="none" strike="noStrike" cap="none">
                <a:solidFill>
                  <a:srgbClr val="D4AF37"/>
                </a:solidFill>
                <a:latin typeface="Cambria"/>
                <a:ea typeface="Cambria"/>
                <a:cs typeface="Cambria"/>
                <a:sym typeface="Cambria"/>
              </a:rPr>
              <a:t>01</a:t>
            </a:r>
            <a:endParaRPr sz="2000" b="0" i="0" u="none" strike="noStrike" cap="none">
              <a:solidFill>
                <a:schemeClr val="dk1"/>
              </a:solidFill>
              <a:latin typeface="Calibri"/>
              <a:ea typeface="Calibri"/>
              <a:cs typeface="Calibri"/>
              <a:sym typeface="Calibri"/>
            </a:endParaRPr>
          </a:p>
        </p:txBody>
      </p:sp>
      <p:sp>
        <p:nvSpPr>
          <p:cNvPr id="34" name="Google Shape;34;p4"/>
          <p:cNvSpPr txBox="1"/>
          <p:nvPr/>
        </p:nvSpPr>
        <p:spPr>
          <a:xfrm>
            <a:off x="1298448" y="1453896"/>
            <a:ext cx="4599432"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500"/>
              <a:buFont typeface="Calibri"/>
              <a:buNone/>
            </a:pPr>
            <a:r>
              <a:rPr lang="en-US" sz="1600" b="1" i="0" u="none" strike="noStrike" cap="none" dirty="0">
                <a:solidFill>
                  <a:srgbClr val="10243E"/>
                </a:solidFill>
                <a:latin typeface="Calibri"/>
                <a:ea typeface="Calibri"/>
                <a:cs typeface="Calibri"/>
                <a:sym typeface="Calibri"/>
              </a:rPr>
              <a:t>Background &amp; Objective</a:t>
            </a:r>
            <a:endParaRPr sz="1600" b="0" i="0" u="none" strike="noStrike" cap="none" dirty="0">
              <a:solidFill>
                <a:schemeClr val="dk1"/>
              </a:solidFill>
              <a:latin typeface="Calibri"/>
              <a:ea typeface="Calibri"/>
              <a:cs typeface="Calibri"/>
              <a:sym typeface="Calibri"/>
            </a:endParaRPr>
          </a:p>
        </p:txBody>
      </p:sp>
      <p:sp>
        <p:nvSpPr>
          <p:cNvPr id="35" name="Google Shape;35;p4"/>
          <p:cNvSpPr txBox="1"/>
          <p:nvPr/>
        </p:nvSpPr>
        <p:spPr>
          <a:xfrm>
            <a:off x="1298448" y="1801368"/>
            <a:ext cx="4599432"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dirty="0">
                <a:solidFill>
                  <a:srgbClr val="5B6472"/>
                </a:solidFill>
                <a:latin typeface="Calibri"/>
                <a:ea typeface="Calibri"/>
                <a:cs typeface="Calibri"/>
                <a:sym typeface="Calibri"/>
              </a:rPr>
              <a:t>Why reserves matter for Nigeria, and the question this study asks</a:t>
            </a:r>
            <a:endParaRPr sz="1200" b="0" i="0" u="none" strike="noStrike" cap="none" dirty="0">
              <a:solidFill>
                <a:schemeClr val="dk1"/>
              </a:solidFill>
              <a:latin typeface="Calibri"/>
              <a:ea typeface="Calibri"/>
              <a:cs typeface="Calibri"/>
              <a:sym typeface="Calibri"/>
            </a:endParaRPr>
          </a:p>
        </p:txBody>
      </p:sp>
      <p:sp>
        <p:nvSpPr>
          <p:cNvPr id="36" name="Google Shape;36;p4"/>
          <p:cNvSpPr/>
          <p:nvPr/>
        </p:nvSpPr>
        <p:spPr>
          <a:xfrm>
            <a:off x="6263640" y="1508760"/>
            <a:ext cx="566928" cy="566928"/>
          </a:xfrm>
          <a:prstGeom prst="roundRect">
            <a:avLst>
              <a:gd name="adj" fmla="val 16129"/>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37" name="Google Shape;37;p4"/>
          <p:cNvSpPr txBox="1"/>
          <p:nvPr/>
        </p:nvSpPr>
        <p:spPr>
          <a:xfrm>
            <a:off x="6263640" y="1508760"/>
            <a:ext cx="566928" cy="56692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2000" b="1" i="0" u="none" strike="noStrike" cap="none">
                <a:solidFill>
                  <a:srgbClr val="D4AF37"/>
                </a:solidFill>
                <a:latin typeface="Cambria"/>
                <a:ea typeface="Cambria"/>
                <a:cs typeface="Cambria"/>
                <a:sym typeface="Cambria"/>
              </a:rPr>
              <a:t>02</a:t>
            </a:r>
            <a:endParaRPr sz="2000" b="0" i="0" u="none" strike="noStrike" cap="none">
              <a:solidFill>
                <a:schemeClr val="dk1"/>
              </a:solidFill>
              <a:latin typeface="Calibri"/>
              <a:ea typeface="Calibri"/>
              <a:cs typeface="Calibri"/>
              <a:sym typeface="Calibri"/>
            </a:endParaRPr>
          </a:p>
        </p:txBody>
      </p:sp>
      <p:sp>
        <p:nvSpPr>
          <p:cNvPr id="38" name="Google Shape;38;p4"/>
          <p:cNvSpPr txBox="1"/>
          <p:nvPr/>
        </p:nvSpPr>
        <p:spPr>
          <a:xfrm>
            <a:off x="7013448" y="1453896"/>
            <a:ext cx="4599432"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500"/>
              <a:buFont typeface="Calibri"/>
              <a:buNone/>
            </a:pPr>
            <a:r>
              <a:rPr lang="en-US" sz="1600" b="1" i="0" u="none" strike="noStrike" cap="none">
                <a:solidFill>
                  <a:srgbClr val="10243E"/>
                </a:solidFill>
                <a:latin typeface="Calibri"/>
                <a:ea typeface="Calibri"/>
                <a:cs typeface="Calibri"/>
                <a:sym typeface="Calibri"/>
              </a:rPr>
              <a:t>Data &amp; Methodology</a:t>
            </a:r>
            <a:endParaRPr sz="1600" b="0" i="0" u="none" strike="noStrike" cap="none">
              <a:solidFill>
                <a:schemeClr val="dk1"/>
              </a:solidFill>
              <a:latin typeface="Calibri"/>
              <a:ea typeface="Calibri"/>
              <a:cs typeface="Calibri"/>
              <a:sym typeface="Calibri"/>
            </a:endParaRPr>
          </a:p>
        </p:txBody>
      </p:sp>
      <p:sp>
        <p:nvSpPr>
          <p:cNvPr id="39" name="Google Shape;39;p4"/>
          <p:cNvSpPr txBox="1"/>
          <p:nvPr/>
        </p:nvSpPr>
        <p:spPr>
          <a:xfrm>
            <a:off x="7013448" y="1801368"/>
            <a:ext cx="4599432"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Five macro variables, 2005–2024, and a seven-step econometric pipeline</a:t>
            </a:r>
            <a:endParaRPr sz="1200" b="0" i="0" u="none" strike="noStrike" cap="none">
              <a:solidFill>
                <a:schemeClr val="dk1"/>
              </a:solidFill>
              <a:latin typeface="Calibri"/>
              <a:ea typeface="Calibri"/>
              <a:cs typeface="Calibri"/>
              <a:sym typeface="Calibri"/>
            </a:endParaRPr>
          </a:p>
        </p:txBody>
      </p:sp>
      <p:sp>
        <p:nvSpPr>
          <p:cNvPr id="40" name="Google Shape;40;p4"/>
          <p:cNvSpPr/>
          <p:nvPr/>
        </p:nvSpPr>
        <p:spPr>
          <a:xfrm>
            <a:off x="548640" y="2715768"/>
            <a:ext cx="566928" cy="566928"/>
          </a:xfrm>
          <a:prstGeom prst="roundRect">
            <a:avLst>
              <a:gd name="adj" fmla="val 16129"/>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41" name="Google Shape;41;p4"/>
          <p:cNvSpPr txBox="1"/>
          <p:nvPr/>
        </p:nvSpPr>
        <p:spPr>
          <a:xfrm>
            <a:off x="548640" y="2715768"/>
            <a:ext cx="566928" cy="56692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2000" b="1" i="0" u="none" strike="noStrike" cap="none">
                <a:solidFill>
                  <a:srgbClr val="D4AF37"/>
                </a:solidFill>
                <a:latin typeface="Cambria"/>
                <a:ea typeface="Cambria"/>
                <a:cs typeface="Cambria"/>
                <a:sym typeface="Cambria"/>
              </a:rPr>
              <a:t>03</a:t>
            </a:r>
            <a:endParaRPr sz="2000" b="0" i="0" u="none" strike="noStrike" cap="none">
              <a:solidFill>
                <a:schemeClr val="dk1"/>
              </a:solidFill>
              <a:latin typeface="Calibri"/>
              <a:ea typeface="Calibri"/>
              <a:cs typeface="Calibri"/>
              <a:sym typeface="Calibri"/>
            </a:endParaRPr>
          </a:p>
        </p:txBody>
      </p:sp>
      <p:sp>
        <p:nvSpPr>
          <p:cNvPr id="42" name="Google Shape;42;p4"/>
          <p:cNvSpPr txBox="1"/>
          <p:nvPr/>
        </p:nvSpPr>
        <p:spPr>
          <a:xfrm>
            <a:off x="1298448" y="2660904"/>
            <a:ext cx="4599432"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500"/>
              <a:buFont typeface="Calibri"/>
              <a:buNone/>
            </a:pPr>
            <a:r>
              <a:rPr lang="en-US" sz="1600" b="1" i="0" u="none" strike="noStrike" cap="none">
                <a:solidFill>
                  <a:srgbClr val="10243E"/>
                </a:solidFill>
                <a:latin typeface="Calibri"/>
                <a:ea typeface="Calibri"/>
                <a:cs typeface="Calibri"/>
                <a:sym typeface="Calibri"/>
              </a:rPr>
              <a:t>Stationarity &amp; Cointegration</a:t>
            </a:r>
            <a:endParaRPr sz="1600" b="0" i="0" u="none" strike="noStrike" cap="none">
              <a:solidFill>
                <a:schemeClr val="dk1"/>
              </a:solidFill>
              <a:latin typeface="Calibri"/>
              <a:ea typeface="Calibri"/>
              <a:cs typeface="Calibri"/>
              <a:sym typeface="Calibri"/>
            </a:endParaRPr>
          </a:p>
        </p:txBody>
      </p:sp>
      <p:sp>
        <p:nvSpPr>
          <p:cNvPr id="43" name="Google Shape;43;p4"/>
          <p:cNvSpPr txBox="1"/>
          <p:nvPr/>
        </p:nvSpPr>
        <p:spPr>
          <a:xfrm>
            <a:off x="1298448" y="3008376"/>
            <a:ext cx="4599432"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Unit root testing and the Johansen test for long-run equilibrium</a:t>
            </a:r>
            <a:endParaRPr sz="1200" b="0" i="0" u="none" strike="noStrike" cap="none">
              <a:solidFill>
                <a:schemeClr val="dk1"/>
              </a:solidFill>
              <a:latin typeface="Calibri"/>
              <a:ea typeface="Calibri"/>
              <a:cs typeface="Calibri"/>
              <a:sym typeface="Calibri"/>
            </a:endParaRPr>
          </a:p>
        </p:txBody>
      </p:sp>
      <p:sp>
        <p:nvSpPr>
          <p:cNvPr id="44" name="Google Shape;44;p4"/>
          <p:cNvSpPr/>
          <p:nvPr/>
        </p:nvSpPr>
        <p:spPr>
          <a:xfrm>
            <a:off x="6263640" y="2715768"/>
            <a:ext cx="566928" cy="566928"/>
          </a:xfrm>
          <a:prstGeom prst="roundRect">
            <a:avLst>
              <a:gd name="adj" fmla="val 16129"/>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45" name="Google Shape;45;p4"/>
          <p:cNvSpPr txBox="1"/>
          <p:nvPr/>
        </p:nvSpPr>
        <p:spPr>
          <a:xfrm>
            <a:off x="6263640" y="2715768"/>
            <a:ext cx="566928" cy="56692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2000" b="1" i="0" u="none" strike="noStrike" cap="none">
                <a:solidFill>
                  <a:srgbClr val="D4AF37"/>
                </a:solidFill>
                <a:latin typeface="Cambria"/>
                <a:ea typeface="Cambria"/>
                <a:cs typeface="Cambria"/>
                <a:sym typeface="Cambria"/>
              </a:rPr>
              <a:t>04</a:t>
            </a:r>
            <a:endParaRPr sz="2000" b="0" i="0" u="none" strike="noStrike" cap="none">
              <a:solidFill>
                <a:schemeClr val="dk1"/>
              </a:solidFill>
              <a:latin typeface="Calibri"/>
              <a:ea typeface="Calibri"/>
              <a:cs typeface="Calibri"/>
              <a:sym typeface="Calibri"/>
            </a:endParaRPr>
          </a:p>
        </p:txBody>
      </p:sp>
      <p:sp>
        <p:nvSpPr>
          <p:cNvPr id="46" name="Google Shape;46;p4"/>
          <p:cNvSpPr txBox="1"/>
          <p:nvPr/>
        </p:nvSpPr>
        <p:spPr>
          <a:xfrm>
            <a:off x="7013448" y="2660904"/>
            <a:ext cx="4599432"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500"/>
              <a:buFont typeface="Calibri"/>
              <a:buNone/>
            </a:pPr>
            <a:r>
              <a:rPr lang="en-US" sz="1600" b="1" i="0" u="none" strike="noStrike" cap="none">
                <a:solidFill>
                  <a:srgbClr val="10243E"/>
                </a:solidFill>
                <a:latin typeface="Calibri"/>
                <a:ea typeface="Calibri"/>
                <a:cs typeface="Calibri"/>
                <a:sym typeface="Calibri"/>
              </a:rPr>
              <a:t>The VECM System</a:t>
            </a:r>
            <a:endParaRPr sz="1600" b="0" i="0" u="none" strike="noStrike" cap="none">
              <a:solidFill>
                <a:schemeClr val="dk1"/>
              </a:solidFill>
              <a:latin typeface="Calibri"/>
              <a:ea typeface="Calibri"/>
              <a:cs typeface="Calibri"/>
              <a:sym typeface="Calibri"/>
            </a:endParaRPr>
          </a:p>
        </p:txBody>
      </p:sp>
      <p:sp>
        <p:nvSpPr>
          <p:cNvPr id="47" name="Google Shape;47;p4"/>
          <p:cNvSpPr txBox="1"/>
          <p:nvPr/>
        </p:nvSpPr>
        <p:spPr>
          <a:xfrm>
            <a:off x="7013448" y="3008376"/>
            <a:ext cx="4599432"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dirty="0">
                <a:solidFill>
                  <a:srgbClr val="5B6472"/>
                </a:solidFill>
                <a:latin typeface="Calibri"/>
                <a:ea typeface="Calibri"/>
                <a:cs typeface="Calibri"/>
                <a:sym typeface="Calibri"/>
              </a:rPr>
              <a:t>Short-run drivers of reserves and the speed of adjustment to equilibrium</a:t>
            </a:r>
            <a:endParaRPr sz="1200" b="0" i="0" u="none" strike="noStrike" cap="none" dirty="0">
              <a:solidFill>
                <a:schemeClr val="dk1"/>
              </a:solidFill>
              <a:latin typeface="Calibri"/>
              <a:ea typeface="Calibri"/>
              <a:cs typeface="Calibri"/>
              <a:sym typeface="Calibri"/>
            </a:endParaRPr>
          </a:p>
        </p:txBody>
      </p:sp>
      <p:sp>
        <p:nvSpPr>
          <p:cNvPr id="48" name="Google Shape;48;p4"/>
          <p:cNvSpPr/>
          <p:nvPr/>
        </p:nvSpPr>
        <p:spPr>
          <a:xfrm>
            <a:off x="548640" y="3922776"/>
            <a:ext cx="566928" cy="566928"/>
          </a:xfrm>
          <a:prstGeom prst="roundRect">
            <a:avLst>
              <a:gd name="adj" fmla="val 16129"/>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49" name="Google Shape;49;p4"/>
          <p:cNvSpPr txBox="1"/>
          <p:nvPr/>
        </p:nvSpPr>
        <p:spPr>
          <a:xfrm>
            <a:off x="548640" y="3922776"/>
            <a:ext cx="566928" cy="56692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2000" b="1" i="0" u="none" strike="noStrike" cap="none">
                <a:solidFill>
                  <a:srgbClr val="D4AF37"/>
                </a:solidFill>
                <a:latin typeface="Cambria"/>
                <a:ea typeface="Cambria"/>
                <a:cs typeface="Cambria"/>
                <a:sym typeface="Cambria"/>
              </a:rPr>
              <a:t>05</a:t>
            </a:r>
            <a:endParaRPr sz="2000" b="0" i="0" u="none" strike="noStrike" cap="none">
              <a:solidFill>
                <a:schemeClr val="dk1"/>
              </a:solidFill>
              <a:latin typeface="Calibri"/>
              <a:ea typeface="Calibri"/>
              <a:cs typeface="Calibri"/>
              <a:sym typeface="Calibri"/>
            </a:endParaRPr>
          </a:p>
        </p:txBody>
      </p:sp>
      <p:sp>
        <p:nvSpPr>
          <p:cNvPr id="50" name="Google Shape;50;p4"/>
          <p:cNvSpPr txBox="1"/>
          <p:nvPr/>
        </p:nvSpPr>
        <p:spPr>
          <a:xfrm>
            <a:off x="1298448" y="3867912"/>
            <a:ext cx="4599432"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500"/>
              <a:buFont typeface="Calibri"/>
              <a:buNone/>
            </a:pPr>
            <a:r>
              <a:rPr lang="en-US" sz="1600" b="1" i="0" u="none" strike="noStrike" cap="none">
                <a:solidFill>
                  <a:srgbClr val="10243E"/>
                </a:solidFill>
                <a:latin typeface="Calibri"/>
                <a:ea typeface="Calibri"/>
                <a:cs typeface="Calibri"/>
                <a:sym typeface="Calibri"/>
              </a:rPr>
              <a:t>The 2023 FX Float</a:t>
            </a:r>
            <a:endParaRPr sz="1600" b="0" i="0" u="none" strike="noStrike" cap="none">
              <a:solidFill>
                <a:schemeClr val="dk1"/>
              </a:solidFill>
              <a:latin typeface="Calibri"/>
              <a:ea typeface="Calibri"/>
              <a:cs typeface="Calibri"/>
              <a:sym typeface="Calibri"/>
            </a:endParaRPr>
          </a:p>
        </p:txBody>
      </p:sp>
      <p:sp>
        <p:nvSpPr>
          <p:cNvPr id="51" name="Google Shape;51;p4"/>
          <p:cNvSpPr txBox="1"/>
          <p:nvPr/>
        </p:nvSpPr>
        <p:spPr>
          <a:xfrm>
            <a:off x="1298448" y="4215384"/>
            <a:ext cx="4599432"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Isolating a structural break with a policy dummy variable</a:t>
            </a:r>
            <a:endParaRPr sz="1200" b="0" i="0" u="none" strike="noStrike" cap="none">
              <a:solidFill>
                <a:schemeClr val="dk1"/>
              </a:solidFill>
              <a:latin typeface="Calibri"/>
              <a:ea typeface="Calibri"/>
              <a:cs typeface="Calibri"/>
              <a:sym typeface="Calibri"/>
            </a:endParaRPr>
          </a:p>
        </p:txBody>
      </p:sp>
      <p:sp>
        <p:nvSpPr>
          <p:cNvPr id="52" name="Google Shape;52;p4"/>
          <p:cNvSpPr/>
          <p:nvPr/>
        </p:nvSpPr>
        <p:spPr>
          <a:xfrm>
            <a:off x="6263640" y="3922776"/>
            <a:ext cx="566928" cy="566928"/>
          </a:xfrm>
          <a:prstGeom prst="roundRect">
            <a:avLst>
              <a:gd name="adj" fmla="val 16129"/>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53" name="Google Shape;53;p4"/>
          <p:cNvSpPr txBox="1"/>
          <p:nvPr/>
        </p:nvSpPr>
        <p:spPr>
          <a:xfrm>
            <a:off x="6263640" y="3922776"/>
            <a:ext cx="566928" cy="56692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2000" b="1" i="0" u="none" strike="noStrike" cap="none">
                <a:solidFill>
                  <a:srgbClr val="D4AF37"/>
                </a:solidFill>
                <a:latin typeface="Cambria"/>
                <a:ea typeface="Cambria"/>
                <a:cs typeface="Cambria"/>
                <a:sym typeface="Cambria"/>
              </a:rPr>
              <a:t>06</a:t>
            </a:r>
            <a:endParaRPr sz="2000" b="0" i="0" u="none" strike="noStrike" cap="none">
              <a:solidFill>
                <a:schemeClr val="dk1"/>
              </a:solidFill>
              <a:latin typeface="Calibri"/>
              <a:ea typeface="Calibri"/>
              <a:cs typeface="Calibri"/>
              <a:sym typeface="Calibri"/>
            </a:endParaRPr>
          </a:p>
        </p:txBody>
      </p:sp>
      <p:sp>
        <p:nvSpPr>
          <p:cNvPr id="54" name="Google Shape;54;p4"/>
          <p:cNvSpPr txBox="1"/>
          <p:nvPr/>
        </p:nvSpPr>
        <p:spPr>
          <a:xfrm>
            <a:off x="7013448" y="3867912"/>
            <a:ext cx="4599432"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500"/>
              <a:buFont typeface="Calibri"/>
              <a:buNone/>
            </a:pPr>
            <a:r>
              <a:rPr lang="en-US" sz="1600" b="1" i="0" u="none" strike="noStrike" cap="none">
                <a:solidFill>
                  <a:srgbClr val="10243E"/>
                </a:solidFill>
                <a:latin typeface="Calibri"/>
                <a:ea typeface="Calibri"/>
                <a:cs typeface="Calibri"/>
                <a:sym typeface="Calibri"/>
              </a:rPr>
              <a:t>Shock Propagation</a:t>
            </a:r>
            <a:endParaRPr sz="1600" b="0" i="0" u="none" strike="noStrike" cap="none">
              <a:solidFill>
                <a:schemeClr val="dk1"/>
              </a:solidFill>
              <a:latin typeface="Calibri"/>
              <a:ea typeface="Calibri"/>
              <a:cs typeface="Calibri"/>
              <a:sym typeface="Calibri"/>
            </a:endParaRPr>
          </a:p>
        </p:txBody>
      </p:sp>
      <p:sp>
        <p:nvSpPr>
          <p:cNvPr id="55" name="Google Shape;55;p4"/>
          <p:cNvSpPr txBox="1"/>
          <p:nvPr/>
        </p:nvSpPr>
        <p:spPr>
          <a:xfrm>
            <a:off x="7013448" y="4215384"/>
            <a:ext cx="4599432"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Impulse responses and variance decomposition</a:t>
            </a:r>
            <a:endParaRPr sz="1200" b="0" i="0" u="none" strike="noStrike" cap="none">
              <a:solidFill>
                <a:schemeClr val="dk1"/>
              </a:solidFill>
              <a:latin typeface="Calibri"/>
              <a:ea typeface="Calibri"/>
              <a:cs typeface="Calibri"/>
              <a:sym typeface="Calibri"/>
            </a:endParaRPr>
          </a:p>
        </p:txBody>
      </p:sp>
      <p:sp>
        <p:nvSpPr>
          <p:cNvPr id="56" name="Google Shape;56;p4"/>
          <p:cNvSpPr/>
          <p:nvPr/>
        </p:nvSpPr>
        <p:spPr>
          <a:xfrm>
            <a:off x="548640" y="5129784"/>
            <a:ext cx="566928" cy="566928"/>
          </a:xfrm>
          <a:prstGeom prst="roundRect">
            <a:avLst>
              <a:gd name="adj" fmla="val 16129"/>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57" name="Google Shape;57;p4"/>
          <p:cNvSpPr txBox="1"/>
          <p:nvPr/>
        </p:nvSpPr>
        <p:spPr>
          <a:xfrm>
            <a:off x="548640" y="5129784"/>
            <a:ext cx="566928" cy="56692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2000" b="1" i="0" u="none" strike="noStrike" cap="none">
                <a:solidFill>
                  <a:srgbClr val="D4AF37"/>
                </a:solidFill>
                <a:latin typeface="Cambria"/>
                <a:ea typeface="Cambria"/>
                <a:cs typeface="Cambria"/>
                <a:sym typeface="Cambria"/>
              </a:rPr>
              <a:t>07</a:t>
            </a:r>
            <a:endParaRPr sz="2000" b="0" i="0" u="none" strike="noStrike" cap="none">
              <a:solidFill>
                <a:schemeClr val="dk1"/>
              </a:solidFill>
              <a:latin typeface="Calibri"/>
              <a:ea typeface="Calibri"/>
              <a:cs typeface="Calibri"/>
              <a:sym typeface="Calibri"/>
            </a:endParaRPr>
          </a:p>
        </p:txBody>
      </p:sp>
      <p:sp>
        <p:nvSpPr>
          <p:cNvPr id="58" name="Google Shape;58;p4"/>
          <p:cNvSpPr txBox="1"/>
          <p:nvPr/>
        </p:nvSpPr>
        <p:spPr>
          <a:xfrm>
            <a:off x="1298448" y="5074920"/>
            <a:ext cx="4599432"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500"/>
              <a:buFont typeface="Calibri"/>
              <a:buNone/>
            </a:pPr>
            <a:r>
              <a:rPr lang="en-US" sz="1600" b="1" i="0" u="none" strike="noStrike" cap="none">
                <a:solidFill>
                  <a:srgbClr val="10243E"/>
                </a:solidFill>
                <a:latin typeface="Calibri"/>
                <a:ea typeface="Calibri"/>
                <a:cs typeface="Calibri"/>
                <a:sym typeface="Calibri"/>
              </a:rPr>
              <a:t>Findings &amp; Policy Implications</a:t>
            </a:r>
            <a:endParaRPr sz="1600" b="0" i="0" u="none" strike="noStrike" cap="none">
              <a:solidFill>
                <a:schemeClr val="dk1"/>
              </a:solidFill>
              <a:latin typeface="Calibri"/>
              <a:ea typeface="Calibri"/>
              <a:cs typeface="Calibri"/>
              <a:sym typeface="Calibri"/>
            </a:endParaRPr>
          </a:p>
        </p:txBody>
      </p:sp>
      <p:sp>
        <p:nvSpPr>
          <p:cNvPr id="59" name="Google Shape;59;p4"/>
          <p:cNvSpPr txBox="1"/>
          <p:nvPr/>
        </p:nvSpPr>
        <p:spPr>
          <a:xfrm>
            <a:off x="1298448" y="5422392"/>
            <a:ext cx="4599432"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What it means for reserve resilience going forward</a:t>
            </a:r>
            <a:endParaRPr sz="1200" b="0" i="0" u="none" strike="noStrike" cap="none">
              <a:solidFill>
                <a:schemeClr val="dk1"/>
              </a:solidFill>
              <a:latin typeface="Calibri"/>
              <a:ea typeface="Calibri"/>
              <a:cs typeface="Calibri"/>
              <a:sym typeface="Calibri"/>
            </a:endParaRPr>
          </a:p>
        </p:txBody>
      </p:sp>
      <p:sp>
        <p:nvSpPr>
          <p:cNvPr id="61" name="Google Shape;61;p4"/>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50" b="0" i="0" u="none" strike="noStrike" cap="none">
                <a:solidFill>
                  <a:srgbClr val="5B6472"/>
                </a:solidFill>
                <a:latin typeface="Calibri"/>
                <a:ea typeface="Calibri"/>
                <a:cs typeface="Calibri"/>
                <a:sym typeface="Calibri"/>
              </a:rPr>
              <a:t>2</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5"/>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b="1" i="0" u="none" strike="noStrike" cap="none">
                <a:solidFill>
                  <a:srgbClr val="1F6F5C"/>
                </a:solidFill>
                <a:latin typeface="Calibri"/>
                <a:ea typeface="Calibri"/>
                <a:cs typeface="Calibri"/>
                <a:sym typeface="Calibri"/>
              </a:rPr>
              <a:t>BACKGROUND</a:t>
            </a:r>
            <a:endParaRPr b="0" i="0" u="none" strike="noStrike" cap="none">
              <a:solidFill>
                <a:schemeClr val="dk1"/>
              </a:solidFill>
              <a:latin typeface="Calibri"/>
              <a:ea typeface="Calibri"/>
              <a:cs typeface="Calibri"/>
              <a:sym typeface="Calibri"/>
            </a:endParaRPr>
          </a:p>
        </p:txBody>
      </p:sp>
      <p:sp>
        <p:nvSpPr>
          <p:cNvPr id="68" name="Google Shape;68;p5"/>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200" b="1" i="0" u="none" strike="noStrike" cap="none" dirty="0">
                <a:solidFill>
                  <a:srgbClr val="10243E"/>
                </a:solidFill>
                <a:latin typeface="Cambria"/>
                <a:ea typeface="Cambria"/>
                <a:cs typeface="Cambria"/>
                <a:sym typeface="Cambria"/>
              </a:rPr>
              <a:t>How External Reserves Shape National Policy</a:t>
            </a:r>
            <a:endParaRPr sz="3200" b="0" i="0" u="none" strike="noStrike" cap="none" dirty="0">
              <a:solidFill>
                <a:schemeClr val="dk1"/>
              </a:solidFill>
              <a:latin typeface="Calibri"/>
              <a:ea typeface="Calibri"/>
              <a:cs typeface="Calibri"/>
              <a:sym typeface="Calibri"/>
            </a:endParaRPr>
          </a:p>
        </p:txBody>
      </p:sp>
      <p:sp>
        <p:nvSpPr>
          <p:cNvPr id="69" name="Google Shape;69;p5"/>
          <p:cNvSpPr txBox="1"/>
          <p:nvPr/>
        </p:nvSpPr>
        <p:spPr>
          <a:xfrm>
            <a:off x="548640" y="1600200"/>
            <a:ext cx="6492240" cy="2377440"/>
          </a:xfrm>
          <a:prstGeom prst="rect">
            <a:avLst/>
          </a:prstGeom>
          <a:noFill/>
          <a:ln>
            <a:noFill/>
          </a:ln>
        </p:spPr>
        <p:txBody>
          <a:bodyPr spcFirstLastPara="1" wrap="square" lIns="91425" tIns="45700" rIns="91425" bIns="45700" anchor="t" anchorCtr="0">
            <a:noAutofit/>
          </a:bodyPr>
          <a:lstStyle/>
          <a:p>
            <a:pPr marL="0" marR="0" lvl="0" indent="0" algn="l" rtl="0">
              <a:lnSpc>
                <a:spcPct val="146666"/>
              </a:lnSpc>
              <a:spcBef>
                <a:spcPts val="0"/>
              </a:spcBef>
              <a:spcAft>
                <a:spcPts val="0"/>
              </a:spcAft>
              <a:buClr>
                <a:srgbClr val="1A1A1A"/>
              </a:buClr>
              <a:buSzPts val="1500"/>
              <a:buFont typeface="Calibri"/>
              <a:buNone/>
            </a:pPr>
            <a:r>
              <a:rPr lang="en-US" sz="1600" b="0" i="0" u="none" strike="noStrike" cap="none" dirty="0">
                <a:solidFill>
                  <a:srgbClr val="1A1A1A"/>
                </a:solidFill>
                <a:latin typeface="Calibri"/>
                <a:ea typeface="Calibri"/>
                <a:cs typeface="Calibri"/>
                <a:sym typeface="Calibri"/>
              </a:rPr>
              <a:t>External reserves are the buffer Nigeria draws on to defend the naira, settle import bills, and service external obligations when oil revenue or capital inflows fall short. Between 2005 and 2024, that buffer was tested by debt relief, the Global Financial Crisis, the 2014–16 oil price collapse, a pandemic shock, and most recently, the 2023 unification of the exchange rate.</a:t>
            </a:r>
            <a:endParaRPr sz="1600" b="0" i="0" u="none" strike="noStrike" cap="none" dirty="0">
              <a:solidFill>
                <a:schemeClr val="dk1"/>
              </a:solidFill>
              <a:latin typeface="Calibri"/>
              <a:ea typeface="Calibri"/>
              <a:cs typeface="Calibri"/>
              <a:sym typeface="Calibri"/>
            </a:endParaRPr>
          </a:p>
        </p:txBody>
      </p:sp>
      <p:sp>
        <p:nvSpPr>
          <p:cNvPr id="70" name="Google Shape;70;p5"/>
          <p:cNvSpPr txBox="1"/>
          <p:nvPr/>
        </p:nvSpPr>
        <p:spPr>
          <a:xfrm>
            <a:off x="548640" y="3794760"/>
            <a:ext cx="649224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400"/>
              <a:buFont typeface="Calibri"/>
              <a:buNone/>
            </a:pPr>
            <a:r>
              <a:rPr lang="en-US" sz="1600" b="1" i="0" u="none" strike="noStrike" cap="none">
                <a:solidFill>
                  <a:srgbClr val="10243E"/>
                </a:solidFill>
                <a:latin typeface="Calibri"/>
                <a:ea typeface="Calibri"/>
                <a:cs typeface="Calibri"/>
                <a:sym typeface="Calibri"/>
              </a:rPr>
              <a:t>This analysis asks a focused question:</a:t>
            </a:r>
            <a:endParaRPr sz="1600" b="0" i="0" u="none" strike="noStrike" cap="none">
              <a:solidFill>
                <a:schemeClr val="dk1"/>
              </a:solidFill>
              <a:latin typeface="Calibri"/>
              <a:ea typeface="Calibri"/>
              <a:cs typeface="Calibri"/>
              <a:sym typeface="Calibri"/>
            </a:endParaRPr>
          </a:p>
        </p:txBody>
      </p:sp>
      <p:sp>
        <p:nvSpPr>
          <p:cNvPr id="71" name="Google Shape;71;p5"/>
          <p:cNvSpPr/>
          <p:nvPr/>
        </p:nvSpPr>
        <p:spPr>
          <a:xfrm>
            <a:off x="548640" y="4160520"/>
            <a:ext cx="6492240" cy="1417320"/>
          </a:xfrm>
          <a:prstGeom prst="roundRect">
            <a:avLst>
              <a:gd name="adj" fmla="val 5161"/>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72" name="Google Shape;72;p5"/>
          <p:cNvSpPr txBox="1"/>
          <p:nvPr/>
        </p:nvSpPr>
        <p:spPr>
          <a:xfrm>
            <a:off x="822960" y="4297680"/>
            <a:ext cx="5943600" cy="11887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550"/>
              <a:buFont typeface="Cambria"/>
              <a:buNone/>
            </a:pPr>
            <a:r>
              <a:rPr lang="en-US" sz="1600" b="0" i="1" u="none" strike="noStrike" cap="none" dirty="0">
                <a:solidFill>
                  <a:srgbClr val="1F6F5C"/>
                </a:solidFill>
                <a:latin typeface="Cambria"/>
                <a:ea typeface="Cambria"/>
                <a:cs typeface="Cambria"/>
                <a:sym typeface="Cambria"/>
              </a:rPr>
              <a:t>How do the exchange rate, lending rate, remittances, and FDI shape the level and short-run movement of Nigeria's external reserves — and did the 2023 FX float change those relationships?</a:t>
            </a:r>
            <a:endParaRPr sz="1600" b="0" i="0" u="none" strike="noStrike" cap="none" dirty="0">
              <a:solidFill>
                <a:schemeClr val="dk1"/>
              </a:solidFill>
              <a:latin typeface="Calibri"/>
              <a:ea typeface="Calibri"/>
              <a:cs typeface="Calibri"/>
              <a:sym typeface="Calibri"/>
            </a:endParaRPr>
          </a:p>
        </p:txBody>
      </p:sp>
      <p:sp>
        <p:nvSpPr>
          <p:cNvPr id="73" name="Google Shape;73;p5"/>
          <p:cNvSpPr txBox="1"/>
          <p:nvPr/>
        </p:nvSpPr>
        <p:spPr>
          <a:xfrm>
            <a:off x="7406640" y="1554480"/>
            <a:ext cx="420624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00"/>
              <a:buFont typeface="Calibri"/>
              <a:buNone/>
            </a:pPr>
            <a:r>
              <a:rPr lang="en-US" sz="1200" b="1" i="0" u="none" strike="noStrike" cap="none">
                <a:solidFill>
                  <a:srgbClr val="5B6472"/>
                </a:solidFill>
                <a:latin typeface="Calibri"/>
                <a:ea typeface="Calibri"/>
                <a:cs typeface="Calibri"/>
                <a:sym typeface="Calibri"/>
              </a:rPr>
              <a:t>NIGERIA'S MACRO TIMELINE</a:t>
            </a:r>
            <a:endParaRPr sz="1200" b="0" i="0" u="none" strike="noStrike" cap="none">
              <a:solidFill>
                <a:schemeClr val="dk1"/>
              </a:solidFill>
              <a:latin typeface="Calibri"/>
              <a:ea typeface="Calibri"/>
              <a:cs typeface="Calibri"/>
              <a:sym typeface="Calibri"/>
            </a:endParaRPr>
          </a:p>
        </p:txBody>
      </p:sp>
      <p:cxnSp>
        <p:nvCxnSpPr>
          <p:cNvPr id="74" name="Google Shape;74;p5"/>
          <p:cNvCxnSpPr/>
          <p:nvPr/>
        </p:nvCxnSpPr>
        <p:spPr>
          <a:xfrm>
            <a:off x="7635240" y="1965960"/>
            <a:ext cx="0" cy="4160520"/>
          </a:xfrm>
          <a:prstGeom prst="straightConnector1">
            <a:avLst/>
          </a:prstGeom>
          <a:noFill/>
          <a:ln w="25400" cap="flat" cmpd="sng">
            <a:solidFill>
              <a:srgbClr val="E3E6EA"/>
            </a:solidFill>
            <a:prstDash val="solid"/>
            <a:round/>
            <a:headEnd type="none" w="sm" len="sm"/>
            <a:tailEnd type="none" w="sm" len="sm"/>
          </a:ln>
        </p:spPr>
      </p:cxnSp>
      <p:sp>
        <p:nvSpPr>
          <p:cNvPr id="75" name="Google Shape;75;p5"/>
          <p:cNvSpPr/>
          <p:nvPr/>
        </p:nvSpPr>
        <p:spPr>
          <a:xfrm>
            <a:off x="7534656" y="2084832"/>
            <a:ext cx="201168" cy="201168"/>
          </a:xfrm>
          <a:prstGeom prst="ellipse">
            <a:avLst/>
          </a:prstGeom>
          <a:solidFill>
            <a:srgbClr val="D4AF3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76" name="Google Shape;76;p5"/>
          <p:cNvSpPr txBox="1"/>
          <p:nvPr/>
        </p:nvSpPr>
        <p:spPr>
          <a:xfrm>
            <a:off x="7909560" y="2011680"/>
            <a:ext cx="82296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300"/>
              <a:buFont typeface="Calibri"/>
              <a:buNone/>
            </a:pPr>
            <a:r>
              <a:rPr lang="en-US" b="1" i="0" u="none" strike="noStrike" cap="none">
                <a:solidFill>
                  <a:srgbClr val="10243E"/>
                </a:solidFill>
                <a:latin typeface="Calibri"/>
                <a:ea typeface="Calibri"/>
                <a:cs typeface="Calibri"/>
                <a:sym typeface="Calibri"/>
              </a:rPr>
              <a:t>2006</a:t>
            </a:r>
            <a:endParaRPr b="0" i="0" u="none" strike="noStrike" cap="none">
              <a:solidFill>
                <a:schemeClr val="dk1"/>
              </a:solidFill>
              <a:latin typeface="Calibri"/>
              <a:ea typeface="Calibri"/>
              <a:cs typeface="Calibri"/>
              <a:sym typeface="Calibri"/>
            </a:endParaRPr>
          </a:p>
        </p:txBody>
      </p:sp>
      <p:sp>
        <p:nvSpPr>
          <p:cNvPr id="77" name="Google Shape;77;p5"/>
          <p:cNvSpPr txBox="1"/>
          <p:nvPr/>
        </p:nvSpPr>
        <p:spPr>
          <a:xfrm>
            <a:off x="8732520" y="2011680"/>
            <a:ext cx="283464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Paris Club debt relief</a:t>
            </a:r>
            <a:endParaRPr sz="1200" b="0" i="0" u="none" strike="noStrike" cap="none">
              <a:solidFill>
                <a:schemeClr val="dk1"/>
              </a:solidFill>
              <a:latin typeface="Calibri"/>
              <a:ea typeface="Calibri"/>
              <a:cs typeface="Calibri"/>
              <a:sym typeface="Calibri"/>
            </a:endParaRPr>
          </a:p>
        </p:txBody>
      </p:sp>
      <p:sp>
        <p:nvSpPr>
          <p:cNvPr id="78" name="Google Shape;78;p5"/>
          <p:cNvSpPr/>
          <p:nvPr/>
        </p:nvSpPr>
        <p:spPr>
          <a:xfrm>
            <a:off x="7534656" y="2743200"/>
            <a:ext cx="201168" cy="201168"/>
          </a:xfrm>
          <a:prstGeom prst="ellipse">
            <a:avLst/>
          </a:prstGeom>
          <a:solidFill>
            <a:srgbClr val="D4AF3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79" name="Google Shape;79;p5"/>
          <p:cNvSpPr txBox="1"/>
          <p:nvPr/>
        </p:nvSpPr>
        <p:spPr>
          <a:xfrm>
            <a:off x="7909560" y="2670048"/>
            <a:ext cx="82296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300"/>
              <a:buFont typeface="Calibri"/>
              <a:buNone/>
            </a:pPr>
            <a:r>
              <a:rPr lang="en-US" b="1" i="0" u="none" strike="noStrike" cap="none">
                <a:solidFill>
                  <a:srgbClr val="10243E"/>
                </a:solidFill>
                <a:latin typeface="Calibri"/>
                <a:ea typeface="Calibri"/>
                <a:cs typeface="Calibri"/>
                <a:sym typeface="Calibri"/>
              </a:rPr>
              <a:t>2008</a:t>
            </a:r>
            <a:endParaRPr b="0" i="0" u="none" strike="noStrike" cap="none">
              <a:solidFill>
                <a:schemeClr val="dk1"/>
              </a:solidFill>
              <a:latin typeface="Calibri"/>
              <a:ea typeface="Calibri"/>
              <a:cs typeface="Calibri"/>
              <a:sym typeface="Calibri"/>
            </a:endParaRPr>
          </a:p>
        </p:txBody>
      </p:sp>
      <p:sp>
        <p:nvSpPr>
          <p:cNvPr id="80" name="Google Shape;80;p5"/>
          <p:cNvSpPr txBox="1"/>
          <p:nvPr/>
        </p:nvSpPr>
        <p:spPr>
          <a:xfrm>
            <a:off x="8732520" y="2670048"/>
            <a:ext cx="283464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Global Financial Crisis</a:t>
            </a:r>
            <a:endParaRPr sz="1200" b="0" i="0" u="none" strike="noStrike" cap="none">
              <a:solidFill>
                <a:schemeClr val="dk1"/>
              </a:solidFill>
              <a:latin typeface="Calibri"/>
              <a:ea typeface="Calibri"/>
              <a:cs typeface="Calibri"/>
              <a:sym typeface="Calibri"/>
            </a:endParaRPr>
          </a:p>
        </p:txBody>
      </p:sp>
      <p:sp>
        <p:nvSpPr>
          <p:cNvPr id="81" name="Google Shape;81;p5"/>
          <p:cNvSpPr/>
          <p:nvPr/>
        </p:nvSpPr>
        <p:spPr>
          <a:xfrm>
            <a:off x="7534656" y="3401568"/>
            <a:ext cx="201168" cy="201168"/>
          </a:xfrm>
          <a:prstGeom prst="ellipse">
            <a:avLst/>
          </a:prstGeom>
          <a:solidFill>
            <a:srgbClr val="D4AF3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82" name="Google Shape;82;p5"/>
          <p:cNvSpPr txBox="1"/>
          <p:nvPr/>
        </p:nvSpPr>
        <p:spPr>
          <a:xfrm>
            <a:off x="7909560" y="3328416"/>
            <a:ext cx="82296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300"/>
              <a:buFont typeface="Calibri"/>
              <a:buNone/>
            </a:pPr>
            <a:r>
              <a:rPr lang="en-US" b="1" i="0" u="none" strike="noStrike" cap="none">
                <a:solidFill>
                  <a:srgbClr val="10243E"/>
                </a:solidFill>
                <a:latin typeface="Calibri"/>
                <a:ea typeface="Calibri"/>
                <a:cs typeface="Calibri"/>
                <a:sym typeface="Calibri"/>
              </a:rPr>
              <a:t>2014</a:t>
            </a:r>
            <a:endParaRPr b="0" i="0" u="none" strike="noStrike" cap="none">
              <a:solidFill>
                <a:schemeClr val="dk1"/>
              </a:solidFill>
              <a:latin typeface="Calibri"/>
              <a:ea typeface="Calibri"/>
              <a:cs typeface="Calibri"/>
              <a:sym typeface="Calibri"/>
            </a:endParaRPr>
          </a:p>
        </p:txBody>
      </p:sp>
      <p:sp>
        <p:nvSpPr>
          <p:cNvPr id="83" name="Google Shape;83;p5"/>
          <p:cNvSpPr txBox="1"/>
          <p:nvPr/>
        </p:nvSpPr>
        <p:spPr>
          <a:xfrm>
            <a:off x="8732520" y="3328416"/>
            <a:ext cx="283464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Oil price collapse</a:t>
            </a:r>
            <a:endParaRPr sz="1200" b="0" i="0" u="none" strike="noStrike" cap="none">
              <a:solidFill>
                <a:schemeClr val="dk1"/>
              </a:solidFill>
              <a:latin typeface="Calibri"/>
              <a:ea typeface="Calibri"/>
              <a:cs typeface="Calibri"/>
              <a:sym typeface="Calibri"/>
            </a:endParaRPr>
          </a:p>
        </p:txBody>
      </p:sp>
      <p:sp>
        <p:nvSpPr>
          <p:cNvPr id="84" name="Google Shape;84;p5"/>
          <p:cNvSpPr/>
          <p:nvPr/>
        </p:nvSpPr>
        <p:spPr>
          <a:xfrm>
            <a:off x="7534656" y="4059936"/>
            <a:ext cx="201168" cy="201168"/>
          </a:xfrm>
          <a:prstGeom prst="ellipse">
            <a:avLst/>
          </a:prstGeom>
          <a:solidFill>
            <a:srgbClr val="D4AF3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85" name="Google Shape;85;p5"/>
          <p:cNvSpPr txBox="1"/>
          <p:nvPr/>
        </p:nvSpPr>
        <p:spPr>
          <a:xfrm>
            <a:off x="7909560" y="3986784"/>
            <a:ext cx="82296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300"/>
              <a:buFont typeface="Calibri"/>
              <a:buNone/>
            </a:pPr>
            <a:r>
              <a:rPr lang="en-US" b="1" i="0" u="none" strike="noStrike" cap="none">
                <a:solidFill>
                  <a:srgbClr val="10243E"/>
                </a:solidFill>
                <a:latin typeface="Calibri"/>
                <a:ea typeface="Calibri"/>
                <a:cs typeface="Calibri"/>
                <a:sym typeface="Calibri"/>
              </a:rPr>
              <a:t>2016</a:t>
            </a:r>
            <a:endParaRPr b="0" i="0" u="none" strike="noStrike" cap="none">
              <a:solidFill>
                <a:schemeClr val="dk1"/>
              </a:solidFill>
              <a:latin typeface="Calibri"/>
              <a:ea typeface="Calibri"/>
              <a:cs typeface="Calibri"/>
              <a:sym typeface="Calibri"/>
            </a:endParaRPr>
          </a:p>
        </p:txBody>
      </p:sp>
      <p:sp>
        <p:nvSpPr>
          <p:cNvPr id="86" name="Google Shape;86;p5"/>
          <p:cNvSpPr txBox="1"/>
          <p:nvPr/>
        </p:nvSpPr>
        <p:spPr>
          <a:xfrm>
            <a:off x="8732520" y="3986784"/>
            <a:ext cx="283464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Naira devaluation &amp; recession</a:t>
            </a:r>
            <a:endParaRPr sz="1200" b="0" i="0" u="none" strike="noStrike" cap="none">
              <a:solidFill>
                <a:schemeClr val="dk1"/>
              </a:solidFill>
              <a:latin typeface="Calibri"/>
              <a:ea typeface="Calibri"/>
              <a:cs typeface="Calibri"/>
              <a:sym typeface="Calibri"/>
            </a:endParaRPr>
          </a:p>
        </p:txBody>
      </p:sp>
      <p:sp>
        <p:nvSpPr>
          <p:cNvPr id="87" name="Google Shape;87;p5"/>
          <p:cNvSpPr/>
          <p:nvPr/>
        </p:nvSpPr>
        <p:spPr>
          <a:xfrm>
            <a:off x="7534656" y="4718304"/>
            <a:ext cx="201168" cy="201168"/>
          </a:xfrm>
          <a:prstGeom prst="ellipse">
            <a:avLst/>
          </a:prstGeom>
          <a:solidFill>
            <a:srgbClr val="D4AF3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88" name="Google Shape;88;p5"/>
          <p:cNvSpPr txBox="1"/>
          <p:nvPr/>
        </p:nvSpPr>
        <p:spPr>
          <a:xfrm>
            <a:off x="7909560" y="4645152"/>
            <a:ext cx="82296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300"/>
              <a:buFont typeface="Calibri"/>
              <a:buNone/>
            </a:pPr>
            <a:r>
              <a:rPr lang="en-US" b="1" i="0" u="none" strike="noStrike" cap="none">
                <a:solidFill>
                  <a:srgbClr val="10243E"/>
                </a:solidFill>
                <a:latin typeface="Calibri"/>
                <a:ea typeface="Calibri"/>
                <a:cs typeface="Calibri"/>
                <a:sym typeface="Calibri"/>
              </a:rPr>
              <a:t>2020</a:t>
            </a:r>
            <a:endParaRPr b="0" i="0" u="none" strike="noStrike" cap="none">
              <a:solidFill>
                <a:schemeClr val="dk1"/>
              </a:solidFill>
              <a:latin typeface="Calibri"/>
              <a:ea typeface="Calibri"/>
              <a:cs typeface="Calibri"/>
              <a:sym typeface="Calibri"/>
            </a:endParaRPr>
          </a:p>
        </p:txBody>
      </p:sp>
      <p:sp>
        <p:nvSpPr>
          <p:cNvPr id="89" name="Google Shape;89;p5"/>
          <p:cNvSpPr txBox="1"/>
          <p:nvPr/>
        </p:nvSpPr>
        <p:spPr>
          <a:xfrm>
            <a:off x="8732520" y="4645152"/>
            <a:ext cx="283464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COVID-19 shock</a:t>
            </a:r>
            <a:endParaRPr sz="1200" b="0" i="0" u="none" strike="noStrike" cap="none">
              <a:solidFill>
                <a:schemeClr val="dk1"/>
              </a:solidFill>
              <a:latin typeface="Calibri"/>
              <a:ea typeface="Calibri"/>
              <a:cs typeface="Calibri"/>
              <a:sym typeface="Calibri"/>
            </a:endParaRPr>
          </a:p>
        </p:txBody>
      </p:sp>
      <p:sp>
        <p:nvSpPr>
          <p:cNvPr id="90" name="Google Shape;90;p5"/>
          <p:cNvSpPr/>
          <p:nvPr/>
        </p:nvSpPr>
        <p:spPr>
          <a:xfrm>
            <a:off x="7534656" y="5376672"/>
            <a:ext cx="201168" cy="201168"/>
          </a:xfrm>
          <a:prstGeom prst="ellipse">
            <a:avLst/>
          </a:prstGeom>
          <a:solidFill>
            <a:srgbClr val="D4AF37"/>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91" name="Google Shape;91;p5"/>
          <p:cNvSpPr txBox="1"/>
          <p:nvPr/>
        </p:nvSpPr>
        <p:spPr>
          <a:xfrm>
            <a:off x="7909560" y="5303520"/>
            <a:ext cx="82296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1300"/>
              <a:buFont typeface="Calibri"/>
              <a:buNone/>
            </a:pPr>
            <a:r>
              <a:rPr lang="en-US" b="1" i="0" u="none" strike="noStrike" cap="none">
                <a:solidFill>
                  <a:srgbClr val="10243E"/>
                </a:solidFill>
                <a:latin typeface="Calibri"/>
                <a:ea typeface="Calibri"/>
                <a:cs typeface="Calibri"/>
                <a:sym typeface="Calibri"/>
              </a:rPr>
              <a:t>2023</a:t>
            </a:r>
            <a:endParaRPr b="0" i="0" u="none" strike="noStrike" cap="none">
              <a:solidFill>
                <a:schemeClr val="dk1"/>
              </a:solidFill>
              <a:latin typeface="Calibri"/>
              <a:ea typeface="Calibri"/>
              <a:cs typeface="Calibri"/>
              <a:sym typeface="Calibri"/>
            </a:endParaRPr>
          </a:p>
        </p:txBody>
      </p:sp>
      <p:sp>
        <p:nvSpPr>
          <p:cNvPr id="92" name="Google Shape;92;p5"/>
          <p:cNvSpPr txBox="1"/>
          <p:nvPr/>
        </p:nvSpPr>
        <p:spPr>
          <a:xfrm>
            <a:off x="8732520" y="5303520"/>
            <a:ext cx="2834640"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5B6472"/>
              </a:buClr>
              <a:buSzPts val="1150"/>
              <a:buFont typeface="Calibri"/>
              <a:buNone/>
            </a:pPr>
            <a:r>
              <a:rPr lang="en-US" sz="1200" b="0" i="0" u="none" strike="noStrike" cap="none">
                <a:solidFill>
                  <a:srgbClr val="5B6472"/>
                </a:solidFill>
                <a:latin typeface="Calibri"/>
                <a:ea typeface="Calibri"/>
                <a:cs typeface="Calibri"/>
                <a:sym typeface="Calibri"/>
              </a:rPr>
              <a:t>FX float &amp; subsidy removal</a:t>
            </a:r>
            <a:endParaRPr sz="1200" b="0" i="0" u="none" strike="noStrike" cap="none">
              <a:solidFill>
                <a:schemeClr val="dk1"/>
              </a:solidFill>
              <a:latin typeface="Calibri"/>
              <a:ea typeface="Calibri"/>
              <a:cs typeface="Calibri"/>
              <a:sym typeface="Calibri"/>
            </a:endParaRPr>
          </a:p>
        </p:txBody>
      </p:sp>
      <p:sp>
        <p:nvSpPr>
          <p:cNvPr id="94" name="Google Shape;94;p5"/>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50" b="0" i="0" u="none" strike="noStrike" cap="none">
                <a:solidFill>
                  <a:srgbClr val="5B6472"/>
                </a:solidFill>
                <a:latin typeface="Calibri"/>
                <a:ea typeface="Calibri"/>
                <a:cs typeface="Calibri"/>
                <a:sym typeface="Calibri"/>
              </a:rPr>
              <a:t>3</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6"/>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DATA</a:t>
            </a:r>
            <a:endParaRPr sz="1200" b="0" i="0" u="none" strike="noStrike" cap="none">
              <a:solidFill>
                <a:schemeClr val="dk1"/>
              </a:solidFill>
              <a:latin typeface="Calibri"/>
              <a:ea typeface="Calibri"/>
              <a:cs typeface="Calibri"/>
              <a:sym typeface="Calibri"/>
            </a:endParaRPr>
          </a:p>
        </p:txBody>
      </p:sp>
      <p:sp>
        <p:nvSpPr>
          <p:cNvPr id="101" name="Google Shape;101;p6"/>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Five Variables, Twenty Annual Observations</a:t>
            </a:r>
            <a:endParaRPr sz="3000" b="0" i="0" u="none" strike="noStrike" cap="none">
              <a:solidFill>
                <a:schemeClr val="dk1"/>
              </a:solidFill>
              <a:latin typeface="Calibri"/>
              <a:ea typeface="Calibri"/>
              <a:cs typeface="Calibri"/>
              <a:sym typeface="Calibri"/>
            </a:endParaRPr>
          </a:p>
        </p:txBody>
      </p:sp>
      <p:sp>
        <p:nvSpPr>
          <p:cNvPr id="102" name="Google Shape;102;p6"/>
          <p:cNvSpPr txBox="1"/>
          <p:nvPr/>
        </p:nvSpPr>
        <p:spPr>
          <a:xfrm>
            <a:off x="548640" y="1508760"/>
            <a:ext cx="1106424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250"/>
              <a:buFont typeface="Calibri"/>
              <a:buNone/>
            </a:pPr>
            <a:r>
              <a:rPr lang="en-US" sz="1250" b="0" i="1" u="none" strike="noStrike" cap="none">
                <a:solidFill>
                  <a:srgbClr val="5B6472"/>
                </a:solidFill>
                <a:latin typeface="Calibri"/>
                <a:ea typeface="Calibri"/>
                <a:cs typeface="Calibri"/>
                <a:sym typeface="Calibri"/>
              </a:rPr>
              <a:t>Source: World Bank World Development Indicators (WDI), Nigeria, 2005–2024. Gaps were closed by linear interpolation and forward/backward fill; monetary variables are expressed in billions of US dollars.</a:t>
            </a:r>
            <a:endParaRPr sz="1250" b="0" i="0" u="none" strike="noStrike" cap="none">
              <a:solidFill>
                <a:schemeClr val="dk1"/>
              </a:solidFill>
              <a:latin typeface="Calibri"/>
              <a:ea typeface="Calibri"/>
              <a:cs typeface="Calibri"/>
              <a:sym typeface="Calibri"/>
            </a:endParaRPr>
          </a:p>
        </p:txBody>
      </p:sp>
      <p:graphicFrame>
        <p:nvGraphicFramePr>
          <p:cNvPr id="103" name="Google Shape;103;p6"/>
          <p:cNvGraphicFramePr/>
          <p:nvPr/>
        </p:nvGraphicFramePr>
        <p:xfrm>
          <a:off x="548640" y="2148840"/>
          <a:ext cx="11064225" cy="3291900"/>
        </p:xfrm>
        <a:graphic>
          <a:graphicData uri="http://schemas.openxmlformats.org/drawingml/2006/table">
            <a:tbl>
              <a:tblPr>
                <a:noFill/>
              </a:tblPr>
              <a:tblGrid>
                <a:gridCol w="1965950">
                  <a:extLst>
                    <a:ext uri="{9D8B030D-6E8A-4147-A177-3AD203B41FA5}">
                      <a16:colId xmlns:a16="http://schemas.microsoft.com/office/drawing/2014/main" val="20000"/>
                    </a:ext>
                  </a:extLst>
                </a:gridCol>
                <a:gridCol w="1783075">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48650">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Variable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Role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Definition</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Unit</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WDI Code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548650">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Reserves</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Focal / dependent</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Total reserves, including gold</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US$ billions</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FI.RES.TOTL.CD</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48650">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Exchange Rate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System variable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Official exchange rate (period average)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 per US$</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PA.NUS.FCRF</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48650">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Lending Rate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System variable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Bank lending interest rate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 per annum</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FR.INR.LEND</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48650">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Remittances</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System variable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Personal remittances received</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US$ billions</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BX.TRF.PWKR.CD.DT</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548650">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FDI</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System variable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Net inflows of foreign direct investment</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US$ billions</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BX.KLT.DINV.CD.WD</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104" name="Google Shape;104;p6"/>
          <p:cNvSpPr/>
          <p:nvPr/>
        </p:nvSpPr>
        <p:spPr>
          <a:xfrm>
            <a:off x="548640" y="2148840"/>
            <a:ext cx="11064240" cy="457200"/>
          </a:xfrm>
          <a:prstGeom prst="rect">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6"/>
          <p:cNvSpPr txBox="1"/>
          <p:nvPr/>
        </p:nvSpPr>
        <p:spPr>
          <a:xfrm>
            <a:off x="640080" y="2148840"/>
            <a:ext cx="178308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Variable</a:t>
            </a:r>
            <a:endParaRPr sz="1250" b="0" i="0" u="none" strike="noStrike" cap="none">
              <a:solidFill>
                <a:schemeClr val="dk1"/>
              </a:solidFill>
              <a:latin typeface="Calibri"/>
              <a:ea typeface="Calibri"/>
              <a:cs typeface="Calibri"/>
              <a:sym typeface="Calibri"/>
            </a:endParaRPr>
          </a:p>
        </p:txBody>
      </p:sp>
      <p:sp>
        <p:nvSpPr>
          <p:cNvPr id="106" name="Google Shape;106;p6"/>
          <p:cNvSpPr txBox="1"/>
          <p:nvPr/>
        </p:nvSpPr>
        <p:spPr>
          <a:xfrm>
            <a:off x="2606040" y="2148840"/>
            <a:ext cx="16002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Role</a:t>
            </a:r>
            <a:endParaRPr sz="1250" b="0" i="0" u="none" strike="noStrike" cap="none">
              <a:solidFill>
                <a:schemeClr val="dk1"/>
              </a:solidFill>
              <a:latin typeface="Calibri"/>
              <a:ea typeface="Calibri"/>
              <a:cs typeface="Calibri"/>
              <a:sym typeface="Calibri"/>
            </a:endParaRPr>
          </a:p>
        </p:txBody>
      </p:sp>
      <p:sp>
        <p:nvSpPr>
          <p:cNvPr id="107" name="Google Shape;107;p6"/>
          <p:cNvSpPr txBox="1"/>
          <p:nvPr/>
        </p:nvSpPr>
        <p:spPr>
          <a:xfrm>
            <a:off x="4389120" y="2148840"/>
            <a:ext cx="438912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Definition</a:t>
            </a:r>
            <a:endParaRPr sz="1250" b="0" i="0" u="none" strike="noStrike" cap="none">
              <a:solidFill>
                <a:schemeClr val="dk1"/>
              </a:solidFill>
              <a:latin typeface="Calibri"/>
              <a:ea typeface="Calibri"/>
              <a:cs typeface="Calibri"/>
              <a:sym typeface="Calibri"/>
            </a:endParaRPr>
          </a:p>
        </p:txBody>
      </p:sp>
      <p:sp>
        <p:nvSpPr>
          <p:cNvPr id="108" name="Google Shape;108;p6"/>
          <p:cNvSpPr txBox="1"/>
          <p:nvPr/>
        </p:nvSpPr>
        <p:spPr>
          <a:xfrm>
            <a:off x="8961120" y="2148840"/>
            <a:ext cx="118872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Unit</a:t>
            </a:r>
            <a:endParaRPr sz="1250" b="0" i="0" u="none" strike="noStrike" cap="none">
              <a:solidFill>
                <a:schemeClr val="dk1"/>
              </a:solidFill>
              <a:latin typeface="Calibri"/>
              <a:ea typeface="Calibri"/>
              <a:cs typeface="Calibri"/>
              <a:sym typeface="Calibri"/>
            </a:endParaRPr>
          </a:p>
        </p:txBody>
      </p:sp>
      <p:sp>
        <p:nvSpPr>
          <p:cNvPr id="109" name="Google Shape;109;p6"/>
          <p:cNvSpPr txBox="1"/>
          <p:nvPr/>
        </p:nvSpPr>
        <p:spPr>
          <a:xfrm>
            <a:off x="10332720" y="2148840"/>
            <a:ext cx="118872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WDI Code</a:t>
            </a:r>
            <a:endParaRPr sz="1250" b="0" i="0" u="none" strike="noStrike" cap="none">
              <a:solidFill>
                <a:schemeClr val="dk1"/>
              </a:solidFill>
              <a:latin typeface="Calibri"/>
              <a:ea typeface="Calibri"/>
              <a:cs typeface="Calibri"/>
              <a:sym typeface="Calibri"/>
            </a:endParaRPr>
          </a:p>
        </p:txBody>
      </p:sp>
      <p:sp>
        <p:nvSpPr>
          <p:cNvPr id="110" name="Google Shape;110;p6"/>
          <p:cNvSpPr txBox="1"/>
          <p:nvPr/>
        </p:nvSpPr>
        <p:spPr>
          <a:xfrm>
            <a:off x="548640" y="5623560"/>
            <a:ext cx="1106424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0" i="1" u="none" strike="noStrike" cap="none" dirty="0">
                <a:solidFill>
                  <a:srgbClr val="1F6F5C"/>
                </a:solidFill>
                <a:latin typeface="Calibri"/>
                <a:ea typeface="Calibri"/>
                <a:cs typeface="Calibri"/>
                <a:sym typeface="Calibri"/>
              </a:rPr>
              <a:t>Reserves is treated as the focal series; the remaining four enter the system as jointly-determined macro-financial variables within the VECM.</a:t>
            </a:r>
            <a:endParaRPr sz="1200" b="0" i="0" u="none" strike="noStrike" cap="none" dirty="0">
              <a:solidFill>
                <a:schemeClr val="dk1"/>
              </a:solidFill>
              <a:latin typeface="Calibri"/>
              <a:ea typeface="Calibri"/>
              <a:cs typeface="Calibri"/>
              <a:sym typeface="Calibri"/>
            </a:endParaRPr>
          </a:p>
        </p:txBody>
      </p:sp>
      <p:sp>
        <p:nvSpPr>
          <p:cNvPr id="112" name="Google Shape;112;p6"/>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4</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7"/>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METHODOLOGY</a:t>
            </a:r>
            <a:endParaRPr sz="1200" b="0" i="0" u="none" strike="noStrike" cap="none">
              <a:solidFill>
                <a:schemeClr val="dk1"/>
              </a:solidFill>
              <a:latin typeface="Calibri"/>
              <a:ea typeface="Calibri"/>
              <a:cs typeface="Calibri"/>
              <a:sym typeface="Calibri"/>
            </a:endParaRPr>
          </a:p>
        </p:txBody>
      </p:sp>
      <p:sp>
        <p:nvSpPr>
          <p:cNvPr id="119" name="Google Shape;119;p7"/>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A Seven-Stage Econometric Pipeline</a:t>
            </a:r>
            <a:endParaRPr sz="3000" b="0" i="0" u="none" strike="noStrike" cap="none">
              <a:solidFill>
                <a:schemeClr val="dk1"/>
              </a:solidFill>
              <a:latin typeface="Calibri"/>
              <a:ea typeface="Calibri"/>
              <a:cs typeface="Calibri"/>
              <a:sym typeface="Calibri"/>
            </a:endParaRPr>
          </a:p>
        </p:txBody>
      </p:sp>
      <p:sp>
        <p:nvSpPr>
          <p:cNvPr id="120" name="Google Shape;120;p7"/>
          <p:cNvSpPr/>
          <p:nvPr/>
        </p:nvSpPr>
        <p:spPr>
          <a:xfrm>
            <a:off x="548640" y="1828800"/>
            <a:ext cx="1536192" cy="3566160"/>
          </a:xfrm>
          <a:prstGeom prst="roundRect">
            <a:avLst>
              <a:gd name="adj" fmla="val 4762"/>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txBox="1"/>
          <p:nvPr/>
        </p:nvSpPr>
        <p:spPr>
          <a:xfrm>
            <a:off x="548640" y="1965960"/>
            <a:ext cx="153619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1</a:t>
            </a:r>
            <a:endParaRPr sz="2600" b="0" i="0" u="none" strike="noStrike" cap="none">
              <a:solidFill>
                <a:schemeClr val="dk1"/>
              </a:solidFill>
              <a:latin typeface="Calibri"/>
              <a:ea typeface="Calibri"/>
              <a:cs typeface="Calibri"/>
              <a:sym typeface="Calibri"/>
            </a:endParaRPr>
          </a:p>
        </p:txBody>
      </p:sp>
      <p:sp>
        <p:nvSpPr>
          <p:cNvPr id="122" name="Google Shape;122;p7"/>
          <p:cNvSpPr txBox="1"/>
          <p:nvPr/>
        </p:nvSpPr>
        <p:spPr>
          <a:xfrm>
            <a:off x="658368" y="2651760"/>
            <a:ext cx="1316736"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Data sourcing &amp; cleaning</a:t>
            </a:r>
            <a:endParaRPr sz="1250" b="0" i="0" u="none" strike="noStrike" cap="none">
              <a:solidFill>
                <a:schemeClr val="dk1"/>
              </a:solidFill>
              <a:latin typeface="Calibri"/>
              <a:ea typeface="Calibri"/>
              <a:cs typeface="Calibri"/>
              <a:sym typeface="Calibri"/>
            </a:endParaRPr>
          </a:p>
        </p:txBody>
      </p:sp>
      <p:sp>
        <p:nvSpPr>
          <p:cNvPr id="123" name="Google Shape;123;p7"/>
          <p:cNvSpPr txBox="1"/>
          <p:nvPr/>
        </p:nvSpPr>
        <p:spPr>
          <a:xfrm>
            <a:off x="658368" y="3703320"/>
            <a:ext cx="1316736"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6EAF0"/>
              </a:buClr>
              <a:buSzPts val="1050"/>
              <a:buFont typeface="Calibri"/>
              <a:buNone/>
            </a:pPr>
            <a:r>
              <a:rPr lang="en-US" sz="1050" b="0" i="0" u="none" strike="noStrike" cap="none">
                <a:solidFill>
                  <a:srgbClr val="E6EAF0"/>
                </a:solidFill>
                <a:latin typeface="Calibri"/>
                <a:ea typeface="Calibri"/>
                <a:cs typeface="Calibri"/>
                <a:sym typeface="Calibri"/>
              </a:rPr>
              <a:t>Fetch WDI panel; interpolate gaps; scale to billions</a:t>
            </a:r>
            <a:endParaRPr sz="1050" b="0" i="0" u="none" strike="noStrike" cap="none">
              <a:solidFill>
                <a:schemeClr val="dk1"/>
              </a:solidFill>
              <a:latin typeface="Calibri"/>
              <a:ea typeface="Calibri"/>
              <a:cs typeface="Calibri"/>
              <a:sym typeface="Calibri"/>
            </a:endParaRPr>
          </a:p>
        </p:txBody>
      </p:sp>
      <p:sp>
        <p:nvSpPr>
          <p:cNvPr id="124" name="Google Shape;124;p7"/>
          <p:cNvSpPr txBox="1"/>
          <p:nvPr/>
        </p:nvSpPr>
        <p:spPr>
          <a:xfrm>
            <a:off x="2084832" y="3291840"/>
            <a:ext cx="16459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472"/>
              </a:buClr>
              <a:buSzPts val="1400"/>
              <a:buFont typeface="Calibri"/>
              <a:buNone/>
            </a:pPr>
            <a:r>
              <a:rPr lang="en-US" sz="1400" b="0" i="0" u="none" strike="noStrike" cap="none">
                <a:solidFill>
                  <a:srgbClr val="5B6472"/>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125" name="Google Shape;125;p7"/>
          <p:cNvSpPr/>
          <p:nvPr/>
        </p:nvSpPr>
        <p:spPr>
          <a:xfrm>
            <a:off x="2203704" y="1828800"/>
            <a:ext cx="1536192" cy="3566160"/>
          </a:xfrm>
          <a:prstGeom prst="roundRect">
            <a:avLst>
              <a:gd name="adj" fmla="val 4762"/>
            </a:avLst>
          </a:prstGeom>
          <a:solidFill>
            <a:srgbClr val="1F6F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txBox="1"/>
          <p:nvPr/>
        </p:nvSpPr>
        <p:spPr>
          <a:xfrm>
            <a:off x="2203704" y="1965960"/>
            <a:ext cx="153619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2</a:t>
            </a:r>
            <a:endParaRPr sz="2600" b="0" i="0" u="none" strike="noStrike" cap="none">
              <a:solidFill>
                <a:schemeClr val="dk1"/>
              </a:solidFill>
              <a:latin typeface="Calibri"/>
              <a:ea typeface="Calibri"/>
              <a:cs typeface="Calibri"/>
              <a:sym typeface="Calibri"/>
            </a:endParaRPr>
          </a:p>
        </p:txBody>
      </p:sp>
      <p:sp>
        <p:nvSpPr>
          <p:cNvPr id="127" name="Google Shape;127;p7"/>
          <p:cNvSpPr txBox="1"/>
          <p:nvPr/>
        </p:nvSpPr>
        <p:spPr>
          <a:xfrm>
            <a:off x="2313432" y="2651760"/>
            <a:ext cx="1316736"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Exploratory analysis</a:t>
            </a:r>
            <a:endParaRPr sz="1250" b="0" i="0" u="none" strike="noStrike" cap="none">
              <a:solidFill>
                <a:schemeClr val="dk1"/>
              </a:solidFill>
              <a:latin typeface="Calibri"/>
              <a:ea typeface="Calibri"/>
              <a:cs typeface="Calibri"/>
              <a:sym typeface="Calibri"/>
            </a:endParaRPr>
          </a:p>
        </p:txBody>
      </p:sp>
      <p:sp>
        <p:nvSpPr>
          <p:cNvPr id="128" name="Google Shape;128;p7"/>
          <p:cNvSpPr txBox="1"/>
          <p:nvPr/>
        </p:nvSpPr>
        <p:spPr>
          <a:xfrm>
            <a:off x="2313432" y="3703320"/>
            <a:ext cx="1316736"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6EAF0"/>
              </a:buClr>
              <a:buSzPts val="1050"/>
              <a:buFont typeface="Calibri"/>
              <a:buNone/>
            </a:pPr>
            <a:r>
              <a:rPr lang="en-US" sz="1050" b="0" i="0" u="none" strike="noStrike" cap="none">
                <a:solidFill>
                  <a:srgbClr val="E6EAF0"/>
                </a:solidFill>
                <a:latin typeface="Calibri"/>
                <a:ea typeface="Calibri"/>
                <a:cs typeface="Calibri"/>
                <a:sym typeface="Calibri"/>
              </a:rPr>
              <a:t>Time trends, distributions, descriptive statistics</a:t>
            </a:r>
            <a:endParaRPr sz="1050" b="0" i="0" u="none" strike="noStrike" cap="none">
              <a:solidFill>
                <a:schemeClr val="dk1"/>
              </a:solidFill>
              <a:latin typeface="Calibri"/>
              <a:ea typeface="Calibri"/>
              <a:cs typeface="Calibri"/>
              <a:sym typeface="Calibri"/>
            </a:endParaRPr>
          </a:p>
        </p:txBody>
      </p:sp>
      <p:sp>
        <p:nvSpPr>
          <p:cNvPr id="129" name="Google Shape;129;p7"/>
          <p:cNvSpPr txBox="1"/>
          <p:nvPr/>
        </p:nvSpPr>
        <p:spPr>
          <a:xfrm>
            <a:off x="3739896" y="3291840"/>
            <a:ext cx="16459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472"/>
              </a:buClr>
              <a:buSzPts val="1400"/>
              <a:buFont typeface="Calibri"/>
              <a:buNone/>
            </a:pPr>
            <a:r>
              <a:rPr lang="en-US" sz="1400" b="0" i="0" u="none" strike="noStrike" cap="none">
                <a:solidFill>
                  <a:srgbClr val="5B6472"/>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130" name="Google Shape;130;p7"/>
          <p:cNvSpPr/>
          <p:nvPr/>
        </p:nvSpPr>
        <p:spPr>
          <a:xfrm>
            <a:off x="3858768" y="1828800"/>
            <a:ext cx="1536192" cy="3566160"/>
          </a:xfrm>
          <a:prstGeom prst="roundRect">
            <a:avLst>
              <a:gd name="adj" fmla="val 4762"/>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txBox="1"/>
          <p:nvPr/>
        </p:nvSpPr>
        <p:spPr>
          <a:xfrm>
            <a:off x="3858768" y="1965960"/>
            <a:ext cx="153619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3</a:t>
            </a:r>
            <a:endParaRPr sz="2600" b="0" i="0" u="none" strike="noStrike" cap="none">
              <a:solidFill>
                <a:schemeClr val="dk1"/>
              </a:solidFill>
              <a:latin typeface="Calibri"/>
              <a:ea typeface="Calibri"/>
              <a:cs typeface="Calibri"/>
              <a:sym typeface="Calibri"/>
            </a:endParaRPr>
          </a:p>
        </p:txBody>
      </p:sp>
      <p:sp>
        <p:nvSpPr>
          <p:cNvPr id="132" name="Google Shape;132;p7"/>
          <p:cNvSpPr txBox="1"/>
          <p:nvPr/>
        </p:nvSpPr>
        <p:spPr>
          <a:xfrm>
            <a:off x="3968496" y="2651760"/>
            <a:ext cx="1316736"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Unit root testing</a:t>
            </a:r>
            <a:endParaRPr sz="1250" b="0" i="0" u="none" strike="noStrike" cap="none">
              <a:solidFill>
                <a:schemeClr val="dk1"/>
              </a:solidFill>
              <a:latin typeface="Calibri"/>
              <a:ea typeface="Calibri"/>
              <a:cs typeface="Calibri"/>
              <a:sym typeface="Calibri"/>
            </a:endParaRPr>
          </a:p>
        </p:txBody>
      </p:sp>
      <p:sp>
        <p:nvSpPr>
          <p:cNvPr id="133" name="Google Shape;133;p7"/>
          <p:cNvSpPr txBox="1"/>
          <p:nvPr/>
        </p:nvSpPr>
        <p:spPr>
          <a:xfrm>
            <a:off x="3968496" y="3703320"/>
            <a:ext cx="1316736"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6EAF0"/>
              </a:buClr>
              <a:buSzPts val="1050"/>
              <a:buFont typeface="Calibri"/>
              <a:buNone/>
            </a:pPr>
            <a:r>
              <a:rPr lang="en-US" sz="1050" b="0" i="0" u="none" strike="noStrike" cap="none">
                <a:solidFill>
                  <a:srgbClr val="E6EAF0"/>
                </a:solidFill>
                <a:latin typeface="Calibri"/>
                <a:ea typeface="Calibri"/>
                <a:cs typeface="Calibri"/>
                <a:sym typeface="Calibri"/>
              </a:rPr>
              <a:t>ADF &amp; KPSS across three trend specifications</a:t>
            </a:r>
            <a:endParaRPr sz="1050" b="0" i="0" u="none" strike="noStrike" cap="none">
              <a:solidFill>
                <a:schemeClr val="dk1"/>
              </a:solidFill>
              <a:latin typeface="Calibri"/>
              <a:ea typeface="Calibri"/>
              <a:cs typeface="Calibri"/>
              <a:sym typeface="Calibri"/>
            </a:endParaRPr>
          </a:p>
        </p:txBody>
      </p:sp>
      <p:sp>
        <p:nvSpPr>
          <p:cNvPr id="134" name="Google Shape;134;p7"/>
          <p:cNvSpPr txBox="1"/>
          <p:nvPr/>
        </p:nvSpPr>
        <p:spPr>
          <a:xfrm>
            <a:off x="5394960" y="3291840"/>
            <a:ext cx="16459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472"/>
              </a:buClr>
              <a:buSzPts val="1400"/>
              <a:buFont typeface="Calibri"/>
              <a:buNone/>
            </a:pPr>
            <a:r>
              <a:rPr lang="en-US" sz="1400" b="0" i="0" u="none" strike="noStrike" cap="none">
                <a:solidFill>
                  <a:srgbClr val="5B6472"/>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135" name="Google Shape;135;p7"/>
          <p:cNvSpPr/>
          <p:nvPr/>
        </p:nvSpPr>
        <p:spPr>
          <a:xfrm>
            <a:off x="5513832" y="1828800"/>
            <a:ext cx="1536192" cy="3566160"/>
          </a:xfrm>
          <a:prstGeom prst="roundRect">
            <a:avLst>
              <a:gd name="adj" fmla="val 4762"/>
            </a:avLst>
          </a:prstGeom>
          <a:solidFill>
            <a:srgbClr val="1F6F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txBox="1"/>
          <p:nvPr/>
        </p:nvSpPr>
        <p:spPr>
          <a:xfrm>
            <a:off x="5513832" y="1965960"/>
            <a:ext cx="153619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4</a:t>
            </a:r>
            <a:endParaRPr sz="2600" b="0" i="0" u="none" strike="noStrike" cap="none">
              <a:solidFill>
                <a:schemeClr val="dk1"/>
              </a:solidFill>
              <a:latin typeface="Calibri"/>
              <a:ea typeface="Calibri"/>
              <a:cs typeface="Calibri"/>
              <a:sym typeface="Calibri"/>
            </a:endParaRPr>
          </a:p>
        </p:txBody>
      </p:sp>
      <p:sp>
        <p:nvSpPr>
          <p:cNvPr id="137" name="Google Shape;137;p7"/>
          <p:cNvSpPr txBox="1"/>
          <p:nvPr/>
        </p:nvSpPr>
        <p:spPr>
          <a:xfrm>
            <a:off x="5623560" y="2651760"/>
            <a:ext cx="1316736"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Johansen cointegration</a:t>
            </a:r>
            <a:endParaRPr sz="1250" b="0" i="0" u="none" strike="noStrike" cap="none">
              <a:solidFill>
                <a:schemeClr val="dk1"/>
              </a:solidFill>
              <a:latin typeface="Calibri"/>
              <a:ea typeface="Calibri"/>
              <a:cs typeface="Calibri"/>
              <a:sym typeface="Calibri"/>
            </a:endParaRPr>
          </a:p>
        </p:txBody>
      </p:sp>
      <p:sp>
        <p:nvSpPr>
          <p:cNvPr id="138" name="Google Shape;138;p7"/>
          <p:cNvSpPr txBox="1"/>
          <p:nvPr/>
        </p:nvSpPr>
        <p:spPr>
          <a:xfrm>
            <a:off x="5623560" y="3703320"/>
            <a:ext cx="1316736"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6EAF0"/>
              </a:buClr>
              <a:buSzPts val="1050"/>
              <a:buFont typeface="Calibri"/>
              <a:buNone/>
            </a:pPr>
            <a:r>
              <a:rPr lang="en-US" sz="1050" b="0" i="0" u="none" strike="noStrike" cap="none">
                <a:solidFill>
                  <a:srgbClr val="E6EAF0"/>
                </a:solidFill>
                <a:latin typeface="Calibri"/>
                <a:ea typeface="Calibri"/>
                <a:cs typeface="Calibri"/>
                <a:sym typeface="Calibri"/>
              </a:rPr>
              <a:t>Trace test for long-run equilibrium relationships</a:t>
            </a:r>
            <a:endParaRPr sz="1050" b="0" i="0" u="none" strike="noStrike" cap="none">
              <a:solidFill>
                <a:schemeClr val="dk1"/>
              </a:solidFill>
              <a:latin typeface="Calibri"/>
              <a:ea typeface="Calibri"/>
              <a:cs typeface="Calibri"/>
              <a:sym typeface="Calibri"/>
            </a:endParaRPr>
          </a:p>
        </p:txBody>
      </p:sp>
      <p:sp>
        <p:nvSpPr>
          <p:cNvPr id="139" name="Google Shape;139;p7"/>
          <p:cNvSpPr txBox="1"/>
          <p:nvPr/>
        </p:nvSpPr>
        <p:spPr>
          <a:xfrm>
            <a:off x="7050024" y="3291840"/>
            <a:ext cx="16459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472"/>
              </a:buClr>
              <a:buSzPts val="1400"/>
              <a:buFont typeface="Calibri"/>
              <a:buNone/>
            </a:pPr>
            <a:r>
              <a:rPr lang="en-US" sz="1400" b="0" i="0" u="none" strike="noStrike" cap="none">
                <a:solidFill>
                  <a:srgbClr val="5B6472"/>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140" name="Google Shape;140;p7"/>
          <p:cNvSpPr/>
          <p:nvPr/>
        </p:nvSpPr>
        <p:spPr>
          <a:xfrm>
            <a:off x="7168896" y="1828800"/>
            <a:ext cx="1536192" cy="3566160"/>
          </a:xfrm>
          <a:prstGeom prst="roundRect">
            <a:avLst>
              <a:gd name="adj" fmla="val 4762"/>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txBox="1"/>
          <p:nvPr/>
        </p:nvSpPr>
        <p:spPr>
          <a:xfrm>
            <a:off x="7168896" y="1965960"/>
            <a:ext cx="153619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5</a:t>
            </a:r>
            <a:endParaRPr sz="2600" b="0" i="0" u="none" strike="noStrike" cap="none">
              <a:solidFill>
                <a:schemeClr val="dk1"/>
              </a:solidFill>
              <a:latin typeface="Calibri"/>
              <a:ea typeface="Calibri"/>
              <a:cs typeface="Calibri"/>
              <a:sym typeface="Calibri"/>
            </a:endParaRPr>
          </a:p>
        </p:txBody>
      </p:sp>
      <p:sp>
        <p:nvSpPr>
          <p:cNvPr id="142" name="Google Shape;142;p7"/>
          <p:cNvSpPr txBox="1"/>
          <p:nvPr/>
        </p:nvSpPr>
        <p:spPr>
          <a:xfrm>
            <a:off x="7278624" y="2651760"/>
            <a:ext cx="1316736"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VECM estimation</a:t>
            </a:r>
            <a:endParaRPr sz="1250" b="0" i="0" u="none" strike="noStrike" cap="none">
              <a:solidFill>
                <a:schemeClr val="dk1"/>
              </a:solidFill>
              <a:latin typeface="Calibri"/>
              <a:ea typeface="Calibri"/>
              <a:cs typeface="Calibri"/>
              <a:sym typeface="Calibri"/>
            </a:endParaRPr>
          </a:p>
        </p:txBody>
      </p:sp>
      <p:sp>
        <p:nvSpPr>
          <p:cNvPr id="143" name="Google Shape;143;p7"/>
          <p:cNvSpPr txBox="1"/>
          <p:nvPr/>
        </p:nvSpPr>
        <p:spPr>
          <a:xfrm>
            <a:off x="7278624" y="3703320"/>
            <a:ext cx="1316736"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6EAF0"/>
              </a:buClr>
              <a:buSzPts val="1050"/>
              <a:buFont typeface="Calibri"/>
              <a:buNone/>
            </a:pPr>
            <a:r>
              <a:rPr lang="en-US" sz="1050" b="0" i="0" u="none" strike="noStrike" cap="none">
                <a:solidFill>
                  <a:srgbClr val="E6EAF0"/>
                </a:solidFill>
                <a:latin typeface="Calibri"/>
                <a:ea typeface="Calibri"/>
                <a:cs typeface="Calibri"/>
                <a:sym typeface="Calibri"/>
              </a:rPr>
              <a:t>Short-run dynamics + error-correction speed</a:t>
            </a:r>
            <a:endParaRPr sz="1050" b="0" i="0" u="none" strike="noStrike" cap="none">
              <a:solidFill>
                <a:schemeClr val="dk1"/>
              </a:solidFill>
              <a:latin typeface="Calibri"/>
              <a:ea typeface="Calibri"/>
              <a:cs typeface="Calibri"/>
              <a:sym typeface="Calibri"/>
            </a:endParaRPr>
          </a:p>
        </p:txBody>
      </p:sp>
      <p:sp>
        <p:nvSpPr>
          <p:cNvPr id="144" name="Google Shape;144;p7"/>
          <p:cNvSpPr txBox="1"/>
          <p:nvPr/>
        </p:nvSpPr>
        <p:spPr>
          <a:xfrm>
            <a:off x="8705088" y="3291840"/>
            <a:ext cx="16459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472"/>
              </a:buClr>
              <a:buSzPts val="1400"/>
              <a:buFont typeface="Calibri"/>
              <a:buNone/>
            </a:pPr>
            <a:r>
              <a:rPr lang="en-US" sz="1400" b="0" i="0" u="none" strike="noStrike" cap="none">
                <a:solidFill>
                  <a:srgbClr val="5B6472"/>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145" name="Google Shape;145;p7"/>
          <p:cNvSpPr/>
          <p:nvPr/>
        </p:nvSpPr>
        <p:spPr>
          <a:xfrm>
            <a:off x="8823960" y="1828800"/>
            <a:ext cx="1536192" cy="3566160"/>
          </a:xfrm>
          <a:prstGeom prst="roundRect">
            <a:avLst>
              <a:gd name="adj" fmla="val 4762"/>
            </a:avLst>
          </a:prstGeom>
          <a:solidFill>
            <a:srgbClr val="1F6F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7"/>
          <p:cNvSpPr txBox="1"/>
          <p:nvPr/>
        </p:nvSpPr>
        <p:spPr>
          <a:xfrm>
            <a:off x="8823960" y="1965960"/>
            <a:ext cx="153619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6</a:t>
            </a:r>
            <a:endParaRPr sz="2600" b="0" i="0" u="none" strike="noStrike" cap="none">
              <a:solidFill>
                <a:schemeClr val="dk1"/>
              </a:solidFill>
              <a:latin typeface="Calibri"/>
              <a:ea typeface="Calibri"/>
              <a:cs typeface="Calibri"/>
              <a:sym typeface="Calibri"/>
            </a:endParaRPr>
          </a:p>
        </p:txBody>
      </p:sp>
      <p:sp>
        <p:nvSpPr>
          <p:cNvPr id="147" name="Google Shape;147;p7"/>
          <p:cNvSpPr txBox="1"/>
          <p:nvPr/>
        </p:nvSpPr>
        <p:spPr>
          <a:xfrm>
            <a:off x="8933688" y="2651760"/>
            <a:ext cx="1316736"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Structural break test</a:t>
            </a:r>
            <a:endParaRPr sz="1250" b="0" i="0" u="none" strike="noStrike" cap="none">
              <a:solidFill>
                <a:schemeClr val="dk1"/>
              </a:solidFill>
              <a:latin typeface="Calibri"/>
              <a:ea typeface="Calibri"/>
              <a:cs typeface="Calibri"/>
              <a:sym typeface="Calibri"/>
            </a:endParaRPr>
          </a:p>
        </p:txBody>
      </p:sp>
      <p:sp>
        <p:nvSpPr>
          <p:cNvPr id="148" name="Google Shape;148;p7"/>
          <p:cNvSpPr txBox="1"/>
          <p:nvPr/>
        </p:nvSpPr>
        <p:spPr>
          <a:xfrm>
            <a:off x="8933688" y="3703320"/>
            <a:ext cx="1316736"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6EAF0"/>
              </a:buClr>
              <a:buSzPts val="1050"/>
              <a:buFont typeface="Calibri"/>
              <a:buNone/>
            </a:pPr>
            <a:r>
              <a:rPr lang="en-US" sz="1050" b="0" i="0" u="none" strike="noStrike" cap="none">
                <a:solidFill>
                  <a:srgbClr val="E6EAF0"/>
                </a:solidFill>
                <a:latin typeface="Calibri"/>
                <a:ea typeface="Calibri"/>
                <a:cs typeface="Calibri"/>
                <a:sym typeface="Calibri"/>
              </a:rPr>
              <a:t>Exogenous 2023 FX-float dummy in the VECM</a:t>
            </a:r>
            <a:endParaRPr sz="1050" b="0" i="0" u="none" strike="noStrike" cap="none">
              <a:solidFill>
                <a:schemeClr val="dk1"/>
              </a:solidFill>
              <a:latin typeface="Calibri"/>
              <a:ea typeface="Calibri"/>
              <a:cs typeface="Calibri"/>
              <a:sym typeface="Calibri"/>
            </a:endParaRPr>
          </a:p>
        </p:txBody>
      </p:sp>
      <p:sp>
        <p:nvSpPr>
          <p:cNvPr id="149" name="Google Shape;149;p7"/>
          <p:cNvSpPr txBox="1"/>
          <p:nvPr/>
        </p:nvSpPr>
        <p:spPr>
          <a:xfrm>
            <a:off x="10360152" y="3291840"/>
            <a:ext cx="164592"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6472"/>
              </a:buClr>
              <a:buSzPts val="1400"/>
              <a:buFont typeface="Calibri"/>
              <a:buNone/>
            </a:pPr>
            <a:r>
              <a:rPr lang="en-US" sz="1400" b="0" i="0" u="none" strike="noStrike" cap="none">
                <a:solidFill>
                  <a:srgbClr val="5B6472"/>
                </a:solidFill>
                <a:latin typeface="Calibri"/>
                <a:ea typeface="Calibri"/>
                <a:cs typeface="Calibri"/>
                <a:sym typeface="Calibri"/>
              </a:rPr>
              <a:t>→</a:t>
            </a:r>
            <a:endParaRPr sz="1400" b="0" i="0" u="none" strike="noStrike" cap="none">
              <a:solidFill>
                <a:schemeClr val="dk1"/>
              </a:solidFill>
              <a:latin typeface="Calibri"/>
              <a:ea typeface="Calibri"/>
              <a:cs typeface="Calibri"/>
              <a:sym typeface="Calibri"/>
            </a:endParaRPr>
          </a:p>
        </p:txBody>
      </p:sp>
      <p:sp>
        <p:nvSpPr>
          <p:cNvPr id="150" name="Google Shape;150;p7"/>
          <p:cNvSpPr/>
          <p:nvPr/>
        </p:nvSpPr>
        <p:spPr>
          <a:xfrm>
            <a:off x="10479024" y="1828800"/>
            <a:ext cx="1536192" cy="3566160"/>
          </a:xfrm>
          <a:prstGeom prst="roundRect">
            <a:avLst>
              <a:gd name="adj" fmla="val 4762"/>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7"/>
          <p:cNvSpPr txBox="1"/>
          <p:nvPr/>
        </p:nvSpPr>
        <p:spPr>
          <a:xfrm>
            <a:off x="10479024" y="1965960"/>
            <a:ext cx="1536192"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7</a:t>
            </a:r>
            <a:endParaRPr sz="2600" b="0" i="0" u="none" strike="noStrike" cap="none">
              <a:solidFill>
                <a:schemeClr val="dk1"/>
              </a:solidFill>
              <a:latin typeface="Calibri"/>
              <a:ea typeface="Calibri"/>
              <a:cs typeface="Calibri"/>
              <a:sym typeface="Calibri"/>
            </a:endParaRPr>
          </a:p>
        </p:txBody>
      </p:sp>
      <p:sp>
        <p:nvSpPr>
          <p:cNvPr id="152" name="Google Shape;152;p7"/>
          <p:cNvSpPr txBox="1"/>
          <p:nvPr/>
        </p:nvSpPr>
        <p:spPr>
          <a:xfrm>
            <a:off x="10588752" y="2651760"/>
            <a:ext cx="1316736" cy="914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IRF &amp; FEVD</a:t>
            </a:r>
            <a:endParaRPr sz="1250" b="0" i="0" u="none" strike="noStrike" cap="none">
              <a:solidFill>
                <a:schemeClr val="dk1"/>
              </a:solidFill>
              <a:latin typeface="Calibri"/>
              <a:ea typeface="Calibri"/>
              <a:cs typeface="Calibri"/>
              <a:sym typeface="Calibri"/>
            </a:endParaRPr>
          </a:p>
        </p:txBody>
      </p:sp>
      <p:sp>
        <p:nvSpPr>
          <p:cNvPr id="153" name="Google Shape;153;p7"/>
          <p:cNvSpPr txBox="1"/>
          <p:nvPr/>
        </p:nvSpPr>
        <p:spPr>
          <a:xfrm>
            <a:off x="10588752" y="3703320"/>
            <a:ext cx="1316736" cy="155448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E6EAF0"/>
              </a:buClr>
              <a:buSzPts val="1050"/>
              <a:buFont typeface="Calibri"/>
              <a:buNone/>
            </a:pPr>
            <a:r>
              <a:rPr lang="en-US" sz="1050" b="0" i="0" u="none" strike="noStrike" cap="none">
                <a:solidFill>
                  <a:srgbClr val="E6EAF0"/>
                </a:solidFill>
                <a:latin typeface="Calibri"/>
                <a:ea typeface="Calibri"/>
                <a:cs typeface="Calibri"/>
                <a:sym typeface="Calibri"/>
              </a:rPr>
              <a:t>How shocks propagate and what drives forecast variance</a:t>
            </a:r>
            <a:endParaRPr sz="1050" b="0" i="0" u="none" strike="noStrike" cap="none">
              <a:solidFill>
                <a:schemeClr val="dk1"/>
              </a:solidFill>
              <a:latin typeface="Calibri"/>
              <a:ea typeface="Calibri"/>
              <a:cs typeface="Calibri"/>
              <a:sym typeface="Calibri"/>
            </a:endParaRPr>
          </a:p>
        </p:txBody>
      </p:sp>
      <p:sp>
        <p:nvSpPr>
          <p:cNvPr id="154" name="Google Shape;154;p7"/>
          <p:cNvSpPr txBox="1"/>
          <p:nvPr/>
        </p:nvSpPr>
        <p:spPr>
          <a:xfrm>
            <a:off x="548640" y="5577840"/>
            <a:ext cx="1106424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200"/>
              <a:buFont typeface="Calibri"/>
              <a:buNone/>
            </a:pPr>
            <a:r>
              <a:rPr lang="en-US" sz="1200" b="0" i="1" u="none" strike="noStrike" cap="none">
                <a:solidFill>
                  <a:srgbClr val="5B6472"/>
                </a:solidFill>
                <a:latin typeface="Calibri"/>
                <a:ea typeface="Calibri"/>
                <a:cs typeface="Calibri"/>
                <a:sym typeface="Calibri"/>
              </a:rPr>
              <a:t>Levels of Reserves, the exchange rate, the lending rate, remittances, and FDI are each tested for a unit root before any relationship between them is estimated — otherwise the regression risks being spurious.</a:t>
            </a:r>
            <a:endParaRPr sz="1200" b="0" i="0" u="none" strike="noStrike" cap="none">
              <a:solidFill>
                <a:schemeClr val="dk1"/>
              </a:solidFill>
              <a:latin typeface="Calibri"/>
              <a:ea typeface="Calibri"/>
              <a:cs typeface="Calibri"/>
              <a:sym typeface="Calibri"/>
            </a:endParaRPr>
          </a:p>
        </p:txBody>
      </p:sp>
      <p:sp>
        <p:nvSpPr>
          <p:cNvPr id="156" name="Google Shape;156;p7"/>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5</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8"/>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EXPLORATORY ANALYSIS</a:t>
            </a:r>
            <a:endParaRPr sz="1200" b="0" i="0" u="none" strike="noStrike" cap="none">
              <a:solidFill>
                <a:schemeClr val="dk1"/>
              </a:solidFill>
              <a:latin typeface="Calibri"/>
              <a:ea typeface="Calibri"/>
              <a:cs typeface="Calibri"/>
              <a:sym typeface="Calibri"/>
            </a:endParaRPr>
          </a:p>
        </p:txBody>
      </p:sp>
      <p:sp>
        <p:nvSpPr>
          <p:cNvPr id="163" name="Google Shape;163;p8"/>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Twenty Years of Nigeria's External Sector</a:t>
            </a:r>
            <a:endParaRPr sz="3000" b="0" i="0" u="none" strike="noStrike" cap="none">
              <a:solidFill>
                <a:schemeClr val="dk1"/>
              </a:solidFill>
              <a:latin typeface="Calibri"/>
              <a:ea typeface="Calibri"/>
              <a:cs typeface="Calibri"/>
              <a:sym typeface="Calibri"/>
            </a:endParaRPr>
          </a:p>
        </p:txBody>
      </p:sp>
      <p:pic>
        <p:nvPicPr>
          <p:cNvPr id="164" name="Google Shape;164;p8" descr="raw_series_charts_2.png"/>
          <p:cNvPicPr preferRelativeResize="0"/>
          <p:nvPr/>
        </p:nvPicPr>
        <p:blipFill rotWithShape="1">
          <a:blip r:embed="rId3">
            <a:alphaModFix/>
          </a:blip>
          <a:srcRect/>
          <a:stretch/>
        </p:blipFill>
        <p:spPr>
          <a:xfrm>
            <a:off x="502920" y="1417320"/>
            <a:ext cx="4090902" cy="5074920"/>
          </a:xfrm>
          <a:prstGeom prst="rect">
            <a:avLst/>
          </a:prstGeom>
          <a:noFill/>
          <a:ln>
            <a:noFill/>
          </a:ln>
        </p:spPr>
      </p:pic>
      <p:sp>
        <p:nvSpPr>
          <p:cNvPr id="165" name="Google Shape;165;p8"/>
          <p:cNvSpPr/>
          <p:nvPr/>
        </p:nvSpPr>
        <p:spPr>
          <a:xfrm>
            <a:off x="6263640" y="1655064"/>
            <a:ext cx="100584" cy="100584"/>
          </a:xfrm>
          <a:prstGeom prst="ellipse">
            <a:avLst/>
          </a:prstGeom>
          <a:solidFill>
            <a:srgbClr val="D4A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txBox="1"/>
          <p:nvPr/>
        </p:nvSpPr>
        <p:spPr>
          <a:xfrm>
            <a:off x="6492240" y="1490472"/>
            <a:ext cx="5166360" cy="1051560"/>
          </a:xfrm>
          <a:prstGeom prst="rect">
            <a:avLst/>
          </a:prstGeom>
          <a:noFill/>
          <a:ln>
            <a:noFill/>
          </a:ln>
        </p:spPr>
        <p:txBody>
          <a:bodyPr spcFirstLastPara="1" wrap="square" lIns="91425" tIns="45700" rIns="91425" bIns="45700" anchor="ctr"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a:solidFill>
                  <a:srgbClr val="1A1A1A"/>
                </a:solidFill>
                <a:latin typeface="Calibri"/>
                <a:ea typeface="Calibri"/>
                <a:cs typeface="Calibri"/>
                <a:sym typeface="Calibri"/>
              </a:rPr>
              <a:t>Reserves swing widely: a post-debt-relief climb to ~$54bn by 2008, a slide to ~$28bn around the 2016 recession, and renewed pressure after 2020.</a:t>
            </a:r>
            <a:endParaRPr sz="1250" b="0" i="0" u="none" strike="noStrike" cap="none">
              <a:solidFill>
                <a:schemeClr val="dk1"/>
              </a:solidFill>
              <a:latin typeface="Calibri"/>
              <a:ea typeface="Calibri"/>
              <a:cs typeface="Calibri"/>
              <a:sym typeface="Calibri"/>
            </a:endParaRPr>
          </a:p>
        </p:txBody>
      </p:sp>
      <p:sp>
        <p:nvSpPr>
          <p:cNvPr id="167" name="Google Shape;167;p8"/>
          <p:cNvSpPr/>
          <p:nvPr/>
        </p:nvSpPr>
        <p:spPr>
          <a:xfrm>
            <a:off x="6263640" y="2825496"/>
            <a:ext cx="100584" cy="100584"/>
          </a:xfrm>
          <a:prstGeom prst="ellipse">
            <a:avLst/>
          </a:prstGeom>
          <a:solidFill>
            <a:srgbClr val="D4A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txBox="1"/>
          <p:nvPr/>
        </p:nvSpPr>
        <p:spPr>
          <a:xfrm>
            <a:off x="6492240" y="2660904"/>
            <a:ext cx="5166360" cy="1051560"/>
          </a:xfrm>
          <a:prstGeom prst="rect">
            <a:avLst/>
          </a:prstGeom>
          <a:noFill/>
          <a:ln>
            <a:noFill/>
          </a:ln>
        </p:spPr>
        <p:txBody>
          <a:bodyPr spcFirstLastPara="1" wrap="square" lIns="91425" tIns="45700" rIns="91425" bIns="45700" anchor="ctr"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a:solidFill>
                  <a:srgbClr val="1A1A1A"/>
                </a:solidFill>
                <a:latin typeface="Calibri"/>
                <a:ea typeface="Calibri"/>
                <a:cs typeface="Calibri"/>
                <a:sym typeface="Calibri"/>
              </a:rPr>
              <a:t>The exchange rate is flat for most of the sample, then breaks sharply upward after the 2023 float — from roughly ₦460 to over ₦1,400 per dollar.</a:t>
            </a:r>
            <a:endParaRPr sz="1250" b="0" i="0" u="none" strike="noStrike" cap="none">
              <a:solidFill>
                <a:schemeClr val="dk1"/>
              </a:solidFill>
              <a:latin typeface="Calibri"/>
              <a:ea typeface="Calibri"/>
              <a:cs typeface="Calibri"/>
              <a:sym typeface="Calibri"/>
            </a:endParaRPr>
          </a:p>
        </p:txBody>
      </p:sp>
      <p:sp>
        <p:nvSpPr>
          <p:cNvPr id="169" name="Google Shape;169;p8"/>
          <p:cNvSpPr/>
          <p:nvPr/>
        </p:nvSpPr>
        <p:spPr>
          <a:xfrm>
            <a:off x="6263640" y="3995928"/>
            <a:ext cx="100584" cy="100584"/>
          </a:xfrm>
          <a:prstGeom prst="ellipse">
            <a:avLst/>
          </a:prstGeom>
          <a:solidFill>
            <a:srgbClr val="D4A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8"/>
          <p:cNvSpPr txBox="1"/>
          <p:nvPr/>
        </p:nvSpPr>
        <p:spPr>
          <a:xfrm>
            <a:off x="6492240" y="3831336"/>
            <a:ext cx="5166360" cy="1051560"/>
          </a:xfrm>
          <a:prstGeom prst="rect">
            <a:avLst/>
          </a:prstGeom>
          <a:noFill/>
          <a:ln>
            <a:noFill/>
          </a:ln>
        </p:spPr>
        <p:txBody>
          <a:bodyPr spcFirstLastPara="1" wrap="square" lIns="91425" tIns="45700" rIns="91425" bIns="45700" anchor="ctr"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a:solidFill>
                  <a:srgbClr val="1A1A1A"/>
                </a:solidFill>
                <a:latin typeface="Calibri"/>
                <a:ea typeface="Calibri"/>
                <a:cs typeface="Calibri"/>
                <a:sym typeface="Calibri"/>
              </a:rPr>
              <a:t>Lending rates and FDI show the opposite drift: rates ease post-2020 while FDI trends down across most of the sample.</a:t>
            </a:r>
            <a:endParaRPr sz="1250" b="0" i="0" u="none" strike="noStrike" cap="none">
              <a:solidFill>
                <a:schemeClr val="dk1"/>
              </a:solidFill>
              <a:latin typeface="Calibri"/>
              <a:ea typeface="Calibri"/>
              <a:cs typeface="Calibri"/>
              <a:sym typeface="Calibri"/>
            </a:endParaRPr>
          </a:p>
        </p:txBody>
      </p:sp>
      <p:sp>
        <p:nvSpPr>
          <p:cNvPr id="171" name="Google Shape;171;p8"/>
          <p:cNvSpPr/>
          <p:nvPr/>
        </p:nvSpPr>
        <p:spPr>
          <a:xfrm>
            <a:off x="6263640" y="5166360"/>
            <a:ext cx="100584" cy="100584"/>
          </a:xfrm>
          <a:prstGeom prst="ellipse">
            <a:avLst/>
          </a:prstGeom>
          <a:solidFill>
            <a:srgbClr val="D4A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8"/>
          <p:cNvSpPr txBox="1"/>
          <p:nvPr/>
        </p:nvSpPr>
        <p:spPr>
          <a:xfrm>
            <a:off x="6492240" y="5001768"/>
            <a:ext cx="5166360" cy="1051560"/>
          </a:xfrm>
          <a:prstGeom prst="rect">
            <a:avLst/>
          </a:prstGeom>
          <a:noFill/>
          <a:ln>
            <a:noFill/>
          </a:ln>
        </p:spPr>
        <p:txBody>
          <a:bodyPr spcFirstLastPara="1" wrap="square" lIns="91425" tIns="45700" rIns="91425" bIns="45700" anchor="ctr"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a:solidFill>
                  <a:srgbClr val="1A1A1A"/>
                </a:solidFill>
                <a:latin typeface="Calibri"/>
                <a:ea typeface="Calibri"/>
                <a:cs typeface="Calibri"/>
                <a:sym typeface="Calibri"/>
              </a:rPr>
              <a:t>Remittances grow steadily but dip sharply in 2020, consistent with a pandemic-year shock to diaspora income.</a:t>
            </a:r>
            <a:endParaRPr sz="1250" b="0" i="0" u="none" strike="noStrike" cap="none">
              <a:solidFill>
                <a:schemeClr val="dk1"/>
              </a:solidFill>
              <a:latin typeface="Calibri"/>
              <a:ea typeface="Calibri"/>
              <a:cs typeface="Calibri"/>
              <a:sym typeface="Calibri"/>
            </a:endParaRPr>
          </a:p>
        </p:txBody>
      </p:sp>
      <p:sp>
        <p:nvSpPr>
          <p:cNvPr id="174" name="Google Shape;174;p8"/>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6</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9"/>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EXPLORATORY ANALYSIS</a:t>
            </a:r>
            <a:endParaRPr sz="1200" b="0" i="0" u="none" strike="noStrike" cap="none">
              <a:solidFill>
                <a:schemeClr val="dk1"/>
              </a:solidFill>
              <a:latin typeface="Calibri"/>
              <a:ea typeface="Calibri"/>
              <a:cs typeface="Calibri"/>
              <a:sym typeface="Calibri"/>
            </a:endParaRPr>
          </a:p>
        </p:txBody>
      </p:sp>
      <p:sp>
        <p:nvSpPr>
          <p:cNvPr id="181" name="Google Shape;181;p9"/>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Descriptive Statistics, 2005–2024</a:t>
            </a:r>
            <a:endParaRPr sz="3000" b="0" i="0" u="none" strike="noStrike" cap="none">
              <a:solidFill>
                <a:schemeClr val="dk1"/>
              </a:solidFill>
              <a:latin typeface="Calibri"/>
              <a:ea typeface="Calibri"/>
              <a:cs typeface="Calibri"/>
              <a:sym typeface="Calibri"/>
            </a:endParaRPr>
          </a:p>
        </p:txBody>
      </p:sp>
      <p:graphicFrame>
        <p:nvGraphicFramePr>
          <p:cNvPr id="182" name="Google Shape;182;p9"/>
          <p:cNvGraphicFramePr/>
          <p:nvPr/>
        </p:nvGraphicFramePr>
        <p:xfrm>
          <a:off x="548640" y="1554480"/>
          <a:ext cx="11064175" cy="2651700"/>
        </p:xfrm>
        <a:graphic>
          <a:graphicData uri="http://schemas.openxmlformats.org/drawingml/2006/table">
            <a:tbl>
              <a:tblPr>
                <a:noFill/>
              </a:tblPr>
              <a:tblGrid>
                <a:gridCol w="2286000">
                  <a:extLst>
                    <a:ext uri="{9D8B030D-6E8A-4147-A177-3AD203B41FA5}">
                      <a16:colId xmlns:a16="http://schemas.microsoft.com/office/drawing/2014/main" val="20000"/>
                    </a:ext>
                  </a:extLst>
                </a:gridCol>
                <a:gridCol w="1280150">
                  <a:extLst>
                    <a:ext uri="{9D8B030D-6E8A-4147-A177-3AD203B41FA5}">
                      <a16:colId xmlns:a16="http://schemas.microsoft.com/office/drawing/2014/main" val="20001"/>
                    </a:ext>
                  </a:extLst>
                </a:gridCol>
                <a:gridCol w="1280150">
                  <a:extLst>
                    <a:ext uri="{9D8B030D-6E8A-4147-A177-3AD203B41FA5}">
                      <a16:colId xmlns:a16="http://schemas.microsoft.com/office/drawing/2014/main" val="20002"/>
                    </a:ext>
                  </a:extLst>
                </a:gridCol>
                <a:gridCol w="1280150">
                  <a:extLst>
                    <a:ext uri="{9D8B030D-6E8A-4147-A177-3AD203B41FA5}">
                      <a16:colId xmlns:a16="http://schemas.microsoft.com/office/drawing/2014/main" val="20003"/>
                    </a:ext>
                  </a:extLst>
                </a:gridCol>
                <a:gridCol w="1280150">
                  <a:extLst>
                    <a:ext uri="{9D8B030D-6E8A-4147-A177-3AD203B41FA5}">
                      <a16:colId xmlns:a16="http://schemas.microsoft.com/office/drawing/2014/main" val="20004"/>
                    </a:ext>
                  </a:extLst>
                </a:gridCol>
                <a:gridCol w="1554475">
                  <a:extLst>
                    <a:ext uri="{9D8B030D-6E8A-4147-A177-3AD203B41FA5}">
                      <a16:colId xmlns:a16="http://schemas.microsoft.com/office/drawing/2014/main" val="20005"/>
                    </a:ext>
                  </a:extLst>
                </a:gridCol>
                <a:gridCol w="1051550">
                  <a:extLst>
                    <a:ext uri="{9D8B030D-6E8A-4147-A177-3AD203B41FA5}">
                      <a16:colId xmlns:a16="http://schemas.microsoft.com/office/drawing/2014/main" val="20006"/>
                    </a:ext>
                  </a:extLst>
                </a:gridCol>
                <a:gridCol w="1051550">
                  <a:extLst>
                    <a:ext uri="{9D8B030D-6E8A-4147-A177-3AD203B41FA5}">
                      <a16:colId xmlns:a16="http://schemas.microsoft.com/office/drawing/2014/main" val="20007"/>
                    </a:ext>
                  </a:extLst>
                </a:gridCol>
              </a:tblGrid>
              <a:tr h="441950">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Variable</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Mean</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Std Dev</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Min</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Median</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Max</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Skew</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250"/>
                        <a:buFont typeface="Calibri"/>
                        <a:buNone/>
                      </a:pPr>
                      <a:r>
                        <a:rPr lang="en-US" sz="1250" b="1" u="none" strike="noStrike" cap="none">
                          <a:solidFill>
                            <a:srgbClr val="FFFFFF"/>
                          </a:solidFill>
                          <a:latin typeface="Calibri"/>
                          <a:ea typeface="Calibri"/>
                          <a:cs typeface="Calibri"/>
                          <a:sym typeface="Calibri"/>
                        </a:rPr>
                        <a:t>Kurtosis</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41950">
                <a:tc>
                  <a:txBody>
                    <a:bodyPr/>
                    <a:lstStyle/>
                    <a:p>
                      <a:pPr marL="0" marR="0" lvl="0" indent="0" algn="l" rtl="0">
                        <a:spcBef>
                          <a:spcPts val="0"/>
                        </a:spcBef>
                        <a:spcAft>
                          <a:spcPts val="0"/>
                        </a:spcAft>
                        <a:buClr>
                          <a:srgbClr val="10243E"/>
                        </a:buClr>
                        <a:buSzPts val="1250"/>
                        <a:buFont typeface="Calibri"/>
                        <a:buNone/>
                      </a:pPr>
                      <a:r>
                        <a:rPr lang="en-US" sz="1250" b="1" u="none" strike="noStrike" cap="none">
                          <a:solidFill>
                            <a:srgbClr val="10243E"/>
                          </a:solidFill>
                          <a:latin typeface="Calibri"/>
                          <a:ea typeface="Calibri"/>
                          <a:cs typeface="Calibri"/>
                          <a:sym typeface="Calibri"/>
                        </a:rPr>
                        <a:t>Reserves ($bn)</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39.09</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7.04</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28.02</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39.89</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53.60</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0.26</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-0.18</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41950">
                <a:tc>
                  <a:txBody>
                    <a:bodyPr/>
                    <a:lstStyle/>
                    <a:p>
                      <a:pPr marL="0" marR="0" lvl="0" indent="0" algn="l" rtl="0">
                        <a:spcBef>
                          <a:spcPts val="0"/>
                        </a:spcBef>
                        <a:spcAft>
                          <a:spcPts val="0"/>
                        </a:spcAft>
                        <a:buClr>
                          <a:srgbClr val="10243E"/>
                        </a:buClr>
                        <a:buSzPts val="1250"/>
                        <a:buFont typeface="Calibri"/>
                        <a:buNone/>
                      </a:pPr>
                      <a:r>
                        <a:rPr lang="en-US" sz="1250" b="1" u="none" strike="noStrike" cap="none">
                          <a:solidFill>
                            <a:srgbClr val="10243E"/>
                          </a:solidFill>
                          <a:latin typeface="Calibri"/>
                          <a:ea typeface="Calibri"/>
                          <a:cs typeface="Calibri"/>
                          <a:sym typeface="Calibri"/>
                        </a:rPr>
                        <a:t>Exchange Rate (₦/$)</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305.28</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307.82</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118.57</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175.50</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1,478.97</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3.24</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11.90</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41950">
                <a:tc>
                  <a:txBody>
                    <a:bodyPr/>
                    <a:lstStyle/>
                    <a:p>
                      <a:pPr marL="0" marR="0" lvl="0" indent="0" algn="l" rtl="0">
                        <a:spcBef>
                          <a:spcPts val="0"/>
                        </a:spcBef>
                        <a:spcAft>
                          <a:spcPts val="0"/>
                        </a:spcAft>
                        <a:buClr>
                          <a:srgbClr val="10243E"/>
                        </a:buClr>
                        <a:buSzPts val="1250"/>
                        <a:buFont typeface="Calibri"/>
                        <a:buNone/>
                      </a:pPr>
                      <a:r>
                        <a:rPr lang="en-US" sz="1250" b="1" u="none" strike="noStrike" cap="none">
                          <a:solidFill>
                            <a:srgbClr val="10243E"/>
                          </a:solidFill>
                          <a:latin typeface="Calibri"/>
                          <a:ea typeface="Calibri"/>
                          <a:cs typeface="Calibri"/>
                          <a:sym typeface="Calibri"/>
                        </a:rPr>
                        <a:t>Lending Rate (%)</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15.93</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1.94</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11.48</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16.76</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18.99</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-0.88</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0.23</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41950">
                <a:tc>
                  <a:txBody>
                    <a:bodyPr/>
                    <a:lstStyle/>
                    <a:p>
                      <a:pPr marL="0" marR="0" lvl="0" indent="0" algn="l" rtl="0">
                        <a:spcBef>
                          <a:spcPts val="0"/>
                        </a:spcBef>
                        <a:spcAft>
                          <a:spcPts val="0"/>
                        </a:spcAft>
                        <a:buClr>
                          <a:srgbClr val="10243E"/>
                        </a:buClr>
                        <a:buSzPts val="1250"/>
                        <a:buFont typeface="Calibri"/>
                        <a:buNone/>
                      </a:pPr>
                      <a:r>
                        <a:rPr lang="en-US" sz="1250" b="1" u="none" strike="noStrike" cap="none">
                          <a:solidFill>
                            <a:srgbClr val="10243E"/>
                          </a:solidFill>
                          <a:latin typeface="Calibri"/>
                          <a:ea typeface="Calibri"/>
                          <a:cs typeface="Calibri"/>
                          <a:sym typeface="Calibri"/>
                        </a:rPr>
                        <a:t>Remittances ($bn)</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19.94</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2.27</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14.64</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19.94</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24.31</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-0.22</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0.73</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41950">
                <a:tc>
                  <a:txBody>
                    <a:bodyPr/>
                    <a:lstStyle/>
                    <a:p>
                      <a:pPr marL="0" marR="0" lvl="0" indent="0" algn="l" rtl="0">
                        <a:spcBef>
                          <a:spcPts val="0"/>
                        </a:spcBef>
                        <a:spcAft>
                          <a:spcPts val="0"/>
                        </a:spcAft>
                        <a:buClr>
                          <a:srgbClr val="10243E"/>
                        </a:buClr>
                        <a:buSzPts val="1250"/>
                        <a:buFont typeface="Calibri"/>
                        <a:buNone/>
                      </a:pPr>
                      <a:r>
                        <a:rPr lang="en-US" sz="1250" b="1" u="none" strike="noStrike" cap="none">
                          <a:solidFill>
                            <a:srgbClr val="10243E"/>
                          </a:solidFill>
                          <a:latin typeface="Calibri"/>
                          <a:ea typeface="Calibri"/>
                          <a:cs typeface="Calibri"/>
                          <a:sym typeface="Calibri"/>
                        </a:rPr>
                        <a:t>FDI ($bn)</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4.29</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2.62</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-0.19</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4.07</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8.84</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0.24</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250"/>
                        <a:buFont typeface="Calibri"/>
                        <a:buNone/>
                      </a:pPr>
                      <a:r>
                        <a:rPr lang="en-US" sz="1250" u="none" strike="noStrike" cap="none">
                          <a:solidFill>
                            <a:srgbClr val="1A1A1A"/>
                          </a:solidFill>
                          <a:latin typeface="Calibri"/>
                          <a:ea typeface="Calibri"/>
                          <a:cs typeface="Calibri"/>
                          <a:sym typeface="Calibri"/>
                        </a:rPr>
                        <a:t>-0.83</a:t>
                      </a:r>
                      <a:endParaRPr sz="12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183" name="Google Shape;183;p9"/>
          <p:cNvSpPr/>
          <p:nvPr/>
        </p:nvSpPr>
        <p:spPr>
          <a:xfrm>
            <a:off x="548640" y="1554480"/>
            <a:ext cx="11064240" cy="384048"/>
          </a:xfrm>
          <a:prstGeom prst="rect">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9"/>
          <p:cNvSpPr txBox="1"/>
          <p:nvPr/>
        </p:nvSpPr>
        <p:spPr>
          <a:xfrm>
            <a:off x="621792" y="1554480"/>
            <a:ext cx="2139696"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Variable</a:t>
            </a:r>
            <a:endParaRPr sz="1200" b="0" i="0" u="none" strike="noStrike" cap="none">
              <a:solidFill>
                <a:schemeClr val="dk1"/>
              </a:solidFill>
              <a:latin typeface="Calibri"/>
              <a:ea typeface="Calibri"/>
              <a:cs typeface="Calibri"/>
              <a:sym typeface="Calibri"/>
            </a:endParaRPr>
          </a:p>
        </p:txBody>
      </p:sp>
      <p:sp>
        <p:nvSpPr>
          <p:cNvPr id="185" name="Google Shape;185;p9"/>
          <p:cNvSpPr txBox="1"/>
          <p:nvPr/>
        </p:nvSpPr>
        <p:spPr>
          <a:xfrm>
            <a:off x="2907792" y="1554480"/>
            <a:ext cx="1133856"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Mean</a:t>
            </a:r>
            <a:endParaRPr sz="1200" b="0" i="0" u="none" strike="noStrike" cap="none">
              <a:solidFill>
                <a:schemeClr val="dk1"/>
              </a:solidFill>
              <a:latin typeface="Calibri"/>
              <a:ea typeface="Calibri"/>
              <a:cs typeface="Calibri"/>
              <a:sym typeface="Calibri"/>
            </a:endParaRPr>
          </a:p>
        </p:txBody>
      </p:sp>
      <p:sp>
        <p:nvSpPr>
          <p:cNvPr id="186" name="Google Shape;186;p9"/>
          <p:cNvSpPr txBox="1"/>
          <p:nvPr/>
        </p:nvSpPr>
        <p:spPr>
          <a:xfrm>
            <a:off x="4187952" y="1554480"/>
            <a:ext cx="1133856"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Std Dev</a:t>
            </a:r>
            <a:endParaRPr sz="1200" b="0" i="0" u="none" strike="noStrike" cap="none">
              <a:solidFill>
                <a:schemeClr val="dk1"/>
              </a:solidFill>
              <a:latin typeface="Calibri"/>
              <a:ea typeface="Calibri"/>
              <a:cs typeface="Calibri"/>
              <a:sym typeface="Calibri"/>
            </a:endParaRPr>
          </a:p>
        </p:txBody>
      </p:sp>
      <p:sp>
        <p:nvSpPr>
          <p:cNvPr id="187" name="Google Shape;187;p9"/>
          <p:cNvSpPr txBox="1"/>
          <p:nvPr/>
        </p:nvSpPr>
        <p:spPr>
          <a:xfrm>
            <a:off x="5468112" y="1554480"/>
            <a:ext cx="1133856"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Min</a:t>
            </a:r>
            <a:endParaRPr sz="1200" b="0" i="0" u="none" strike="noStrike" cap="none">
              <a:solidFill>
                <a:schemeClr val="dk1"/>
              </a:solidFill>
              <a:latin typeface="Calibri"/>
              <a:ea typeface="Calibri"/>
              <a:cs typeface="Calibri"/>
              <a:sym typeface="Calibri"/>
            </a:endParaRPr>
          </a:p>
        </p:txBody>
      </p:sp>
      <p:sp>
        <p:nvSpPr>
          <p:cNvPr id="188" name="Google Shape;188;p9"/>
          <p:cNvSpPr txBox="1"/>
          <p:nvPr/>
        </p:nvSpPr>
        <p:spPr>
          <a:xfrm>
            <a:off x="6748272" y="1554480"/>
            <a:ext cx="1133856"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Median</a:t>
            </a:r>
            <a:endParaRPr sz="1200" b="0" i="0" u="none" strike="noStrike" cap="none">
              <a:solidFill>
                <a:schemeClr val="dk1"/>
              </a:solidFill>
              <a:latin typeface="Calibri"/>
              <a:ea typeface="Calibri"/>
              <a:cs typeface="Calibri"/>
              <a:sym typeface="Calibri"/>
            </a:endParaRPr>
          </a:p>
        </p:txBody>
      </p:sp>
      <p:sp>
        <p:nvSpPr>
          <p:cNvPr id="189" name="Google Shape;189;p9"/>
          <p:cNvSpPr txBox="1"/>
          <p:nvPr/>
        </p:nvSpPr>
        <p:spPr>
          <a:xfrm>
            <a:off x="8028432" y="1554480"/>
            <a:ext cx="1408176"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Max</a:t>
            </a:r>
            <a:endParaRPr sz="1200" b="0" i="0" u="none" strike="noStrike" cap="none">
              <a:solidFill>
                <a:schemeClr val="dk1"/>
              </a:solidFill>
              <a:latin typeface="Calibri"/>
              <a:ea typeface="Calibri"/>
              <a:cs typeface="Calibri"/>
              <a:sym typeface="Calibri"/>
            </a:endParaRPr>
          </a:p>
        </p:txBody>
      </p:sp>
      <p:sp>
        <p:nvSpPr>
          <p:cNvPr id="190" name="Google Shape;190;p9"/>
          <p:cNvSpPr txBox="1"/>
          <p:nvPr/>
        </p:nvSpPr>
        <p:spPr>
          <a:xfrm>
            <a:off x="9582912" y="1554480"/>
            <a:ext cx="905256"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Skew</a:t>
            </a:r>
            <a:endParaRPr sz="1200" b="0" i="0" u="none" strike="noStrike" cap="none">
              <a:solidFill>
                <a:schemeClr val="dk1"/>
              </a:solidFill>
              <a:latin typeface="Calibri"/>
              <a:ea typeface="Calibri"/>
              <a:cs typeface="Calibri"/>
              <a:sym typeface="Calibri"/>
            </a:endParaRPr>
          </a:p>
        </p:txBody>
      </p:sp>
      <p:sp>
        <p:nvSpPr>
          <p:cNvPr id="191" name="Google Shape;191;p9"/>
          <p:cNvSpPr txBox="1"/>
          <p:nvPr/>
        </p:nvSpPr>
        <p:spPr>
          <a:xfrm>
            <a:off x="10634472" y="1554480"/>
            <a:ext cx="905256"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Kurtosis</a:t>
            </a:r>
            <a:endParaRPr sz="1200" b="0" i="0" u="none" strike="noStrike" cap="none">
              <a:solidFill>
                <a:schemeClr val="dk1"/>
              </a:solidFill>
              <a:latin typeface="Calibri"/>
              <a:ea typeface="Calibri"/>
              <a:cs typeface="Calibri"/>
              <a:sym typeface="Calibri"/>
            </a:endParaRPr>
          </a:p>
        </p:txBody>
      </p:sp>
      <p:sp>
        <p:nvSpPr>
          <p:cNvPr id="192" name="Google Shape;192;p9"/>
          <p:cNvSpPr/>
          <p:nvPr/>
        </p:nvSpPr>
        <p:spPr>
          <a:xfrm>
            <a:off x="548640" y="4526280"/>
            <a:ext cx="11064240" cy="1508760"/>
          </a:xfrm>
          <a:prstGeom prst="roundRect">
            <a:avLst>
              <a:gd name="adj" fmla="val 4848"/>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9"/>
          <p:cNvSpPr txBox="1"/>
          <p:nvPr/>
        </p:nvSpPr>
        <p:spPr>
          <a:xfrm>
            <a:off x="822960" y="4681728"/>
            <a:ext cx="10515600" cy="1234440"/>
          </a:xfrm>
          <a:prstGeom prst="rect">
            <a:avLst/>
          </a:prstGeom>
          <a:noFill/>
          <a:ln>
            <a:noFill/>
          </a:ln>
        </p:spPr>
        <p:txBody>
          <a:bodyPr spcFirstLastPara="1" wrap="square" lIns="91425" tIns="45700" rIns="91425" bIns="45700" anchor="t" anchorCtr="0">
            <a:noAutofit/>
          </a:bodyPr>
          <a:lstStyle/>
          <a:p>
            <a:pPr marL="0" marR="0" lvl="0" indent="0" algn="l" rtl="0">
              <a:lnSpc>
                <a:spcPct val="140740"/>
              </a:lnSpc>
              <a:spcBef>
                <a:spcPts val="0"/>
              </a:spcBef>
              <a:spcAft>
                <a:spcPts val="0"/>
              </a:spcAft>
              <a:buClr>
                <a:srgbClr val="10243E"/>
              </a:buClr>
              <a:buSzPts val="1350"/>
              <a:buFont typeface="Calibri"/>
              <a:buNone/>
            </a:pPr>
            <a:r>
              <a:rPr lang="en-US" sz="1350" b="1" i="0" u="none" strike="noStrike" cap="none" dirty="0">
                <a:solidFill>
                  <a:srgbClr val="10243E"/>
                </a:solidFill>
                <a:latin typeface="Calibri"/>
                <a:ea typeface="Calibri"/>
                <a:cs typeface="Calibri"/>
                <a:sym typeface="Calibri"/>
              </a:rPr>
              <a:t>Explaining the distribution:  </a:t>
            </a:r>
            <a:r>
              <a:rPr lang="en-US" sz="1350" b="0" i="0" u="none" strike="noStrike" cap="none" dirty="0">
                <a:solidFill>
                  <a:srgbClr val="1A1A1A"/>
                </a:solidFill>
                <a:latin typeface="Calibri"/>
                <a:ea typeface="Calibri"/>
                <a:cs typeface="Calibri"/>
                <a:sym typeface="Calibri"/>
              </a:rPr>
              <a:t>the exchange rate's skewness (3.24) and kurtosis (11.90) are far outside a normal range — a fingerprint of the 2023 regime shift, not measurement noise. FDI's minimum of –$0.19bn marks a rare year of net outflow (around 2022). Reserves and remittances are comparatively well-behaved, near-symmetric series.</a:t>
            </a:r>
            <a:endParaRPr sz="1350" b="0" i="0" u="none" strike="noStrike" cap="none" dirty="0">
              <a:solidFill>
                <a:schemeClr val="dk1"/>
              </a:solidFill>
              <a:latin typeface="Calibri"/>
              <a:ea typeface="Calibri"/>
              <a:cs typeface="Calibri"/>
              <a:sym typeface="Calibri"/>
            </a:endParaRPr>
          </a:p>
        </p:txBody>
      </p:sp>
      <p:sp>
        <p:nvSpPr>
          <p:cNvPr id="195" name="Google Shape;195;p9"/>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7</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0"/>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STAGE 1 · STATIONARITY</a:t>
            </a:r>
            <a:endParaRPr sz="1200" b="0" i="0" u="none" strike="noStrike" cap="none">
              <a:solidFill>
                <a:schemeClr val="dk1"/>
              </a:solidFill>
              <a:latin typeface="Calibri"/>
              <a:ea typeface="Calibri"/>
              <a:cs typeface="Calibri"/>
              <a:sym typeface="Calibri"/>
            </a:endParaRPr>
          </a:p>
        </p:txBody>
      </p:sp>
      <p:sp>
        <p:nvSpPr>
          <p:cNvPr id="202" name="Google Shape;202;p10"/>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Testing for a Unit Root (ADF &amp; KPSS)</a:t>
            </a:r>
            <a:endParaRPr sz="3000" b="0" i="0" u="none" strike="noStrike" cap="none">
              <a:solidFill>
                <a:schemeClr val="dk1"/>
              </a:solidFill>
              <a:latin typeface="Calibri"/>
              <a:ea typeface="Calibri"/>
              <a:cs typeface="Calibri"/>
              <a:sym typeface="Calibri"/>
            </a:endParaRPr>
          </a:p>
        </p:txBody>
      </p:sp>
      <p:sp>
        <p:nvSpPr>
          <p:cNvPr id="203" name="Google Shape;203;p10"/>
          <p:cNvSpPr txBox="1"/>
          <p:nvPr/>
        </p:nvSpPr>
        <p:spPr>
          <a:xfrm>
            <a:off x="548640" y="1508760"/>
            <a:ext cx="11064240" cy="685800"/>
          </a:xfrm>
          <a:prstGeom prst="rect">
            <a:avLst/>
          </a:prstGeom>
          <a:noFill/>
          <a:ln>
            <a:noFill/>
          </a:ln>
        </p:spPr>
        <p:txBody>
          <a:bodyPr spcFirstLastPara="1" wrap="square" lIns="91425" tIns="45700" rIns="91425" bIns="45700" anchor="ctr" anchorCtr="0">
            <a:noAutofit/>
          </a:bodyPr>
          <a:lstStyle/>
          <a:p>
            <a:pPr marL="0" marR="0" lvl="0" indent="0" algn="l" rtl="0">
              <a:lnSpc>
                <a:spcPct val="130769"/>
              </a:lnSpc>
              <a:spcBef>
                <a:spcPts val="0"/>
              </a:spcBef>
              <a:spcAft>
                <a:spcPts val="0"/>
              </a:spcAft>
              <a:buClr>
                <a:srgbClr val="5B6472"/>
              </a:buClr>
              <a:buSzPts val="1300"/>
              <a:buFont typeface="Calibri"/>
              <a:buNone/>
            </a:pPr>
            <a:r>
              <a:rPr lang="en-US" sz="1300" b="0" i="0" u="none" strike="noStrike" cap="none">
                <a:solidFill>
                  <a:srgbClr val="5B6472"/>
                </a:solidFill>
                <a:latin typeface="Calibri"/>
                <a:ea typeface="Calibri"/>
                <a:cs typeface="Calibri"/>
                <a:sym typeface="Calibri"/>
              </a:rPr>
              <a:t>Each series was tested at levels under three trend specifications (none, constant, constant + trend), then retested on first differences. The two tests disagree in places — expected in a 20-year annual sample — but the pattern is consistent with each series being integrated of order one, I(1).</a:t>
            </a:r>
            <a:endParaRPr sz="1300" b="0" i="0" u="none" strike="noStrike" cap="none">
              <a:solidFill>
                <a:schemeClr val="dk1"/>
              </a:solidFill>
              <a:latin typeface="Calibri"/>
              <a:ea typeface="Calibri"/>
              <a:cs typeface="Calibri"/>
              <a:sym typeface="Calibri"/>
            </a:endParaRPr>
          </a:p>
        </p:txBody>
      </p:sp>
      <p:graphicFrame>
        <p:nvGraphicFramePr>
          <p:cNvPr id="204" name="Google Shape;204;p10"/>
          <p:cNvGraphicFramePr/>
          <p:nvPr/>
        </p:nvGraphicFramePr>
        <p:xfrm>
          <a:off x="548640" y="2331720"/>
          <a:ext cx="11064250" cy="2606100"/>
        </p:xfrm>
        <a:graphic>
          <a:graphicData uri="http://schemas.openxmlformats.org/drawingml/2006/table">
            <a:tbl>
              <a:tblPr>
                <a:noFill/>
              </a:tblPr>
              <a:tblGrid>
                <a:gridCol w="237745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434350">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Variable</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At Levels</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After First Differencing</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34350">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Reserves</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Unit root (N); stationary (C); mixed (CT)</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Stationary across N and C</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34350">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Exchange Rate</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Unit root across all three specs</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Stationary at N; unit root persists at C / CT</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34350">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Lending Rate</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Unit root across all three specs</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Stationary at N and C</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34350">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Remittances</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Unit root (N); stationary (C); unit root (CT)</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Stationary across N and C</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34350">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FDI</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Unit root across all three specs</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Stationary at N and C</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205" name="Google Shape;205;p10"/>
          <p:cNvSpPr/>
          <p:nvPr/>
        </p:nvSpPr>
        <p:spPr>
          <a:xfrm>
            <a:off x="548640" y="2331720"/>
            <a:ext cx="11064240" cy="411480"/>
          </a:xfrm>
          <a:prstGeom prst="rect">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0"/>
          <p:cNvSpPr txBox="1"/>
          <p:nvPr/>
        </p:nvSpPr>
        <p:spPr>
          <a:xfrm>
            <a:off x="640080" y="2331720"/>
            <a:ext cx="219456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Variable</a:t>
            </a:r>
            <a:endParaRPr sz="1300" b="0" i="0" u="none" strike="noStrike" cap="none">
              <a:solidFill>
                <a:schemeClr val="dk1"/>
              </a:solidFill>
              <a:latin typeface="Calibri"/>
              <a:ea typeface="Calibri"/>
              <a:cs typeface="Calibri"/>
              <a:sym typeface="Calibri"/>
            </a:endParaRPr>
          </a:p>
        </p:txBody>
      </p:sp>
      <p:sp>
        <p:nvSpPr>
          <p:cNvPr id="207" name="Google Shape;207;p10"/>
          <p:cNvSpPr txBox="1"/>
          <p:nvPr/>
        </p:nvSpPr>
        <p:spPr>
          <a:xfrm>
            <a:off x="3017520" y="2331720"/>
            <a:ext cx="416052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At Levels</a:t>
            </a:r>
            <a:endParaRPr sz="1300" b="0" i="0" u="none" strike="noStrike" cap="none">
              <a:solidFill>
                <a:schemeClr val="dk1"/>
              </a:solidFill>
              <a:latin typeface="Calibri"/>
              <a:ea typeface="Calibri"/>
              <a:cs typeface="Calibri"/>
              <a:sym typeface="Calibri"/>
            </a:endParaRPr>
          </a:p>
        </p:txBody>
      </p:sp>
      <p:sp>
        <p:nvSpPr>
          <p:cNvPr id="208" name="Google Shape;208;p10"/>
          <p:cNvSpPr txBox="1"/>
          <p:nvPr/>
        </p:nvSpPr>
        <p:spPr>
          <a:xfrm>
            <a:off x="7360920" y="2331720"/>
            <a:ext cx="416052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300"/>
              <a:buFont typeface="Calibri"/>
              <a:buNone/>
            </a:pPr>
            <a:r>
              <a:rPr lang="en-US" sz="1300" b="1" i="0" u="none" strike="noStrike" cap="none">
                <a:solidFill>
                  <a:srgbClr val="FFFFFF"/>
                </a:solidFill>
                <a:latin typeface="Calibri"/>
                <a:ea typeface="Calibri"/>
                <a:cs typeface="Calibri"/>
                <a:sym typeface="Calibri"/>
              </a:rPr>
              <a:t>After First Differencing</a:t>
            </a:r>
            <a:endParaRPr sz="1300" b="0" i="0" u="none" strike="noStrike" cap="none">
              <a:solidFill>
                <a:schemeClr val="dk1"/>
              </a:solidFill>
              <a:latin typeface="Calibri"/>
              <a:ea typeface="Calibri"/>
              <a:cs typeface="Calibri"/>
              <a:sym typeface="Calibri"/>
            </a:endParaRPr>
          </a:p>
        </p:txBody>
      </p:sp>
      <p:sp>
        <p:nvSpPr>
          <p:cNvPr id="209" name="Google Shape;209;p10"/>
          <p:cNvSpPr/>
          <p:nvPr/>
        </p:nvSpPr>
        <p:spPr>
          <a:xfrm>
            <a:off x="548640" y="5257800"/>
            <a:ext cx="11064240" cy="960120"/>
          </a:xfrm>
          <a:prstGeom prst="roundRect">
            <a:avLst>
              <a:gd name="adj" fmla="val 7619"/>
            </a:avLst>
          </a:prstGeom>
          <a:solidFill>
            <a:srgbClr val="1F6F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0"/>
          <p:cNvSpPr txBox="1"/>
          <p:nvPr/>
        </p:nvSpPr>
        <p:spPr>
          <a:xfrm>
            <a:off x="868680" y="5394960"/>
            <a:ext cx="10424160" cy="731520"/>
          </a:xfrm>
          <a:prstGeom prst="rect">
            <a:avLst/>
          </a:prstGeom>
          <a:noFill/>
          <a:ln>
            <a:noFill/>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rgbClr val="FFFFFF"/>
              </a:buClr>
              <a:buSzPts val="1500"/>
              <a:buFont typeface="Calibri"/>
              <a:buNone/>
            </a:pPr>
            <a:r>
              <a:rPr lang="en-US" sz="1500" b="1" i="0" u="none" strike="noStrike" cap="none">
                <a:solidFill>
                  <a:srgbClr val="FFFFFF"/>
                </a:solidFill>
                <a:latin typeface="Calibri"/>
                <a:ea typeface="Calibri"/>
                <a:cs typeface="Calibri"/>
                <a:sym typeface="Calibri"/>
              </a:rPr>
              <a:t>Conclusion:  </a:t>
            </a:r>
            <a:r>
              <a:rPr lang="en-US" sz="1400" b="0" i="0" u="none" strike="noStrike" cap="none">
                <a:solidFill>
                  <a:srgbClr val="FFFFFF"/>
                </a:solidFill>
                <a:latin typeface="Calibri"/>
                <a:ea typeface="Calibri"/>
                <a:cs typeface="Calibri"/>
                <a:sym typeface="Calibri"/>
              </a:rPr>
              <a:t>the weight of evidence treats all five series as I(1) — non-stationary in levels, stationary once differenced. That is the precondition for testing cointegration rather than running a regression that could be spurious.</a:t>
            </a:r>
            <a:endParaRPr sz="1500" b="0" i="0" u="none" strike="noStrike" cap="none">
              <a:solidFill>
                <a:schemeClr val="dk1"/>
              </a:solidFill>
              <a:latin typeface="Calibri"/>
              <a:ea typeface="Calibri"/>
              <a:cs typeface="Calibri"/>
              <a:sym typeface="Calibri"/>
            </a:endParaRPr>
          </a:p>
        </p:txBody>
      </p:sp>
      <p:sp>
        <p:nvSpPr>
          <p:cNvPr id="212" name="Google Shape;212;p10"/>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8</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1"/>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STAGE 2 · LONG-RUN EQUILIBRIUM</a:t>
            </a:r>
            <a:endParaRPr sz="1200" b="0" i="0" u="none" strike="noStrike" cap="none">
              <a:solidFill>
                <a:schemeClr val="dk1"/>
              </a:solidFill>
              <a:latin typeface="Calibri"/>
              <a:ea typeface="Calibri"/>
              <a:cs typeface="Calibri"/>
              <a:sym typeface="Calibri"/>
            </a:endParaRPr>
          </a:p>
        </p:txBody>
      </p:sp>
      <p:sp>
        <p:nvSpPr>
          <p:cNvPr id="219" name="Google Shape;219;p11"/>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The Johansen Cointegration Test</a:t>
            </a:r>
            <a:endParaRPr sz="3000" b="0" i="0" u="none" strike="noStrike" cap="none">
              <a:solidFill>
                <a:schemeClr val="dk1"/>
              </a:solidFill>
              <a:latin typeface="Calibri"/>
              <a:ea typeface="Calibri"/>
              <a:cs typeface="Calibri"/>
              <a:sym typeface="Calibri"/>
            </a:endParaRPr>
          </a:p>
        </p:txBody>
      </p:sp>
      <p:sp>
        <p:nvSpPr>
          <p:cNvPr id="220" name="Google Shape;220;p11"/>
          <p:cNvSpPr txBox="1"/>
          <p:nvPr/>
        </p:nvSpPr>
        <p:spPr>
          <a:xfrm>
            <a:off x="548640" y="1508760"/>
            <a:ext cx="6400800" cy="1371600"/>
          </a:xfrm>
          <a:prstGeom prst="rect">
            <a:avLst/>
          </a:prstGeom>
          <a:noFill/>
          <a:ln>
            <a:noFill/>
          </a:ln>
        </p:spPr>
        <p:txBody>
          <a:bodyPr spcFirstLastPara="1" wrap="square" lIns="91425" tIns="45700" rIns="91425" bIns="45700" anchor="ctr" anchorCtr="0">
            <a:noAutofit/>
          </a:bodyPr>
          <a:lstStyle/>
          <a:p>
            <a:pPr marL="0" marR="0" lvl="0" indent="0" algn="l" rtl="0">
              <a:lnSpc>
                <a:spcPct val="133333"/>
              </a:lnSpc>
              <a:spcBef>
                <a:spcPts val="0"/>
              </a:spcBef>
              <a:spcAft>
                <a:spcPts val="0"/>
              </a:spcAft>
              <a:buClr>
                <a:srgbClr val="5B6472"/>
              </a:buClr>
              <a:buSzPts val="1350"/>
              <a:buFont typeface="Calibri"/>
              <a:buNone/>
            </a:pPr>
            <a:r>
              <a:rPr lang="en-US" sz="1350" b="0" i="0" u="none" strike="noStrike" cap="none">
                <a:solidFill>
                  <a:srgbClr val="5B6472"/>
                </a:solidFill>
                <a:latin typeface="Calibri"/>
                <a:ea typeface="Calibri"/>
                <a:cs typeface="Calibri"/>
                <a:sym typeface="Calibri"/>
              </a:rPr>
              <a:t>If I(1) variables are cointegrated, a linear combination of them is stationary — meaning they share one or more stable, long-run relationships even while each wanders individually. The trace test compares against a chain of null hypotheses on the number of such relationships, r.</a:t>
            </a:r>
            <a:endParaRPr sz="1350" b="0" i="0" u="none" strike="noStrike" cap="none">
              <a:solidFill>
                <a:schemeClr val="dk1"/>
              </a:solidFill>
              <a:latin typeface="Calibri"/>
              <a:ea typeface="Calibri"/>
              <a:cs typeface="Calibri"/>
              <a:sym typeface="Calibri"/>
            </a:endParaRPr>
          </a:p>
        </p:txBody>
      </p:sp>
      <p:graphicFrame>
        <p:nvGraphicFramePr>
          <p:cNvPr id="221" name="Google Shape;221;p11"/>
          <p:cNvGraphicFramePr/>
          <p:nvPr/>
        </p:nvGraphicFramePr>
        <p:xfrm>
          <a:off x="548640" y="3063240"/>
          <a:ext cx="6400800" cy="2331750"/>
        </p:xfrm>
        <a:graphic>
          <a:graphicData uri="http://schemas.openxmlformats.org/drawingml/2006/table">
            <a:tbl>
              <a:tblPr>
                <a:noFill/>
              </a:tblPr>
              <a:tblGrid>
                <a:gridCol w="1737350">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8625">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Null Hypothesis</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Trace Statistic</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5% Critical Value</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Decision</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88625">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r ≤ 0</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116.23</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33.88</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6F5C"/>
                        </a:buClr>
                        <a:buSzPts val="1300"/>
                        <a:buFont typeface="Calibri"/>
                        <a:buNone/>
                      </a:pPr>
                      <a:r>
                        <a:rPr lang="en-US" sz="1300" b="1" u="none" strike="noStrike" cap="none">
                          <a:solidFill>
                            <a:srgbClr val="1F6F5C"/>
                          </a:solidFill>
                          <a:latin typeface="Calibri"/>
                          <a:ea typeface="Calibri"/>
                          <a:cs typeface="Calibri"/>
                          <a:sym typeface="Calibri"/>
                        </a:rPr>
                        <a:t>Reject</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88625">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r ≤ 1</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48.40</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27.59</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6F5C"/>
                        </a:buClr>
                        <a:buSzPts val="1300"/>
                        <a:buFont typeface="Calibri"/>
                        <a:buNone/>
                      </a:pPr>
                      <a:r>
                        <a:rPr lang="en-US" sz="1300" b="1" u="none" strike="noStrike" cap="none">
                          <a:solidFill>
                            <a:srgbClr val="1F6F5C"/>
                          </a:solidFill>
                          <a:latin typeface="Calibri"/>
                          <a:ea typeface="Calibri"/>
                          <a:cs typeface="Calibri"/>
                          <a:sym typeface="Calibri"/>
                        </a:rPr>
                        <a:t>Reject</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88625">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r ≤ 2</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21.75</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21.13</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6F5C"/>
                        </a:buClr>
                        <a:buSzPts val="1300"/>
                        <a:buFont typeface="Calibri"/>
                        <a:buNone/>
                      </a:pPr>
                      <a:r>
                        <a:rPr lang="en-US" sz="1300" b="1" u="none" strike="noStrike" cap="none">
                          <a:solidFill>
                            <a:srgbClr val="1F6F5C"/>
                          </a:solidFill>
                          <a:latin typeface="Calibri"/>
                          <a:ea typeface="Calibri"/>
                          <a:cs typeface="Calibri"/>
                          <a:sym typeface="Calibri"/>
                        </a:rPr>
                        <a:t>Reject</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88625">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r ≤ 3</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5.43</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14.26</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B04A3A"/>
                        </a:buClr>
                        <a:buSzPts val="1300"/>
                        <a:buFont typeface="Calibri"/>
                        <a:buNone/>
                      </a:pPr>
                      <a:r>
                        <a:rPr lang="en-US" sz="1300" u="none" strike="noStrike" cap="none">
                          <a:solidFill>
                            <a:srgbClr val="B04A3A"/>
                          </a:solidFill>
                          <a:latin typeface="Calibri"/>
                          <a:ea typeface="Calibri"/>
                          <a:cs typeface="Calibri"/>
                          <a:sym typeface="Calibri"/>
                        </a:rPr>
                        <a:t>Fail to reject</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88625">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r ≤ 4</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0.29</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3.84</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B04A3A"/>
                        </a:buClr>
                        <a:buSzPts val="1300"/>
                        <a:buFont typeface="Calibri"/>
                        <a:buNone/>
                      </a:pPr>
                      <a:r>
                        <a:rPr lang="en-US" sz="1300" u="none" strike="noStrike" cap="none">
                          <a:solidFill>
                            <a:srgbClr val="B04A3A"/>
                          </a:solidFill>
                          <a:latin typeface="Calibri"/>
                          <a:ea typeface="Calibri"/>
                          <a:cs typeface="Calibri"/>
                          <a:sym typeface="Calibri"/>
                        </a:rPr>
                        <a:t>Fail to reject</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222" name="Google Shape;222;p11"/>
          <p:cNvSpPr/>
          <p:nvPr/>
        </p:nvSpPr>
        <p:spPr>
          <a:xfrm>
            <a:off x="548640" y="3063240"/>
            <a:ext cx="6400800" cy="411480"/>
          </a:xfrm>
          <a:prstGeom prst="rect">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1"/>
          <p:cNvSpPr txBox="1"/>
          <p:nvPr/>
        </p:nvSpPr>
        <p:spPr>
          <a:xfrm>
            <a:off x="621792" y="3063240"/>
            <a:ext cx="1591056"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Null Hypothesis</a:t>
            </a:r>
            <a:endParaRPr sz="1200" b="0" i="0" u="none" strike="noStrike" cap="none">
              <a:solidFill>
                <a:schemeClr val="dk1"/>
              </a:solidFill>
              <a:latin typeface="Calibri"/>
              <a:ea typeface="Calibri"/>
              <a:cs typeface="Calibri"/>
              <a:sym typeface="Calibri"/>
            </a:endParaRPr>
          </a:p>
        </p:txBody>
      </p:sp>
      <p:sp>
        <p:nvSpPr>
          <p:cNvPr id="224" name="Google Shape;224;p11"/>
          <p:cNvSpPr txBox="1"/>
          <p:nvPr/>
        </p:nvSpPr>
        <p:spPr>
          <a:xfrm>
            <a:off x="2359152" y="3063240"/>
            <a:ext cx="1499616"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Trace Statistic</a:t>
            </a:r>
            <a:endParaRPr sz="1200" b="0" i="0" u="none" strike="noStrike" cap="none">
              <a:solidFill>
                <a:schemeClr val="dk1"/>
              </a:solidFill>
              <a:latin typeface="Calibri"/>
              <a:ea typeface="Calibri"/>
              <a:cs typeface="Calibri"/>
              <a:sym typeface="Calibri"/>
            </a:endParaRPr>
          </a:p>
        </p:txBody>
      </p:sp>
      <p:sp>
        <p:nvSpPr>
          <p:cNvPr id="225" name="Google Shape;225;p11"/>
          <p:cNvSpPr txBox="1"/>
          <p:nvPr/>
        </p:nvSpPr>
        <p:spPr>
          <a:xfrm>
            <a:off x="4005072" y="3063240"/>
            <a:ext cx="1499616"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5% Critical Value</a:t>
            </a:r>
            <a:endParaRPr sz="1200" b="0" i="0" u="none" strike="noStrike" cap="none">
              <a:solidFill>
                <a:schemeClr val="dk1"/>
              </a:solidFill>
              <a:latin typeface="Calibri"/>
              <a:ea typeface="Calibri"/>
              <a:cs typeface="Calibri"/>
              <a:sym typeface="Calibri"/>
            </a:endParaRPr>
          </a:p>
        </p:txBody>
      </p:sp>
      <p:sp>
        <p:nvSpPr>
          <p:cNvPr id="226" name="Google Shape;226;p11"/>
          <p:cNvSpPr txBox="1"/>
          <p:nvPr/>
        </p:nvSpPr>
        <p:spPr>
          <a:xfrm>
            <a:off x="5650992" y="3063240"/>
            <a:ext cx="1225296"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Decision</a:t>
            </a:r>
            <a:endParaRPr sz="1200" b="0" i="0" u="none" strike="noStrike" cap="none">
              <a:solidFill>
                <a:schemeClr val="dk1"/>
              </a:solidFill>
              <a:latin typeface="Calibri"/>
              <a:ea typeface="Calibri"/>
              <a:cs typeface="Calibri"/>
              <a:sym typeface="Calibri"/>
            </a:endParaRPr>
          </a:p>
        </p:txBody>
      </p:sp>
      <p:sp>
        <p:nvSpPr>
          <p:cNvPr id="227" name="Google Shape;227;p11"/>
          <p:cNvSpPr/>
          <p:nvPr/>
        </p:nvSpPr>
        <p:spPr>
          <a:xfrm>
            <a:off x="7269480" y="1508760"/>
            <a:ext cx="4389120" cy="4846320"/>
          </a:xfrm>
          <a:prstGeom prst="roundRect">
            <a:avLst>
              <a:gd name="adj" fmla="val 2083"/>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1"/>
          <p:cNvSpPr txBox="1"/>
          <p:nvPr/>
        </p:nvSpPr>
        <p:spPr>
          <a:xfrm>
            <a:off x="7543800" y="1828800"/>
            <a:ext cx="3840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EC2D6"/>
              </a:buClr>
              <a:buSzPts val="1200"/>
              <a:buFont typeface="Calibri"/>
              <a:buNone/>
            </a:pPr>
            <a:r>
              <a:rPr lang="en-US" sz="1200" b="1" i="0" u="none" strike="noStrike" cap="none">
                <a:solidFill>
                  <a:srgbClr val="AEC2D6"/>
                </a:solidFill>
                <a:latin typeface="Calibri"/>
                <a:ea typeface="Calibri"/>
                <a:cs typeface="Calibri"/>
                <a:sym typeface="Calibri"/>
              </a:rPr>
              <a:t>COINTEGRATING RANK</a:t>
            </a:r>
            <a:endParaRPr sz="1200" b="0" i="0" u="none" strike="noStrike" cap="none">
              <a:solidFill>
                <a:schemeClr val="dk1"/>
              </a:solidFill>
              <a:latin typeface="Calibri"/>
              <a:ea typeface="Calibri"/>
              <a:cs typeface="Calibri"/>
              <a:sym typeface="Calibri"/>
            </a:endParaRPr>
          </a:p>
        </p:txBody>
      </p:sp>
      <p:sp>
        <p:nvSpPr>
          <p:cNvPr id="229" name="Google Shape;229;p11"/>
          <p:cNvSpPr txBox="1"/>
          <p:nvPr/>
        </p:nvSpPr>
        <p:spPr>
          <a:xfrm>
            <a:off x="7543800" y="2103120"/>
            <a:ext cx="3840480" cy="11887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4AF37"/>
              </a:buClr>
              <a:buSzPts val="6400"/>
              <a:buFont typeface="Cambria"/>
              <a:buNone/>
            </a:pPr>
            <a:r>
              <a:rPr lang="en-US" sz="6400" b="1" i="0" u="none" strike="noStrike" cap="none">
                <a:solidFill>
                  <a:srgbClr val="D4AF37"/>
                </a:solidFill>
                <a:latin typeface="Cambria"/>
                <a:ea typeface="Cambria"/>
                <a:cs typeface="Cambria"/>
                <a:sym typeface="Cambria"/>
              </a:rPr>
              <a:t>r = 3</a:t>
            </a:r>
            <a:endParaRPr sz="6400" b="0" i="0" u="none" strike="noStrike" cap="none">
              <a:solidFill>
                <a:schemeClr val="dk1"/>
              </a:solidFill>
              <a:latin typeface="Calibri"/>
              <a:ea typeface="Calibri"/>
              <a:cs typeface="Calibri"/>
              <a:sym typeface="Calibri"/>
            </a:endParaRPr>
          </a:p>
        </p:txBody>
      </p:sp>
      <p:sp>
        <p:nvSpPr>
          <p:cNvPr id="230" name="Google Shape;230;p11"/>
          <p:cNvSpPr txBox="1"/>
          <p:nvPr/>
        </p:nvSpPr>
        <p:spPr>
          <a:xfrm>
            <a:off x="7543800" y="3337560"/>
            <a:ext cx="3840480" cy="1371600"/>
          </a:xfrm>
          <a:prstGeom prst="rect">
            <a:avLst/>
          </a:prstGeom>
          <a:noFill/>
          <a:ln>
            <a:noFill/>
          </a:ln>
        </p:spPr>
        <p:txBody>
          <a:bodyPr spcFirstLastPara="1" wrap="square" lIns="91425" tIns="45700" rIns="91425" bIns="45700" anchor="ctr" anchorCtr="0">
            <a:noAutofit/>
          </a:bodyPr>
          <a:lstStyle/>
          <a:p>
            <a:pPr marL="0" marR="0" lvl="0" indent="0" algn="l" rtl="0">
              <a:lnSpc>
                <a:spcPct val="133333"/>
              </a:lnSpc>
              <a:spcBef>
                <a:spcPts val="0"/>
              </a:spcBef>
              <a:spcAft>
                <a:spcPts val="0"/>
              </a:spcAft>
              <a:buClr>
                <a:srgbClr val="FFFFFF"/>
              </a:buClr>
              <a:buSzPts val="1350"/>
              <a:buFont typeface="Calibri"/>
              <a:buNone/>
            </a:pPr>
            <a:r>
              <a:rPr lang="en-US" sz="1350" b="0" i="0" u="none" strike="noStrike" cap="none">
                <a:solidFill>
                  <a:srgbClr val="FFFFFF"/>
                </a:solidFill>
                <a:latin typeface="Calibri"/>
                <a:ea typeface="Calibri"/>
                <a:cs typeface="Calibri"/>
                <a:sym typeface="Calibri"/>
              </a:rPr>
              <a:t>Three independent long-run equilibrium relationships bind reserves, the exchange rate, the lending rate, remittances, and FDI together.</a:t>
            </a:r>
            <a:endParaRPr sz="1350" b="0" i="0" u="none" strike="noStrike" cap="none">
              <a:solidFill>
                <a:schemeClr val="dk1"/>
              </a:solidFill>
              <a:latin typeface="Calibri"/>
              <a:ea typeface="Calibri"/>
              <a:cs typeface="Calibri"/>
              <a:sym typeface="Calibri"/>
            </a:endParaRPr>
          </a:p>
        </p:txBody>
      </p:sp>
      <p:sp>
        <p:nvSpPr>
          <p:cNvPr id="231" name="Google Shape;231;p11"/>
          <p:cNvSpPr txBox="1"/>
          <p:nvPr/>
        </p:nvSpPr>
        <p:spPr>
          <a:xfrm>
            <a:off x="7543800" y="4892040"/>
            <a:ext cx="3840480" cy="1280160"/>
          </a:xfrm>
          <a:prstGeom prst="rect">
            <a:avLst/>
          </a:prstGeom>
          <a:noFill/>
          <a:ln>
            <a:noFill/>
          </a:ln>
        </p:spPr>
        <p:txBody>
          <a:bodyPr spcFirstLastPara="1" wrap="square" lIns="91425" tIns="45700" rIns="91425" bIns="45700" anchor="ctr" anchorCtr="0">
            <a:noAutofit/>
          </a:bodyPr>
          <a:lstStyle/>
          <a:p>
            <a:pPr marL="0" marR="0" lvl="0" indent="0" algn="l" rtl="0">
              <a:lnSpc>
                <a:spcPct val="136000"/>
              </a:lnSpc>
              <a:spcBef>
                <a:spcPts val="0"/>
              </a:spcBef>
              <a:spcAft>
                <a:spcPts val="0"/>
              </a:spcAft>
              <a:buClr>
                <a:srgbClr val="CFE0EF"/>
              </a:buClr>
              <a:buSzPts val="1250"/>
              <a:buFont typeface="Calibri"/>
              <a:buNone/>
            </a:pPr>
            <a:r>
              <a:rPr lang="en-US" sz="1250" b="0" i="1" u="none" strike="noStrike" cap="none">
                <a:solidFill>
                  <a:srgbClr val="CFE0EF"/>
                </a:solidFill>
                <a:latin typeface="Calibri"/>
                <a:ea typeface="Calibri"/>
                <a:cs typeface="Calibri"/>
                <a:sym typeface="Calibri"/>
              </a:rPr>
              <a:t>This justifies a Vector Error Correction Model (VECM) rather than a VAR in differences — the system has genuine long-run "anchors" worth modelling explicitly.</a:t>
            </a:r>
            <a:endParaRPr sz="1250" b="0" i="0" u="none" strike="noStrike" cap="none">
              <a:solidFill>
                <a:schemeClr val="dk1"/>
              </a:solidFill>
              <a:latin typeface="Calibri"/>
              <a:ea typeface="Calibri"/>
              <a:cs typeface="Calibri"/>
              <a:sym typeface="Calibri"/>
            </a:endParaRPr>
          </a:p>
        </p:txBody>
      </p:sp>
      <p:sp>
        <p:nvSpPr>
          <p:cNvPr id="233" name="Google Shape;233;p11"/>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9</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12"/>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STAGE 3 · THE VECM SYSTEM</a:t>
            </a:r>
            <a:endParaRPr sz="1200" b="0" i="0" u="none" strike="noStrike" cap="none">
              <a:solidFill>
                <a:schemeClr val="dk1"/>
              </a:solidFill>
              <a:latin typeface="Calibri"/>
              <a:ea typeface="Calibri"/>
              <a:cs typeface="Calibri"/>
              <a:sym typeface="Calibri"/>
            </a:endParaRPr>
          </a:p>
        </p:txBody>
      </p:sp>
      <p:sp>
        <p:nvSpPr>
          <p:cNvPr id="240" name="Google Shape;240;p12"/>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How Fast Do Reserves Return to Equilibrium?</a:t>
            </a:r>
            <a:endParaRPr sz="3000" b="0" i="0" u="none" strike="noStrike" cap="none">
              <a:solidFill>
                <a:schemeClr val="dk1"/>
              </a:solidFill>
              <a:latin typeface="Calibri"/>
              <a:ea typeface="Calibri"/>
              <a:cs typeface="Calibri"/>
              <a:sym typeface="Calibri"/>
            </a:endParaRPr>
          </a:p>
        </p:txBody>
      </p:sp>
      <p:sp>
        <p:nvSpPr>
          <p:cNvPr id="241" name="Google Shape;241;p12"/>
          <p:cNvSpPr txBox="1"/>
          <p:nvPr/>
        </p:nvSpPr>
        <p:spPr>
          <a:xfrm>
            <a:off x="548640" y="1508760"/>
            <a:ext cx="11064240" cy="777240"/>
          </a:xfrm>
          <a:prstGeom prst="rect">
            <a:avLst/>
          </a:prstGeom>
          <a:noFill/>
          <a:ln>
            <a:noFill/>
          </a:ln>
        </p:spPr>
        <p:txBody>
          <a:bodyPr spcFirstLastPara="1" wrap="square" lIns="91425" tIns="45700" rIns="91425" bIns="45700" anchor="ctr" anchorCtr="0">
            <a:noAutofit/>
          </a:bodyPr>
          <a:lstStyle/>
          <a:p>
            <a:pPr marL="0" marR="0" lvl="0" indent="0" algn="l" rtl="0">
              <a:lnSpc>
                <a:spcPct val="125925"/>
              </a:lnSpc>
              <a:spcBef>
                <a:spcPts val="0"/>
              </a:spcBef>
              <a:spcAft>
                <a:spcPts val="0"/>
              </a:spcAft>
              <a:buClr>
                <a:srgbClr val="5B6472"/>
              </a:buClr>
              <a:buSzPts val="1350"/>
              <a:buFont typeface="Calibri"/>
              <a:buNone/>
            </a:pPr>
            <a:r>
              <a:rPr lang="en-US" sz="1350" b="0" i="0" u="none" strike="noStrike" cap="none">
                <a:solidFill>
                  <a:srgbClr val="5B6472"/>
                </a:solidFill>
                <a:latin typeface="Calibri"/>
                <a:ea typeface="Calibri"/>
                <a:cs typeface="Calibri"/>
                <a:sym typeface="Calibri"/>
              </a:rPr>
              <a:t>The VECM decomposes each variable's change into (i) a pull back toward the long-run relationships (the error-correction terms) and (ii) short-run feedback from the system's own recent past. For reserves, all three error-correction terms are statistically significant:</a:t>
            </a:r>
            <a:endParaRPr sz="1350" b="0" i="0" u="none" strike="noStrike" cap="none">
              <a:solidFill>
                <a:schemeClr val="dk1"/>
              </a:solidFill>
              <a:latin typeface="Calibri"/>
              <a:ea typeface="Calibri"/>
              <a:cs typeface="Calibri"/>
              <a:sym typeface="Calibri"/>
            </a:endParaRPr>
          </a:p>
        </p:txBody>
      </p:sp>
      <p:sp>
        <p:nvSpPr>
          <p:cNvPr id="242" name="Google Shape;242;p12"/>
          <p:cNvSpPr/>
          <p:nvPr/>
        </p:nvSpPr>
        <p:spPr>
          <a:xfrm>
            <a:off x="548640" y="2468880"/>
            <a:ext cx="3566160" cy="3246120"/>
          </a:xfrm>
          <a:prstGeom prst="roundRect">
            <a:avLst>
              <a:gd name="adj" fmla="val 2254"/>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2"/>
          <p:cNvSpPr txBox="1"/>
          <p:nvPr/>
        </p:nvSpPr>
        <p:spPr>
          <a:xfrm>
            <a:off x="777240" y="2651760"/>
            <a:ext cx="3108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500"/>
              <a:buFont typeface="Calibri"/>
              <a:buNone/>
            </a:pPr>
            <a:r>
              <a:rPr lang="en-US" sz="1500" b="1" i="0" u="none" strike="noStrike" cap="none">
                <a:solidFill>
                  <a:srgbClr val="1F6F5C"/>
                </a:solidFill>
                <a:latin typeface="Calibri"/>
                <a:ea typeface="Calibri"/>
                <a:cs typeface="Calibri"/>
                <a:sym typeface="Calibri"/>
              </a:rPr>
              <a:t>ec1</a:t>
            </a:r>
            <a:endParaRPr sz="1500" b="0" i="0" u="none" strike="noStrike" cap="none">
              <a:solidFill>
                <a:schemeClr val="dk1"/>
              </a:solidFill>
              <a:latin typeface="Calibri"/>
              <a:ea typeface="Calibri"/>
              <a:cs typeface="Calibri"/>
              <a:sym typeface="Calibri"/>
            </a:endParaRPr>
          </a:p>
        </p:txBody>
      </p:sp>
      <p:sp>
        <p:nvSpPr>
          <p:cNvPr id="244" name="Google Shape;244;p12"/>
          <p:cNvSpPr txBox="1"/>
          <p:nvPr/>
        </p:nvSpPr>
        <p:spPr>
          <a:xfrm>
            <a:off x="777240" y="3017520"/>
            <a:ext cx="310896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800"/>
              <a:buFont typeface="Cambria"/>
              <a:buNone/>
            </a:pPr>
            <a:r>
              <a:rPr lang="en-US" sz="3800" b="1" i="0" u="none" strike="noStrike" cap="none">
                <a:solidFill>
                  <a:srgbClr val="10243E"/>
                </a:solidFill>
                <a:latin typeface="Cambria"/>
                <a:ea typeface="Cambria"/>
                <a:cs typeface="Cambria"/>
                <a:sym typeface="Cambria"/>
              </a:rPr>
              <a:t>-0.963</a:t>
            </a:r>
            <a:endParaRPr sz="3800" b="0" i="0" u="none" strike="noStrike" cap="none">
              <a:solidFill>
                <a:schemeClr val="dk1"/>
              </a:solidFill>
              <a:latin typeface="Calibri"/>
              <a:ea typeface="Calibri"/>
              <a:cs typeface="Calibri"/>
              <a:sym typeface="Calibri"/>
            </a:endParaRPr>
          </a:p>
        </p:txBody>
      </p:sp>
      <p:sp>
        <p:nvSpPr>
          <p:cNvPr id="245" name="Google Shape;245;p12"/>
          <p:cNvSpPr txBox="1"/>
          <p:nvPr/>
        </p:nvSpPr>
        <p:spPr>
          <a:xfrm>
            <a:off x="777240" y="3794760"/>
            <a:ext cx="310896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00"/>
              <a:buFont typeface="Calibri"/>
              <a:buNone/>
            </a:pPr>
            <a:r>
              <a:rPr lang="en-US" sz="1100" b="0" i="0" u="none" strike="noStrike" cap="none">
                <a:solidFill>
                  <a:srgbClr val="5B6472"/>
                </a:solidFill>
                <a:latin typeface="Calibri"/>
                <a:ea typeface="Calibri"/>
                <a:cs typeface="Calibri"/>
                <a:sym typeface="Calibri"/>
              </a:rPr>
              <a:t>coefficient  ·  p &lt; 0.001</a:t>
            </a:r>
            <a:endParaRPr sz="1100" b="0" i="0" u="none" strike="noStrike" cap="none">
              <a:solidFill>
                <a:schemeClr val="dk1"/>
              </a:solidFill>
              <a:latin typeface="Calibri"/>
              <a:ea typeface="Calibri"/>
              <a:cs typeface="Calibri"/>
              <a:sym typeface="Calibri"/>
            </a:endParaRPr>
          </a:p>
        </p:txBody>
      </p:sp>
      <p:sp>
        <p:nvSpPr>
          <p:cNvPr id="246" name="Google Shape;246;p12"/>
          <p:cNvSpPr txBox="1"/>
          <p:nvPr/>
        </p:nvSpPr>
        <p:spPr>
          <a:xfrm>
            <a:off x="777240" y="4206240"/>
            <a:ext cx="3108960" cy="1417320"/>
          </a:xfrm>
          <a:prstGeom prst="rect">
            <a:avLst/>
          </a:prstGeom>
          <a:noFill/>
          <a:ln>
            <a:noFill/>
          </a:ln>
        </p:spPr>
        <p:txBody>
          <a:bodyPr spcFirstLastPara="1" wrap="square" lIns="91425" tIns="45700" rIns="91425" bIns="45700" anchor="ctr" anchorCtr="0">
            <a:noAutofit/>
          </a:bodyPr>
          <a:lstStyle/>
          <a:p>
            <a:pPr marL="0" marR="0" lvl="0" indent="0" algn="l" rtl="0">
              <a:lnSpc>
                <a:spcPct val="125000"/>
              </a:lnSpc>
              <a:spcBef>
                <a:spcPts val="0"/>
              </a:spcBef>
              <a:spcAft>
                <a:spcPts val="0"/>
              </a:spcAft>
              <a:buClr>
                <a:srgbClr val="1A1A1A"/>
              </a:buClr>
              <a:buSzPts val="1200"/>
              <a:buFont typeface="Calibri"/>
              <a:buNone/>
            </a:pPr>
            <a:r>
              <a:rPr lang="en-US" sz="1200" b="0" i="0" u="none" strike="noStrike" cap="none">
                <a:solidFill>
                  <a:srgbClr val="1A1A1A"/>
                </a:solidFill>
                <a:latin typeface="Calibri"/>
                <a:ea typeface="Calibri"/>
                <a:cs typeface="Calibri"/>
                <a:sym typeface="Calibri"/>
              </a:rPr>
              <a:t>Reserves close roughly 96% of a deviation from this long-run relation within a single year — a very fast adjustment.</a:t>
            </a:r>
            <a:endParaRPr sz="1200" b="0" i="0" u="none" strike="noStrike" cap="none">
              <a:solidFill>
                <a:schemeClr val="dk1"/>
              </a:solidFill>
              <a:latin typeface="Calibri"/>
              <a:ea typeface="Calibri"/>
              <a:cs typeface="Calibri"/>
              <a:sym typeface="Calibri"/>
            </a:endParaRPr>
          </a:p>
        </p:txBody>
      </p:sp>
      <p:sp>
        <p:nvSpPr>
          <p:cNvPr id="247" name="Google Shape;247;p12"/>
          <p:cNvSpPr/>
          <p:nvPr/>
        </p:nvSpPr>
        <p:spPr>
          <a:xfrm>
            <a:off x="4297680" y="2468880"/>
            <a:ext cx="3566160" cy="3246120"/>
          </a:xfrm>
          <a:prstGeom prst="roundRect">
            <a:avLst>
              <a:gd name="adj" fmla="val 2254"/>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2"/>
          <p:cNvSpPr txBox="1"/>
          <p:nvPr/>
        </p:nvSpPr>
        <p:spPr>
          <a:xfrm>
            <a:off x="4526280" y="2651760"/>
            <a:ext cx="3108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500"/>
              <a:buFont typeface="Calibri"/>
              <a:buNone/>
            </a:pPr>
            <a:r>
              <a:rPr lang="en-US" sz="1500" b="1" i="0" u="none" strike="noStrike" cap="none">
                <a:solidFill>
                  <a:srgbClr val="1F6F5C"/>
                </a:solidFill>
                <a:latin typeface="Calibri"/>
                <a:ea typeface="Calibri"/>
                <a:cs typeface="Calibri"/>
                <a:sym typeface="Calibri"/>
              </a:rPr>
              <a:t>ec2</a:t>
            </a:r>
            <a:endParaRPr sz="1500" b="0" i="0" u="none" strike="noStrike" cap="none">
              <a:solidFill>
                <a:schemeClr val="dk1"/>
              </a:solidFill>
              <a:latin typeface="Calibri"/>
              <a:ea typeface="Calibri"/>
              <a:cs typeface="Calibri"/>
              <a:sym typeface="Calibri"/>
            </a:endParaRPr>
          </a:p>
        </p:txBody>
      </p:sp>
      <p:sp>
        <p:nvSpPr>
          <p:cNvPr id="249" name="Google Shape;249;p12"/>
          <p:cNvSpPr txBox="1"/>
          <p:nvPr/>
        </p:nvSpPr>
        <p:spPr>
          <a:xfrm>
            <a:off x="4526280" y="3017520"/>
            <a:ext cx="310896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800"/>
              <a:buFont typeface="Cambria"/>
              <a:buNone/>
            </a:pPr>
            <a:r>
              <a:rPr lang="en-US" sz="3800" b="1" i="0" u="none" strike="noStrike" cap="none">
                <a:solidFill>
                  <a:srgbClr val="10243E"/>
                </a:solidFill>
                <a:latin typeface="Cambria"/>
                <a:ea typeface="Cambria"/>
                <a:cs typeface="Cambria"/>
                <a:sym typeface="Cambria"/>
              </a:rPr>
              <a:t>0.062</a:t>
            </a:r>
            <a:endParaRPr sz="3800" b="0" i="0" u="none" strike="noStrike" cap="none">
              <a:solidFill>
                <a:schemeClr val="dk1"/>
              </a:solidFill>
              <a:latin typeface="Calibri"/>
              <a:ea typeface="Calibri"/>
              <a:cs typeface="Calibri"/>
              <a:sym typeface="Calibri"/>
            </a:endParaRPr>
          </a:p>
        </p:txBody>
      </p:sp>
      <p:sp>
        <p:nvSpPr>
          <p:cNvPr id="250" name="Google Shape;250;p12"/>
          <p:cNvSpPr txBox="1"/>
          <p:nvPr/>
        </p:nvSpPr>
        <p:spPr>
          <a:xfrm>
            <a:off x="4526280" y="3794760"/>
            <a:ext cx="310896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00"/>
              <a:buFont typeface="Calibri"/>
              <a:buNone/>
            </a:pPr>
            <a:r>
              <a:rPr lang="en-US" sz="1100" b="0" i="0" u="none" strike="noStrike" cap="none">
                <a:solidFill>
                  <a:srgbClr val="5B6472"/>
                </a:solidFill>
                <a:latin typeface="Calibri"/>
                <a:ea typeface="Calibri"/>
                <a:cs typeface="Calibri"/>
                <a:sym typeface="Calibri"/>
              </a:rPr>
              <a:t>coefficient  ·  p &lt; 0.001</a:t>
            </a:r>
            <a:endParaRPr sz="1100" b="0" i="0" u="none" strike="noStrike" cap="none">
              <a:solidFill>
                <a:schemeClr val="dk1"/>
              </a:solidFill>
              <a:latin typeface="Calibri"/>
              <a:ea typeface="Calibri"/>
              <a:cs typeface="Calibri"/>
              <a:sym typeface="Calibri"/>
            </a:endParaRPr>
          </a:p>
        </p:txBody>
      </p:sp>
      <p:sp>
        <p:nvSpPr>
          <p:cNvPr id="251" name="Google Shape;251;p12"/>
          <p:cNvSpPr txBox="1"/>
          <p:nvPr/>
        </p:nvSpPr>
        <p:spPr>
          <a:xfrm>
            <a:off x="4526280" y="4206240"/>
            <a:ext cx="3108960" cy="1417320"/>
          </a:xfrm>
          <a:prstGeom prst="rect">
            <a:avLst/>
          </a:prstGeom>
          <a:noFill/>
          <a:ln>
            <a:noFill/>
          </a:ln>
        </p:spPr>
        <p:txBody>
          <a:bodyPr spcFirstLastPara="1" wrap="square" lIns="91425" tIns="45700" rIns="91425" bIns="45700" anchor="ctr" anchorCtr="0">
            <a:noAutofit/>
          </a:bodyPr>
          <a:lstStyle/>
          <a:p>
            <a:pPr marL="0" marR="0" lvl="0" indent="0" algn="l" rtl="0">
              <a:lnSpc>
                <a:spcPct val="125000"/>
              </a:lnSpc>
              <a:spcBef>
                <a:spcPts val="0"/>
              </a:spcBef>
              <a:spcAft>
                <a:spcPts val="0"/>
              </a:spcAft>
              <a:buClr>
                <a:srgbClr val="1A1A1A"/>
              </a:buClr>
              <a:buSzPts val="1200"/>
              <a:buFont typeface="Calibri"/>
              <a:buNone/>
            </a:pPr>
            <a:r>
              <a:rPr lang="en-US" sz="1200" b="0" i="0" u="none" strike="noStrike" cap="none">
                <a:solidFill>
                  <a:srgbClr val="1A1A1A"/>
                </a:solidFill>
                <a:latin typeface="Calibri"/>
                <a:ea typeface="Calibri"/>
                <a:cs typeface="Calibri"/>
                <a:sym typeface="Calibri"/>
              </a:rPr>
              <a:t>A smaller, opposing correction from a second long-run relation.</a:t>
            </a:r>
            <a:endParaRPr sz="1200" b="0" i="0" u="none" strike="noStrike" cap="none">
              <a:solidFill>
                <a:schemeClr val="dk1"/>
              </a:solidFill>
              <a:latin typeface="Calibri"/>
              <a:ea typeface="Calibri"/>
              <a:cs typeface="Calibri"/>
              <a:sym typeface="Calibri"/>
            </a:endParaRPr>
          </a:p>
        </p:txBody>
      </p:sp>
      <p:sp>
        <p:nvSpPr>
          <p:cNvPr id="252" name="Google Shape;252;p12"/>
          <p:cNvSpPr/>
          <p:nvPr/>
        </p:nvSpPr>
        <p:spPr>
          <a:xfrm>
            <a:off x="8046720" y="2468880"/>
            <a:ext cx="3566160" cy="3246120"/>
          </a:xfrm>
          <a:prstGeom prst="roundRect">
            <a:avLst>
              <a:gd name="adj" fmla="val 2254"/>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2"/>
          <p:cNvSpPr txBox="1"/>
          <p:nvPr/>
        </p:nvSpPr>
        <p:spPr>
          <a:xfrm>
            <a:off x="8275320" y="2651760"/>
            <a:ext cx="310896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500"/>
              <a:buFont typeface="Calibri"/>
              <a:buNone/>
            </a:pPr>
            <a:r>
              <a:rPr lang="en-US" sz="1500" b="1" i="0" u="none" strike="noStrike" cap="none">
                <a:solidFill>
                  <a:srgbClr val="1F6F5C"/>
                </a:solidFill>
                <a:latin typeface="Calibri"/>
                <a:ea typeface="Calibri"/>
                <a:cs typeface="Calibri"/>
                <a:sym typeface="Calibri"/>
              </a:rPr>
              <a:t>ec3</a:t>
            </a:r>
            <a:endParaRPr sz="1500" b="0" i="0" u="none" strike="noStrike" cap="none">
              <a:solidFill>
                <a:schemeClr val="dk1"/>
              </a:solidFill>
              <a:latin typeface="Calibri"/>
              <a:ea typeface="Calibri"/>
              <a:cs typeface="Calibri"/>
              <a:sym typeface="Calibri"/>
            </a:endParaRPr>
          </a:p>
        </p:txBody>
      </p:sp>
      <p:sp>
        <p:nvSpPr>
          <p:cNvPr id="254" name="Google Shape;254;p12"/>
          <p:cNvSpPr txBox="1"/>
          <p:nvPr/>
        </p:nvSpPr>
        <p:spPr>
          <a:xfrm>
            <a:off x="8275320" y="3017520"/>
            <a:ext cx="310896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800"/>
              <a:buFont typeface="Cambria"/>
              <a:buNone/>
            </a:pPr>
            <a:r>
              <a:rPr lang="en-US" sz="3800" b="1" i="0" u="none" strike="noStrike" cap="none">
                <a:solidFill>
                  <a:srgbClr val="10243E"/>
                </a:solidFill>
                <a:latin typeface="Cambria"/>
                <a:ea typeface="Cambria"/>
                <a:cs typeface="Cambria"/>
                <a:sym typeface="Cambria"/>
              </a:rPr>
              <a:t>2.624</a:t>
            </a:r>
            <a:endParaRPr sz="3800" b="0" i="0" u="none" strike="noStrike" cap="none">
              <a:solidFill>
                <a:schemeClr val="dk1"/>
              </a:solidFill>
              <a:latin typeface="Calibri"/>
              <a:ea typeface="Calibri"/>
              <a:cs typeface="Calibri"/>
              <a:sym typeface="Calibri"/>
            </a:endParaRPr>
          </a:p>
        </p:txBody>
      </p:sp>
      <p:sp>
        <p:nvSpPr>
          <p:cNvPr id="255" name="Google Shape;255;p12"/>
          <p:cNvSpPr txBox="1"/>
          <p:nvPr/>
        </p:nvSpPr>
        <p:spPr>
          <a:xfrm>
            <a:off x="8275320" y="3794760"/>
            <a:ext cx="310896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00"/>
              <a:buFont typeface="Calibri"/>
              <a:buNone/>
            </a:pPr>
            <a:r>
              <a:rPr lang="en-US" sz="1100" b="0" i="0" u="none" strike="noStrike" cap="none">
                <a:solidFill>
                  <a:srgbClr val="5B6472"/>
                </a:solidFill>
                <a:latin typeface="Calibri"/>
                <a:ea typeface="Calibri"/>
                <a:cs typeface="Calibri"/>
                <a:sym typeface="Calibri"/>
              </a:rPr>
              <a:t>coefficient  ·  p &lt; 0.001</a:t>
            </a:r>
            <a:endParaRPr sz="1100" b="0" i="0" u="none" strike="noStrike" cap="none">
              <a:solidFill>
                <a:schemeClr val="dk1"/>
              </a:solidFill>
              <a:latin typeface="Calibri"/>
              <a:ea typeface="Calibri"/>
              <a:cs typeface="Calibri"/>
              <a:sym typeface="Calibri"/>
            </a:endParaRPr>
          </a:p>
        </p:txBody>
      </p:sp>
      <p:sp>
        <p:nvSpPr>
          <p:cNvPr id="256" name="Google Shape;256;p12"/>
          <p:cNvSpPr txBox="1"/>
          <p:nvPr/>
        </p:nvSpPr>
        <p:spPr>
          <a:xfrm>
            <a:off x="8275320" y="4206240"/>
            <a:ext cx="3108960" cy="1417320"/>
          </a:xfrm>
          <a:prstGeom prst="rect">
            <a:avLst/>
          </a:prstGeom>
          <a:noFill/>
          <a:ln>
            <a:noFill/>
          </a:ln>
        </p:spPr>
        <p:txBody>
          <a:bodyPr spcFirstLastPara="1" wrap="square" lIns="91425" tIns="45700" rIns="91425" bIns="45700" anchor="ctr" anchorCtr="0">
            <a:noAutofit/>
          </a:bodyPr>
          <a:lstStyle/>
          <a:p>
            <a:pPr marL="0" marR="0" lvl="0" indent="0" algn="l" rtl="0">
              <a:lnSpc>
                <a:spcPct val="125000"/>
              </a:lnSpc>
              <a:spcBef>
                <a:spcPts val="0"/>
              </a:spcBef>
              <a:spcAft>
                <a:spcPts val="0"/>
              </a:spcAft>
              <a:buClr>
                <a:srgbClr val="1A1A1A"/>
              </a:buClr>
              <a:buSzPts val="1200"/>
              <a:buFont typeface="Calibri"/>
              <a:buNone/>
            </a:pPr>
            <a:r>
              <a:rPr lang="en-US" sz="1200" b="0" i="0" u="none" strike="noStrike" cap="none">
                <a:solidFill>
                  <a:srgbClr val="1A1A1A"/>
                </a:solidFill>
                <a:latin typeface="Calibri"/>
                <a:ea typeface="Calibri"/>
                <a:cs typeface="Calibri"/>
                <a:sym typeface="Calibri"/>
              </a:rPr>
              <a:t>A third relation with a large, significant loading — reserves respond strongly to this equilibrium as well.</a:t>
            </a:r>
            <a:endParaRPr sz="1200" b="0" i="0" u="none" strike="noStrike" cap="none">
              <a:solidFill>
                <a:schemeClr val="dk1"/>
              </a:solidFill>
              <a:latin typeface="Calibri"/>
              <a:ea typeface="Calibri"/>
              <a:cs typeface="Calibri"/>
              <a:sym typeface="Calibri"/>
            </a:endParaRPr>
          </a:p>
        </p:txBody>
      </p:sp>
      <p:sp>
        <p:nvSpPr>
          <p:cNvPr id="257" name="Google Shape;257;p12"/>
          <p:cNvSpPr txBox="1"/>
          <p:nvPr/>
        </p:nvSpPr>
        <p:spPr>
          <a:xfrm>
            <a:off x="548640" y="5897880"/>
            <a:ext cx="1106424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150"/>
              <a:buFont typeface="Calibri"/>
              <a:buNone/>
            </a:pPr>
            <a:r>
              <a:rPr lang="en-US" sz="1150" b="0" i="1" u="none" strike="noStrike" cap="none">
                <a:solidFill>
                  <a:srgbClr val="5B6472"/>
                </a:solidFill>
                <a:latin typeface="Calibri"/>
                <a:ea typeface="Calibri"/>
                <a:cs typeface="Calibri"/>
                <a:sym typeface="Calibri"/>
              </a:rPr>
              <a:t>System diagnostic: a Jarque–Bera normality test on the VECM residuals returns a system p-value of 0.95 — no evidence against normally distributed errors, supporting the model's specification.</a:t>
            </a:r>
            <a:endParaRPr sz="1150" b="0" i="0" u="none" strike="noStrike" cap="none">
              <a:solidFill>
                <a:schemeClr val="dk1"/>
              </a:solidFill>
              <a:latin typeface="Calibri"/>
              <a:ea typeface="Calibri"/>
              <a:cs typeface="Calibri"/>
              <a:sym typeface="Calibri"/>
            </a:endParaRPr>
          </a:p>
        </p:txBody>
      </p:sp>
      <p:sp>
        <p:nvSpPr>
          <p:cNvPr id="259" name="Google Shape;259;p12"/>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10</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3"/>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STAGE 3 · THE VECM SYSTEM</a:t>
            </a:r>
            <a:endParaRPr sz="1200" b="0" i="0" u="none" strike="noStrike" cap="none">
              <a:solidFill>
                <a:schemeClr val="dk1"/>
              </a:solidFill>
              <a:latin typeface="Calibri"/>
              <a:ea typeface="Calibri"/>
              <a:cs typeface="Calibri"/>
              <a:sym typeface="Calibri"/>
            </a:endParaRPr>
          </a:p>
        </p:txBody>
      </p:sp>
      <p:sp>
        <p:nvSpPr>
          <p:cNvPr id="266" name="Google Shape;266;p13"/>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Short-Run Drivers in the Reserves Equation</a:t>
            </a:r>
            <a:endParaRPr sz="3000" b="0" i="0" u="none" strike="noStrike" cap="none">
              <a:solidFill>
                <a:schemeClr val="dk1"/>
              </a:solidFill>
              <a:latin typeface="Calibri"/>
              <a:ea typeface="Calibri"/>
              <a:cs typeface="Calibri"/>
              <a:sym typeface="Calibri"/>
            </a:endParaRPr>
          </a:p>
        </p:txBody>
      </p:sp>
      <p:graphicFrame>
        <p:nvGraphicFramePr>
          <p:cNvPr id="267" name="Google Shape;267;p13"/>
          <p:cNvGraphicFramePr/>
          <p:nvPr/>
        </p:nvGraphicFramePr>
        <p:xfrm>
          <a:off x="548640" y="1554480"/>
          <a:ext cx="11064225" cy="3291900"/>
        </p:xfrm>
        <a:graphic>
          <a:graphicData uri="http://schemas.openxmlformats.org/drawingml/2006/table">
            <a:tbl>
              <a:tblPr>
                <a:noFill/>
              </a:tblPr>
              <a:tblGrid>
                <a:gridCol w="2377450">
                  <a:extLst>
                    <a:ext uri="{9D8B030D-6E8A-4147-A177-3AD203B41FA5}">
                      <a16:colId xmlns:a16="http://schemas.microsoft.com/office/drawing/2014/main" val="20000"/>
                    </a:ext>
                  </a:extLst>
                </a:gridCol>
                <a:gridCol w="1554475">
                  <a:extLst>
                    <a:ext uri="{9D8B030D-6E8A-4147-A177-3AD203B41FA5}">
                      <a16:colId xmlns:a16="http://schemas.microsoft.com/office/drawing/2014/main" val="20001"/>
                    </a:ext>
                  </a:extLst>
                </a:gridCol>
                <a:gridCol w="1280150">
                  <a:extLst>
                    <a:ext uri="{9D8B030D-6E8A-4147-A177-3AD203B41FA5}">
                      <a16:colId xmlns:a16="http://schemas.microsoft.com/office/drawing/2014/main" val="20002"/>
                    </a:ext>
                  </a:extLst>
                </a:gridCol>
                <a:gridCol w="5852150">
                  <a:extLst>
                    <a:ext uri="{9D8B030D-6E8A-4147-A177-3AD203B41FA5}">
                      <a16:colId xmlns:a16="http://schemas.microsoft.com/office/drawing/2014/main" val="20003"/>
                    </a:ext>
                  </a:extLst>
                </a:gridCol>
              </a:tblGrid>
              <a:tr h="548650">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Lagged Driver (t-1)</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Coefficient</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p-value</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00"/>
                        <a:buFont typeface="Calibri"/>
                        <a:buNone/>
                      </a:pPr>
                      <a:r>
                        <a:rPr lang="en-US" sz="1300" b="1" u="none" strike="noStrike" cap="none">
                          <a:solidFill>
                            <a:srgbClr val="FFFFFF"/>
                          </a:solidFill>
                          <a:latin typeface="Calibri"/>
                          <a:ea typeface="Calibri"/>
                          <a:cs typeface="Calibri"/>
                          <a:sym typeface="Calibri"/>
                        </a:rPr>
                        <a:t>Reading</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548650">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Own lag (reserves)</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0.651</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&lt; 0.001</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Strong persistence — reserves carry over from year to year</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48650">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Exchange rate</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-0.093</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&lt; 0.001</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A weaker naira in year t-1 is followed by a reserve drawdown — consistent with FX intervention</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48650">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Lending rate</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-1.028</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0.057</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Weak, borderline-significant negative association</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48650">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Remittances</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-0.154</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0.617</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Not statistically significant in the short run</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548650">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FDI</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1.282</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0.001</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00"/>
                        <a:buFont typeface="Calibri"/>
                        <a:buNone/>
                      </a:pPr>
                      <a:r>
                        <a:rPr lang="en-US" sz="1300" u="none" strike="noStrike" cap="none">
                          <a:solidFill>
                            <a:srgbClr val="1A1A1A"/>
                          </a:solidFill>
                          <a:latin typeface="Calibri"/>
                          <a:ea typeface="Calibri"/>
                          <a:cs typeface="Calibri"/>
                          <a:sym typeface="Calibri"/>
                        </a:rPr>
                        <a:t>Higher prior-year FDI is followed by reserve accumulation</a:t>
                      </a:r>
                      <a:endParaRPr sz="130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268" name="Google Shape;268;p13"/>
          <p:cNvSpPr/>
          <p:nvPr/>
        </p:nvSpPr>
        <p:spPr>
          <a:xfrm>
            <a:off x="548640" y="1554480"/>
            <a:ext cx="11064240" cy="411480"/>
          </a:xfrm>
          <a:prstGeom prst="rect">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3"/>
          <p:cNvSpPr txBox="1"/>
          <p:nvPr/>
        </p:nvSpPr>
        <p:spPr>
          <a:xfrm>
            <a:off x="640080" y="1554480"/>
            <a:ext cx="219456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Lagged Driver (t-1)</a:t>
            </a:r>
            <a:endParaRPr sz="1250" b="0" i="0" u="none" strike="noStrike" cap="none">
              <a:solidFill>
                <a:schemeClr val="dk1"/>
              </a:solidFill>
              <a:latin typeface="Calibri"/>
              <a:ea typeface="Calibri"/>
              <a:cs typeface="Calibri"/>
              <a:sym typeface="Calibri"/>
            </a:endParaRPr>
          </a:p>
        </p:txBody>
      </p:sp>
      <p:sp>
        <p:nvSpPr>
          <p:cNvPr id="270" name="Google Shape;270;p13"/>
          <p:cNvSpPr txBox="1"/>
          <p:nvPr/>
        </p:nvSpPr>
        <p:spPr>
          <a:xfrm>
            <a:off x="3017520" y="1554480"/>
            <a:ext cx="137160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Coefficient</a:t>
            </a:r>
            <a:endParaRPr sz="1250" b="0" i="0" u="none" strike="noStrike" cap="none">
              <a:solidFill>
                <a:schemeClr val="dk1"/>
              </a:solidFill>
              <a:latin typeface="Calibri"/>
              <a:ea typeface="Calibri"/>
              <a:cs typeface="Calibri"/>
              <a:sym typeface="Calibri"/>
            </a:endParaRPr>
          </a:p>
        </p:txBody>
      </p:sp>
      <p:sp>
        <p:nvSpPr>
          <p:cNvPr id="271" name="Google Shape;271;p13"/>
          <p:cNvSpPr txBox="1"/>
          <p:nvPr/>
        </p:nvSpPr>
        <p:spPr>
          <a:xfrm>
            <a:off x="4572000" y="1554480"/>
            <a:ext cx="109728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p-value</a:t>
            </a:r>
            <a:endParaRPr sz="1250" b="0" i="0" u="none" strike="noStrike" cap="none">
              <a:solidFill>
                <a:schemeClr val="dk1"/>
              </a:solidFill>
              <a:latin typeface="Calibri"/>
              <a:ea typeface="Calibri"/>
              <a:cs typeface="Calibri"/>
              <a:sym typeface="Calibri"/>
            </a:endParaRPr>
          </a:p>
        </p:txBody>
      </p:sp>
      <p:sp>
        <p:nvSpPr>
          <p:cNvPr id="272" name="Google Shape;272;p13"/>
          <p:cNvSpPr txBox="1"/>
          <p:nvPr/>
        </p:nvSpPr>
        <p:spPr>
          <a:xfrm>
            <a:off x="5852160" y="1554480"/>
            <a:ext cx="566928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dirty="0">
                <a:solidFill>
                  <a:srgbClr val="FFFFFF"/>
                </a:solidFill>
                <a:latin typeface="Calibri"/>
                <a:ea typeface="Calibri"/>
                <a:cs typeface="Calibri"/>
                <a:sym typeface="Calibri"/>
              </a:rPr>
              <a:t>Reading</a:t>
            </a:r>
            <a:endParaRPr sz="1250" b="0" i="0" u="none" strike="noStrike" cap="none" dirty="0">
              <a:solidFill>
                <a:schemeClr val="dk1"/>
              </a:solidFill>
              <a:latin typeface="Calibri"/>
              <a:ea typeface="Calibri"/>
              <a:cs typeface="Calibri"/>
              <a:sym typeface="Calibri"/>
            </a:endParaRPr>
          </a:p>
        </p:txBody>
      </p:sp>
      <p:sp>
        <p:nvSpPr>
          <p:cNvPr id="273" name="Google Shape;273;p13"/>
          <p:cNvSpPr/>
          <p:nvPr/>
        </p:nvSpPr>
        <p:spPr>
          <a:xfrm>
            <a:off x="548640" y="5074920"/>
            <a:ext cx="11064240" cy="1143000"/>
          </a:xfrm>
          <a:prstGeom prst="roundRect">
            <a:avLst>
              <a:gd name="adj" fmla="val 6400"/>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3"/>
          <p:cNvSpPr txBox="1"/>
          <p:nvPr/>
        </p:nvSpPr>
        <p:spPr>
          <a:xfrm>
            <a:off x="822960" y="5212080"/>
            <a:ext cx="10424160" cy="914400"/>
          </a:xfrm>
          <a:prstGeom prst="rect">
            <a:avLst/>
          </a:prstGeom>
          <a:noFill/>
          <a:ln>
            <a:noFill/>
          </a:ln>
        </p:spPr>
        <p:txBody>
          <a:bodyPr spcFirstLastPara="1" wrap="square" lIns="91425" tIns="45700" rIns="91425" bIns="45700" anchor="t" anchorCtr="0">
            <a:noAutofit/>
          </a:bodyPr>
          <a:lstStyle/>
          <a:p>
            <a:pPr marL="0" marR="0" lvl="0" indent="0" algn="l" rtl="0">
              <a:lnSpc>
                <a:spcPct val="133333"/>
              </a:lnSpc>
              <a:spcBef>
                <a:spcPts val="0"/>
              </a:spcBef>
              <a:spcAft>
                <a:spcPts val="0"/>
              </a:spcAft>
              <a:buClr>
                <a:srgbClr val="10243E"/>
              </a:buClr>
              <a:buSzPts val="1350"/>
              <a:buFont typeface="Calibri"/>
              <a:buNone/>
            </a:pPr>
            <a:r>
              <a:rPr lang="en-US" sz="1350" b="1" i="0" u="none" strike="noStrike" cap="none" dirty="0">
                <a:solidFill>
                  <a:srgbClr val="10243E"/>
                </a:solidFill>
                <a:latin typeface="Calibri"/>
                <a:ea typeface="Calibri"/>
                <a:cs typeface="Calibri"/>
                <a:sym typeface="Calibri"/>
              </a:rPr>
              <a:t>Explanation:  </a:t>
            </a:r>
            <a:r>
              <a:rPr lang="en-US" sz="1350" b="0" i="0" u="none" strike="noStrike" cap="none" dirty="0">
                <a:solidFill>
                  <a:srgbClr val="1A1A1A"/>
                </a:solidFill>
                <a:latin typeface="Calibri"/>
                <a:ea typeface="Calibri"/>
                <a:cs typeface="Calibri"/>
                <a:sym typeface="Calibri"/>
              </a:rPr>
              <a:t>the system's own recent past dominates FDI and the exchange rate as short-run predictors of reserves, while remittances and the lending rate show weaker short-run linkages once the error-correction terms are already accounting for the long-run relationship.</a:t>
            </a:r>
            <a:endParaRPr sz="1350" b="0" i="0" u="none" strike="noStrike" cap="none" dirty="0">
              <a:solidFill>
                <a:schemeClr val="dk1"/>
              </a:solidFill>
              <a:latin typeface="Calibri"/>
              <a:ea typeface="Calibri"/>
              <a:cs typeface="Calibri"/>
              <a:sym typeface="Calibri"/>
            </a:endParaRPr>
          </a:p>
        </p:txBody>
      </p:sp>
      <p:sp>
        <p:nvSpPr>
          <p:cNvPr id="276" name="Google Shape;276;p13"/>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11</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102136"/>
        </a:solidFill>
        <a:effectLst/>
      </p:bgPr>
    </p:bg>
    <p:spTree>
      <p:nvGrpSpPr>
        <p:cNvPr id="1" name="Shape 281"/>
        <p:cNvGrpSpPr/>
        <p:nvPr/>
      </p:nvGrpSpPr>
      <p:grpSpPr>
        <a:xfrm>
          <a:off x="0" y="0"/>
          <a:ext cx="0" cy="0"/>
          <a:chOff x="0" y="0"/>
          <a:chExt cx="0" cy="0"/>
        </a:xfrm>
      </p:grpSpPr>
      <p:sp>
        <p:nvSpPr>
          <p:cNvPr id="282" name="Google Shape;282;p14"/>
          <p:cNvSpPr/>
          <p:nvPr/>
        </p:nvSpPr>
        <p:spPr>
          <a:xfrm>
            <a:off x="8092440" y="-2103120"/>
            <a:ext cx="5486400" cy="5486400"/>
          </a:xfrm>
          <a:prstGeom prst="ellipse">
            <a:avLst/>
          </a:prstGeom>
          <a:solidFill>
            <a:srgbClr val="173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4"/>
          <p:cNvSpPr txBox="1"/>
          <p:nvPr/>
        </p:nvSpPr>
        <p:spPr>
          <a:xfrm>
            <a:off x="548640" y="457200"/>
            <a:ext cx="73152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4AF37"/>
              </a:buClr>
              <a:buSzPts val="1300"/>
              <a:buFont typeface="Calibri"/>
              <a:buNone/>
            </a:pPr>
            <a:r>
              <a:rPr lang="en-US" sz="1300" b="1" i="0" u="none" strike="noStrike" cap="none">
                <a:solidFill>
                  <a:srgbClr val="D4AF37"/>
                </a:solidFill>
                <a:latin typeface="Calibri"/>
                <a:ea typeface="Calibri"/>
                <a:cs typeface="Calibri"/>
                <a:sym typeface="Calibri"/>
              </a:rPr>
              <a:t>STRUCTURAL BREAK</a:t>
            </a:r>
            <a:endParaRPr sz="1300" b="0" i="0" u="none" strike="noStrike" cap="none">
              <a:solidFill>
                <a:schemeClr val="dk1"/>
              </a:solidFill>
              <a:latin typeface="Calibri"/>
              <a:ea typeface="Calibri"/>
              <a:cs typeface="Calibri"/>
              <a:sym typeface="Calibri"/>
            </a:endParaRPr>
          </a:p>
        </p:txBody>
      </p:sp>
      <p:sp>
        <p:nvSpPr>
          <p:cNvPr id="284" name="Google Shape;284;p14"/>
          <p:cNvSpPr txBox="1"/>
          <p:nvPr/>
        </p:nvSpPr>
        <p:spPr>
          <a:xfrm>
            <a:off x="548640" y="777240"/>
            <a:ext cx="1005840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000"/>
              <a:buFont typeface="Cambria"/>
              <a:buNone/>
            </a:pPr>
            <a:r>
              <a:rPr lang="en-US" sz="3000" b="1" i="0" u="none" strike="noStrike" cap="none">
                <a:solidFill>
                  <a:srgbClr val="FFFFFF"/>
                </a:solidFill>
                <a:latin typeface="Cambria"/>
                <a:ea typeface="Cambria"/>
                <a:cs typeface="Cambria"/>
                <a:sym typeface="Cambria"/>
              </a:rPr>
              <a:t>Isolating the 2023 FX Float</a:t>
            </a:r>
            <a:endParaRPr sz="3000" b="0" i="0" u="none" strike="noStrike" cap="none">
              <a:solidFill>
                <a:schemeClr val="dk1"/>
              </a:solidFill>
              <a:latin typeface="Calibri"/>
              <a:ea typeface="Calibri"/>
              <a:cs typeface="Calibri"/>
              <a:sym typeface="Calibri"/>
            </a:endParaRPr>
          </a:p>
        </p:txBody>
      </p:sp>
      <p:sp>
        <p:nvSpPr>
          <p:cNvPr id="285" name="Google Shape;285;p14"/>
          <p:cNvSpPr txBox="1"/>
          <p:nvPr/>
        </p:nvSpPr>
        <p:spPr>
          <a:xfrm>
            <a:off x="548640" y="1463040"/>
            <a:ext cx="1051560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FE0EF"/>
              </a:buClr>
              <a:buSzPts val="1350"/>
              <a:buFont typeface="Calibri"/>
              <a:buNone/>
            </a:pPr>
            <a:r>
              <a:rPr lang="en-US" sz="1350" b="0" i="0" u="none" strike="noStrike" cap="none">
                <a:solidFill>
                  <a:srgbClr val="CFE0EF"/>
                </a:solidFill>
                <a:latin typeface="Calibri"/>
                <a:ea typeface="Calibri"/>
                <a:cs typeface="Calibri"/>
                <a:sym typeface="Calibri"/>
              </a:rPr>
              <a:t>A dummy variable (0 before 2023, 1 from 2023 onward) was added to the VECM as an exogenous regressor, isolating the policy regime shift from the system's ordinary dynamics.</a:t>
            </a:r>
            <a:endParaRPr sz="1350" b="0" i="0" u="none" strike="noStrike" cap="none">
              <a:solidFill>
                <a:schemeClr val="dk1"/>
              </a:solidFill>
              <a:latin typeface="Calibri"/>
              <a:ea typeface="Calibri"/>
              <a:cs typeface="Calibri"/>
              <a:sym typeface="Calibri"/>
            </a:endParaRPr>
          </a:p>
        </p:txBody>
      </p:sp>
      <p:sp>
        <p:nvSpPr>
          <p:cNvPr id="286" name="Google Shape;286;p14"/>
          <p:cNvSpPr/>
          <p:nvPr/>
        </p:nvSpPr>
        <p:spPr>
          <a:xfrm>
            <a:off x="548640" y="2331720"/>
            <a:ext cx="2148840" cy="3200400"/>
          </a:xfrm>
          <a:prstGeom prst="roundRect">
            <a:avLst>
              <a:gd name="adj" fmla="val 3404"/>
            </a:avLst>
          </a:prstGeom>
          <a:solidFill>
            <a:srgbClr val="17304F"/>
          </a:solidFill>
          <a:ln w="12700" cap="flat" cmpd="sng">
            <a:solidFill>
              <a:srgbClr val="2C4A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4"/>
          <p:cNvSpPr txBox="1"/>
          <p:nvPr/>
        </p:nvSpPr>
        <p:spPr>
          <a:xfrm>
            <a:off x="685800" y="2514600"/>
            <a:ext cx="18745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EC2D6"/>
              </a:buClr>
              <a:buSzPts val="1250"/>
              <a:buFont typeface="Calibri"/>
              <a:buNone/>
            </a:pPr>
            <a:r>
              <a:rPr lang="en-US" sz="1250" b="1" i="0" u="none" strike="noStrike" cap="none">
                <a:solidFill>
                  <a:srgbClr val="AEC2D6"/>
                </a:solidFill>
                <a:latin typeface="Calibri"/>
                <a:ea typeface="Calibri"/>
                <a:cs typeface="Calibri"/>
                <a:sym typeface="Calibri"/>
              </a:rPr>
              <a:t>Reserves</a:t>
            </a:r>
            <a:endParaRPr sz="1250" b="0" i="0" u="none" strike="noStrike" cap="none">
              <a:solidFill>
                <a:schemeClr val="dk1"/>
              </a:solidFill>
              <a:latin typeface="Calibri"/>
              <a:ea typeface="Calibri"/>
              <a:cs typeface="Calibri"/>
              <a:sym typeface="Calibri"/>
            </a:endParaRPr>
          </a:p>
        </p:txBody>
      </p:sp>
      <p:sp>
        <p:nvSpPr>
          <p:cNvPr id="288" name="Google Shape;288;p14"/>
          <p:cNvSpPr txBox="1"/>
          <p:nvPr/>
        </p:nvSpPr>
        <p:spPr>
          <a:xfrm>
            <a:off x="685800" y="3063240"/>
            <a:ext cx="187452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+12.80</a:t>
            </a:r>
            <a:endParaRPr sz="2600" b="0" i="0" u="none" strike="noStrike" cap="none">
              <a:solidFill>
                <a:schemeClr val="dk1"/>
              </a:solidFill>
              <a:latin typeface="Calibri"/>
              <a:ea typeface="Calibri"/>
              <a:cs typeface="Calibri"/>
              <a:sym typeface="Calibri"/>
            </a:endParaRPr>
          </a:p>
        </p:txBody>
      </p:sp>
      <p:sp>
        <p:nvSpPr>
          <p:cNvPr id="289" name="Google Shape;289;p14"/>
          <p:cNvSpPr txBox="1"/>
          <p:nvPr/>
        </p:nvSpPr>
        <p:spPr>
          <a:xfrm>
            <a:off x="685800" y="3749040"/>
            <a:ext cx="18745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FE0EF"/>
              </a:buClr>
              <a:buSzPts val="1100"/>
              <a:buFont typeface="Calibri"/>
              <a:buNone/>
            </a:pPr>
            <a:r>
              <a:rPr lang="en-US" sz="1100" b="0" i="0" u="none" strike="noStrike" cap="none">
                <a:solidFill>
                  <a:srgbClr val="CFE0EF"/>
                </a:solidFill>
                <a:latin typeface="Calibri"/>
                <a:ea typeface="Calibri"/>
                <a:cs typeface="Calibri"/>
                <a:sym typeface="Calibri"/>
              </a:rPr>
              <a:t>$bn shift</a:t>
            </a:r>
            <a:endParaRPr sz="1100" b="0" i="0" u="none" strike="noStrike" cap="none">
              <a:solidFill>
                <a:schemeClr val="dk1"/>
              </a:solidFill>
              <a:latin typeface="Calibri"/>
              <a:ea typeface="Calibri"/>
              <a:cs typeface="Calibri"/>
              <a:sym typeface="Calibri"/>
            </a:endParaRPr>
          </a:p>
        </p:txBody>
      </p:sp>
      <p:sp>
        <p:nvSpPr>
          <p:cNvPr id="290" name="Google Shape;290;p14"/>
          <p:cNvSpPr txBox="1"/>
          <p:nvPr/>
        </p:nvSpPr>
        <p:spPr>
          <a:xfrm>
            <a:off x="685800" y="5074920"/>
            <a:ext cx="18745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FA6C2"/>
              </a:buClr>
              <a:buSzPts val="1100"/>
              <a:buFont typeface="Calibri"/>
              <a:buNone/>
            </a:pPr>
            <a:r>
              <a:rPr lang="en-US" sz="1100" b="0" i="0" u="none" strike="noStrike" cap="none">
                <a:solidFill>
                  <a:srgbClr val="8FA6C2"/>
                </a:solidFill>
                <a:latin typeface="Calibri"/>
                <a:ea typeface="Calibri"/>
                <a:cs typeface="Calibri"/>
                <a:sym typeface="Calibri"/>
              </a:rPr>
              <a:t>p &lt; 0.001</a:t>
            </a:r>
            <a:endParaRPr sz="1100" b="0" i="0" u="none" strike="noStrike" cap="none">
              <a:solidFill>
                <a:schemeClr val="dk1"/>
              </a:solidFill>
              <a:latin typeface="Calibri"/>
              <a:ea typeface="Calibri"/>
              <a:cs typeface="Calibri"/>
              <a:sym typeface="Calibri"/>
            </a:endParaRPr>
          </a:p>
        </p:txBody>
      </p:sp>
      <p:sp>
        <p:nvSpPr>
          <p:cNvPr id="291" name="Google Shape;291;p14"/>
          <p:cNvSpPr/>
          <p:nvPr/>
        </p:nvSpPr>
        <p:spPr>
          <a:xfrm>
            <a:off x="2834640" y="2331720"/>
            <a:ext cx="2148840" cy="3200400"/>
          </a:xfrm>
          <a:prstGeom prst="roundRect">
            <a:avLst>
              <a:gd name="adj" fmla="val 3404"/>
            </a:avLst>
          </a:prstGeom>
          <a:solidFill>
            <a:srgbClr val="17304F"/>
          </a:solidFill>
          <a:ln w="12700" cap="flat" cmpd="sng">
            <a:solidFill>
              <a:srgbClr val="2C4A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4"/>
          <p:cNvSpPr txBox="1"/>
          <p:nvPr/>
        </p:nvSpPr>
        <p:spPr>
          <a:xfrm>
            <a:off x="2971800" y="2514600"/>
            <a:ext cx="18745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EC2D6"/>
              </a:buClr>
              <a:buSzPts val="1250"/>
              <a:buFont typeface="Calibri"/>
              <a:buNone/>
            </a:pPr>
            <a:r>
              <a:rPr lang="en-US" sz="1250" b="1" i="0" u="none" strike="noStrike" cap="none">
                <a:solidFill>
                  <a:srgbClr val="AEC2D6"/>
                </a:solidFill>
                <a:latin typeface="Calibri"/>
                <a:ea typeface="Calibri"/>
                <a:cs typeface="Calibri"/>
                <a:sym typeface="Calibri"/>
              </a:rPr>
              <a:t>Exchange Rate</a:t>
            </a:r>
            <a:endParaRPr sz="1250" b="0" i="0" u="none" strike="noStrike" cap="none">
              <a:solidFill>
                <a:schemeClr val="dk1"/>
              </a:solidFill>
              <a:latin typeface="Calibri"/>
              <a:ea typeface="Calibri"/>
              <a:cs typeface="Calibri"/>
              <a:sym typeface="Calibri"/>
            </a:endParaRPr>
          </a:p>
        </p:txBody>
      </p:sp>
      <p:sp>
        <p:nvSpPr>
          <p:cNvPr id="293" name="Google Shape;293;p14"/>
          <p:cNvSpPr txBox="1"/>
          <p:nvPr/>
        </p:nvSpPr>
        <p:spPr>
          <a:xfrm>
            <a:off x="2971800" y="3063240"/>
            <a:ext cx="187452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+357.99</a:t>
            </a:r>
            <a:endParaRPr sz="2600" b="0" i="0" u="none" strike="noStrike" cap="none">
              <a:solidFill>
                <a:schemeClr val="dk1"/>
              </a:solidFill>
              <a:latin typeface="Calibri"/>
              <a:ea typeface="Calibri"/>
              <a:cs typeface="Calibri"/>
              <a:sym typeface="Calibri"/>
            </a:endParaRPr>
          </a:p>
        </p:txBody>
      </p:sp>
      <p:sp>
        <p:nvSpPr>
          <p:cNvPr id="294" name="Google Shape;294;p14"/>
          <p:cNvSpPr txBox="1"/>
          <p:nvPr/>
        </p:nvSpPr>
        <p:spPr>
          <a:xfrm>
            <a:off x="2971800" y="3749040"/>
            <a:ext cx="18745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FE0EF"/>
              </a:buClr>
              <a:buSzPts val="1100"/>
              <a:buFont typeface="Calibri"/>
              <a:buNone/>
            </a:pPr>
            <a:r>
              <a:rPr lang="en-US" sz="1100" b="0" i="0" u="none" strike="noStrike" cap="none">
                <a:solidFill>
                  <a:srgbClr val="CFE0EF"/>
                </a:solidFill>
                <a:latin typeface="Calibri"/>
                <a:ea typeface="Calibri"/>
                <a:cs typeface="Calibri"/>
                <a:sym typeface="Calibri"/>
              </a:rPr>
              <a:t>₦/$ shift</a:t>
            </a:r>
            <a:endParaRPr sz="1100" b="0" i="0" u="none" strike="noStrike" cap="none">
              <a:solidFill>
                <a:schemeClr val="dk1"/>
              </a:solidFill>
              <a:latin typeface="Calibri"/>
              <a:ea typeface="Calibri"/>
              <a:cs typeface="Calibri"/>
              <a:sym typeface="Calibri"/>
            </a:endParaRPr>
          </a:p>
        </p:txBody>
      </p:sp>
      <p:sp>
        <p:nvSpPr>
          <p:cNvPr id="295" name="Google Shape;295;p14"/>
          <p:cNvSpPr txBox="1"/>
          <p:nvPr/>
        </p:nvSpPr>
        <p:spPr>
          <a:xfrm>
            <a:off x="2971800" y="5074920"/>
            <a:ext cx="18745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FA6C2"/>
              </a:buClr>
              <a:buSzPts val="1100"/>
              <a:buFont typeface="Calibri"/>
              <a:buNone/>
            </a:pPr>
            <a:r>
              <a:rPr lang="en-US" sz="1100" b="0" i="0" u="none" strike="noStrike" cap="none">
                <a:solidFill>
                  <a:srgbClr val="8FA6C2"/>
                </a:solidFill>
                <a:latin typeface="Calibri"/>
                <a:ea typeface="Calibri"/>
                <a:cs typeface="Calibri"/>
                <a:sym typeface="Calibri"/>
              </a:rPr>
              <a:t>p &lt; 0.001</a:t>
            </a:r>
            <a:endParaRPr sz="1100" b="0" i="0" u="none" strike="noStrike" cap="none">
              <a:solidFill>
                <a:schemeClr val="dk1"/>
              </a:solidFill>
              <a:latin typeface="Calibri"/>
              <a:ea typeface="Calibri"/>
              <a:cs typeface="Calibri"/>
              <a:sym typeface="Calibri"/>
            </a:endParaRPr>
          </a:p>
        </p:txBody>
      </p:sp>
      <p:sp>
        <p:nvSpPr>
          <p:cNvPr id="296" name="Google Shape;296;p14"/>
          <p:cNvSpPr/>
          <p:nvPr/>
        </p:nvSpPr>
        <p:spPr>
          <a:xfrm>
            <a:off x="5120640" y="2331720"/>
            <a:ext cx="2148840" cy="3200400"/>
          </a:xfrm>
          <a:prstGeom prst="roundRect">
            <a:avLst>
              <a:gd name="adj" fmla="val 3404"/>
            </a:avLst>
          </a:prstGeom>
          <a:solidFill>
            <a:srgbClr val="17304F"/>
          </a:solidFill>
          <a:ln w="12700" cap="flat" cmpd="sng">
            <a:solidFill>
              <a:srgbClr val="2C4A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4"/>
          <p:cNvSpPr txBox="1"/>
          <p:nvPr/>
        </p:nvSpPr>
        <p:spPr>
          <a:xfrm>
            <a:off x="5257800" y="2514600"/>
            <a:ext cx="18745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EC2D6"/>
              </a:buClr>
              <a:buSzPts val="1250"/>
              <a:buFont typeface="Calibri"/>
              <a:buNone/>
            </a:pPr>
            <a:r>
              <a:rPr lang="en-US" sz="1250" b="1" i="0" u="none" strike="noStrike" cap="none">
                <a:solidFill>
                  <a:srgbClr val="AEC2D6"/>
                </a:solidFill>
                <a:latin typeface="Calibri"/>
                <a:ea typeface="Calibri"/>
                <a:cs typeface="Calibri"/>
                <a:sym typeface="Calibri"/>
              </a:rPr>
              <a:t>Lending Rate</a:t>
            </a:r>
            <a:endParaRPr sz="1250" b="0" i="0" u="none" strike="noStrike" cap="none">
              <a:solidFill>
                <a:schemeClr val="dk1"/>
              </a:solidFill>
              <a:latin typeface="Calibri"/>
              <a:ea typeface="Calibri"/>
              <a:cs typeface="Calibri"/>
              <a:sym typeface="Calibri"/>
            </a:endParaRPr>
          </a:p>
        </p:txBody>
      </p:sp>
      <p:sp>
        <p:nvSpPr>
          <p:cNvPr id="298" name="Google Shape;298;p14"/>
          <p:cNvSpPr txBox="1"/>
          <p:nvPr/>
        </p:nvSpPr>
        <p:spPr>
          <a:xfrm>
            <a:off x="5257800" y="3063240"/>
            <a:ext cx="187452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+2.44</a:t>
            </a:r>
            <a:endParaRPr sz="2600" b="0" i="0" u="none" strike="noStrike" cap="none">
              <a:solidFill>
                <a:schemeClr val="dk1"/>
              </a:solidFill>
              <a:latin typeface="Calibri"/>
              <a:ea typeface="Calibri"/>
              <a:cs typeface="Calibri"/>
              <a:sym typeface="Calibri"/>
            </a:endParaRPr>
          </a:p>
        </p:txBody>
      </p:sp>
      <p:sp>
        <p:nvSpPr>
          <p:cNvPr id="299" name="Google Shape;299;p14"/>
          <p:cNvSpPr txBox="1"/>
          <p:nvPr/>
        </p:nvSpPr>
        <p:spPr>
          <a:xfrm>
            <a:off x="5257800" y="3749040"/>
            <a:ext cx="18745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FE0EF"/>
              </a:buClr>
              <a:buSzPts val="1100"/>
              <a:buFont typeface="Calibri"/>
              <a:buNone/>
            </a:pPr>
            <a:r>
              <a:rPr lang="en-US" sz="1100" b="0" i="0" u="none" strike="noStrike" cap="none">
                <a:solidFill>
                  <a:srgbClr val="CFE0EF"/>
                </a:solidFill>
                <a:latin typeface="Calibri"/>
                <a:ea typeface="Calibri"/>
                <a:cs typeface="Calibri"/>
                <a:sym typeface="Calibri"/>
              </a:rPr>
              <a:t>pp shift</a:t>
            </a:r>
            <a:endParaRPr sz="1100" b="0" i="0" u="none" strike="noStrike" cap="none">
              <a:solidFill>
                <a:schemeClr val="dk1"/>
              </a:solidFill>
              <a:latin typeface="Calibri"/>
              <a:ea typeface="Calibri"/>
              <a:cs typeface="Calibri"/>
              <a:sym typeface="Calibri"/>
            </a:endParaRPr>
          </a:p>
        </p:txBody>
      </p:sp>
      <p:sp>
        <p:nvSpPr>
          <p:cNvPr id="300" name="Google Shape;300;p14"/>
          <p:cNvSpPr txBox="1"/>
          <p:nvPr/>
        </p:nvSpPr>
        <p:spPr>
          <a:xfrm>
            <a:off x="5257800" y="5074920"/>
            <a:ext cx="18745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FA6C2"/>
              </a:buClr>
              <a:buSzPts val="1100"/>
              <a:buFont typeface="Calibri"/>
              <a:buNone/>
            </a:pPr>
            <a:r>
              <a:rPr lang="en-US" sz="1100" b="0" i="0" u="none" strike="noStrike" cap="none">
                <a:solidFill>
                  <a:srgbClr val="8FA6C2"/>
                </a:solidFill>
                <a:latin typeface="Calibri"/>
                <a:ea typeface="Calibri"/>
                <a:cs typeface="Calibri"/>
                <a:sym typeface="Calibri"/>
              </a:rPr>
              <a:t>p 0.039</a:t>
            </a:r>
            <a:endParaRPr sz="1100" b="0" i="0" u="none" strike="noStrike" cap="none">
              <a:solidFill>
                <a:schemeClr val="dk1"/>
              </a:solidFill>
              <a:latin typeface="Calibri"/>
              <a:ea typeface="Calibri"/>
              <a:cs typeface="Calibri"/>
              <a:sym typeface="Calibri"/>
            </a:endParaRPr>
          </a:p>
        </p:txBody>
      </p:sp>
      <p:sp>
        <p:nvSpPr>
          <p:cNvPr id="301" name="Google Shape;301;p14"/>
          <p:cNvSpPr/>
          <p:nvPr/>
        </p:nvSpPr>
        <p:spPr>
          <a:xfrm>
            <a:off x="7406640" y="2331720"/>
            <a:ext cx="2148840" cy="3200400"/>
          </a:xfrm>
          <a:prstGeom prst="roundRect">
            <a:avLst>
              <a:gd name="adj" fmla="val 3404"/>
            </a:avLst>
          </a:prstGeom>
          <a:solidFill>
            <a:srgbClr val="17304F"/>
          </a:solidFill>
          <a:ln w="12700" cap="flat" cmpd="sng">
            <a:solidFill>
              <a:srgbClr val="2C4A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4"/>
          <p:cNvSpPr txBox="1"/>
          <p:nvPr/>
        </p:nvSpPr>
        <p:spPr>
          <a:xfrm>
            <a:off x="7543800" y="2514600"/>
            <a:ext cx="18745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EC2D6"/>
              </a:buClr>
              <a:buSzPts val="1250"/>
              <a:buFont typeface="Calibri"/>
              <a:buNone/>
            </a:pPr>
            <a:r>
              <a:rPr lang="en-US" sz="1250" b="1" i="0" u="none" strike="noStrike" cap="none">
                <a:solidFill>
                  <a:srgbClr val="AEC2D6"/>
                </a:solidFill>
                <a:latin typeface="Calibri"/>
                <a:ea typeface="Calibri"/>
                <a:cs typeface="Calibri"/>
                <a:sym typeface="Calibri"/>
              </a:rPr>
              <a:t>Remittances</a:t>
            </a:r>
            <a:endParaRPr sz="1250" b="0" i="0" u="none" strike="noStrike" cap="none">
              <a:solidFill>
                <a:schemeClr val="dk1"/>
              </a:solidFill>
              <a:latin typeface="Calibri"/>
              <a:ea typeface="Calibri"/>
              <a:cs typeface="Calibri"/>
              <a:sym typeface="Calibri"/>
            </a:endParaRPr>
          </a:p>
        </p:txBody>
      </p:sp>
      <p:sp>
        <p:nvSpPr>
          <p:cNvPr id="303" name="Google Shape;303;p14"/>
          <p:cNvSpPr txBox="1"/>
          <p:nvPr/>
        </p:nvSpPr>
        <p:spPr>
          <a:xfrm>
            <a:off x="7543800" y="3063240"/>
            <a:ext cx="187452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-0.54</a:t>
            </a:r>
            <a:endParaRPr sz="2600" b="0" i="0" u="none" strike="noStrike" cap="none">
              <a:solidFill>
                <a:schemeClr val="dk1"/>
              </a:solidFill>
              <a:latin typeface="Calibri"/>
              <a:ea typeface="Calibri"/>
              <a:cs typeface="Calibri"/>
              <a:sym typeface="Calibri"/>
            </a:endParaRPr>
          </a:p>
        </p:txBody>
      </p:sp>
      <p:sp>
        <p:nvSpPr>
          <p:cNvPr id="304" name="Google Shape;304;p14"/>
          <p:cNvSpPr txBox="1"/>
          <p:nvPr/>
        </p:nvSpPr>
        <p:spPr>
          <a:xfrm>
            <a:off x="7543800" y="3749040"/>
            <a:ext cx="18745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FE0EF"/>
              </a:buClr>
              <a:buSzPts val="1100"/>
              <a:buFont typeface="Calibri"/>
              <a:buNone/>
            </a:pPr>
            <a:r>
              <a:rPr lang="en-US" sz="1100" b="0" i="0" u="none" strike="noStrike" cap="none">
                <a:solidFill>
                  <a:srgbClr val="CFE0EF"/>
                </a:solidFill>
                <a:latin typeface="Calibri"/>
                <a:ea typeface="Calibri"/>
                <a:cs typeface="Calibri"/>
                <a:sym typeface="Calibri"/>
              </a:rPr>
              <a:t>not significant</a:t>
            </a:r>
            <a:endParaRPr sz="1100" b="0" i="0" u="none" strike="noStrike" cap="none">
              <a:solidFill>
                <a:schemeClr val="dk1"/>
              </a:solidFill>
              <a:latin typeface="Calibri"/>
              <a:ea typeface="Calibri"/>
              <a:cs typeface="Calibri"/>
              <a:sym typeface="Calibri"/>
            </a:endParaRPr>
          </a:p>
        </p:txBody>
      </p:sp>
      <p:sp>
        <p:nvSpPr>
          <p:cNvPr id="305" name="Google Shape;305;p14"/>
          <p:cNvSpPr txBox="1"/>
          <p:nvPr/>
        </p:nvSpPr>
        <p:spPr>
          <a:xfrm>
            <a:off x="7543800" y="5074920"/>
            <a:ext cx="18745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FA6C2"/>
              </a:buClr>
              <a:buSzPts val="1100"/>
              <a:buFont typeface="Calibri"/>
              <a:buNone/>
            </a:pPr>
            <a:r>
              <a:rPr lang="en-US" sz="1100" b="0" i="0" u="none" strike="noStrike" cap="none">
                <a:solidFill>
                  <a:srgbClr val="8FA6C2"/>
                </a:solidFill>
                <a:latin typeface="Calibri"/>
                <a:ea typeface="Calibri"/>
                <a:cs typeface="Calibri"/>
                <a:sym typeface="Calibri"/>
              </a:rPr>
              <a:t>p 0.798</a:t>
            </a:r>
            <a:endParaRPr sz="1100" b="0" i="0" u="none" strike="noStrike" cap="none">
              <a:solidFill>
                <a:schemeClr val="dk1"/>
              </a:solidFill>
              <a:latin typeface="Calibri"/>
              <a:ea typeface="Calibri"/>
              <a:cs typeface="Calibri"/>
              <a:sym typeface="Calibri"/>
            </a:endParaRPr>
          </a:p>
        </p:txBody>
      </p:sp>
      <p:sp>
        <p:nvSpPr>
          <p:cNvPr id="306" name="Google Shape;306;p14"/>
          <p:cNvSpPr/>
          <p:nvPr/>
        </p:nvSpPr>
        <p:spPr>
          <a:xfrm>
            <a:off x="9692640" y="2331720"/>
            <a:ext cx="2148840" cy="3200400"/>
          </a:xfrm>
          <a:prstGeom prst="roundRect">
            <a:avLst>
              <a:gd name="adj" fmla="val 3404"/>
            </a:avLst>
          </a:prstGeom>
          <a:solidFill>
            <a:srgbClr val="17304F"/>
          </a:solidFill>
          <a:ln w="12700" cap="flat" cmpd="sng">
            <a:solidFill>
              <a:srgbClr val="2C4A6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4"/>
          <p:cNvSpPr txBox="1"/>
          <p:nvPr/>
        </p:nvSpPr>
        <p:spPr>
          <a:xfrm>
            <a:off x="9829800" y="2514600"/>
            <a:ext cx="187452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EC2D6"/>
              </a:buClr>
              <a:buSzPts val="1250"/>
              <a:buFont typeface="Calibri"/>
              <a:buNone/>
            </a:pPr>
            <a:r>
              <a:rPr lang="en-US" sz="1250" b="1" i="0" u="none" strike="noStrike" cap="none">
                <a:solidFill>
                  <a:srgbClr val="AEC2D6"/>
                </a:solidFill>
                <a:latin typeface="Calibri"/>
                <a:ea typeface="Calibri"/>
                <a:cs typeface="Calibri"/>
                <a:sym typeface="Calibri"/>
              </a:rPr>
              <a:t>FDI</a:t>
            </a:r>
            <a:endParaRPr sz="1250" b="0" i="0" u="none" strike="noStrike" cap="none">
              <a:solidFill>
                <a:schemeClr val="dk1"/>
              </a:solidFill>
              <a:latin typeface="Calibri"/>
              <a:ea typeface="Calibri"/>
              <a:cs typeface="Calibri"/>
              <a:sym typeface="Calibri"/>
            </a:endParaRPr>
          </a:p>
        </p:txBody>
      </p:sp>
      <p:sp>
        <p:nvSpPr>
          <p:cNvPr id="308" name="Google Shape;308;p14"/>
          <p:cNvSpPr txBox="1"/>
          <p:nvPr/>
        </p:nvSpPr>
        <p:spPr>
          <a:xfrm>
            <a:off x="9829800" y="3063240"/>
            <a:ext cx="187452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4AF37"/>
              </a:buClr>
              <a:buSzPts val="2600"/>
              <a:buFont typeface="Cambria"/>
              <a:buNone/>
            </a:pPr>
            <a:r>
              <a:rPr lang="en-US" sz="2600" b="1" i="0" u="none" strike="noStrike" cap="none">
                <a:solidFill>
                  <a:srgbClr val="D4AF37"/>
                </a:solidFill>
                <a:latin typeface="Cambria"/>
                <a:ea typeface="Cambria"/>
                <a:cs typeface="Cambria"/>
                <a:sym typeface="Cambria"/>
              </a:rPr>
              <a:t>+6.43</a:t>
            </a:r>
            <a:endParaRPr sz="2600" b="0" i="0" u="none" strike="noStrike" cap="none">
              <a:solidFill>
                <a:schemeClr val="dk1"/>
              </a:solidFill>
              <a:latin typeface="Calibri"/>
              <a:ea typeface="Calibri"/>
              <a:cs typeface="Calibri"/>
              <a:sym typeface="Calibri"/>
            </a:endParaRPr>
          </a:p>
        </p:txBody>
      </p:sp>
      <p:sp>
        <p:nvSpPr>
          <p:cNvPr id="309" name="Google Shape;309;p14"/>
          <p:cNvSpPr txBox="1"/>
          <p:nvPr/>
        </p:nvSpPr>
        <p:spPr>
          <a:xfrm>
            <a:off x="9829800" y="3749040"/>
            <a:ext cx="187452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FE0EF"/>
              </a:buClr>
              <a:buSzPts val="1100"/>
              <a:buFont typeface="Calibri"/>
              <a:buNone/>
            </a:pPr>
            <a:r>
              <a:rPr lang="en-US" sz="1100" b="0" i="0" u="none" strike="noStrike" cap="none">
                <a:solidFill>
                  <a:srgbClr val="CFE0EF"/>
                </a:solidFill>
                <a:latin typeface="Calibri"/>
                <a:ea typeface="Calibri"/>
                <a:cs typeface="Calibri"/>
                <a:sym typeface="Calibri"/>
              </a:rPr>
              <a:t>$bn shift</a:t>
            </a:r>
            <a:endParaRPr sz="1100" b="0" i="0" u="none" strike="noStrike" cap="none">
              <a:solidFill>
                <a:schemeClr val="dk1"/>
              </a:solidFill>
              <a:latin typeface="Calibri"/>
              <a:ea typeface="Calibri"/>
              <a:cs typeface="Calibri"/>
              <a:sym typeface="Calibri"/>
            </a:endParaRPr>
          </a:p>
        </p:txBody>
      </p:sp>
      <p:sp>
        <p:nvSpPr>
          <p:cNvPr id="310" name="Google Shape;310;p14"/>
          <p:cNvSpPr txBox="1"/>
          <p:nvPr/>
        </p:nvSpPr>
        <p:spPr>
          <a:xfrm>
            <a:off x="9829800" y="5074920"/>
            <a:ext cx="18745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8FA6C2"/>
              </a:buClr>
              <a:buSzPts val="1100"/>
              <a:buFont typeface="Calibri"/>
              <a:buNone/>
            </a:pPr>
            <a:r>
              <a:rPr lang="en-US" sz="1100" b="0" i="0" u="none" strike="noStrike" cap="none">
                <a:solidFill>
                  <a:srgbClr val="8FA6C2"/>
                </a:solidFill>
                <a:latin typeface="Calibri"/>
                <a:ea typeface="Calibri"/>
                <a:cs typeface="Calibri"/>
                <a:sym typeface="Calibri"/>
              </a:rPr>
              <a:t>p &lt; 0.001</a:t>
            </a:r>
            <a:endParaRPr sz="1100" b="0" i="0" u="none" strike="noStrike" cap="none">
              <a:solidFill>
                <a:schemeClr val="dk1"/>
              </a:solidFill>
              <a:latin typeface="Calibri"/>
              <a:ea typeface="Calibri"/>
              <a:cs typeface="Calibri"/>
              <a:sym typeface="Calibri"/>
            </a:endParaRPr>
          </a:p>
        </p:txBody>
      </p:sp>
      <p:sp>
        <p:nvSpPr>
          <p:cNvPr id="311" name="Google Shape;311;p14"/>
          <p:cNvSpPr txBox="1"/>
          <p:nvPr/>
        </p:nvSpPr>
        <p:spPr>
          <a:xfrm>
            <a:off x="548640" y="5806440"/>
            <a:ext cx="11064240" cy="5486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EC2D6"/>
              </a:buClr>
              <a:buSzPts val="1200"/>
              <a:buFont typeface="Calibri"/>
              <a:buNone/>
            </a:pPr>
            <a:r>
              <a:rPr lang="en-US" sz="1200" b="0" i="1" u="none" strike="noStrike" cap="none">
                <a:solidFill>
                  <a:srgbClr val="AEC2D6"/>
                </a:solidFill>
                <a:latin typeface="Calibri"/>
                <a:ea typeface="Calibri"/>
                <a:cs typeface="Calibri"/>
                <a:sym typeface="Calibri"/>
              </a:rPr>
              <a:t>Every equation except remittances shows a significant shift — the float was a genuine regime change for the system, not a continuation of pre-2023 trends. The FDI coefficient's sign is discussed alongside the pre/post mean comparison on the next slide.</a:t>
            </a:r>
            <a:endParaRPr sz="1200" b="0" i="0" u="none" strike="noStrike" cap="none">
              <a:solidFill>
                <a:schemeClr val="dk1"/>
              </a:solidFill>
              <a:latin typeface="Calibri"/>
              <a:ea typeface="Calibri"/>
              <a:cs typeface="Calibri"/>
              <a:sym typeface="Calibri"/>
            </a:endParaRPr>
          </a:p>
        </p:txBody>
      </p:sp>
      <p:sp>
        <p:nvSpPr>
          <p:cNvPr id="313" name="Google Shape;313;p14"/>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dirty="0">
                <a:solidFill>
                  <a:srgbClr val="5B6472"/>
                </a:solidFill>
                <a:latin typeface="Calibri"/>
                <a:ea typeface="Calibri"/>
                <a:cs typeface="Calibri"/>
                <a:sym typeface="Calibri"/>
              </a:rPr>
              <a:t>12</a:t>
            </a:r>
            <a:endParaRPr sz="10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15"/>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STRUCTURAL BREAK</a:t>
            </a:r>
            <a:endParaRPr sz="1200" b="0" i="0" u="none" strike="noStrike" cap="none">
              <a:solidFill>
                <a:schemeClr val="dk1"/>
              </a:solidFill>
              <a:latin typeface="Calibri"/>
              <a:ea typeface="Calibri"/>
              <a:cs typeface="Calibri"/>
              <a:sym typeface="Calibri"/>
            </a:endParaRPr>
          </a:p>
        </p:txBody>
      </p:sp>
      <p:sp>
        <p:nvSpPr>
          <p:cNvPr id="320" name="Google Shape;320;p15"/>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Pre- vs Post-Float Level Comparison (≤2022 vs ≥2023)</a:t>
            </a:r>
            <a:endParaRPr sz="3000" b="0" i="0" u="none" strike="noStrike" cap="none">
              <a:solidFill>
                <a:schemeClr val="dk1"/>
              </a:solidFill>
              <a:latin typeface="Calibri"/>
              <a:ea typeface="Calibri"/>
              <a:cs typeface="Calibri"/>
              <a:sym typeface="Calibri"/>
            </a:endParaRPr>
          </a:p>
        </p:txBody>
      </p:sp>
      <p:graphicFrame>
        <p:nvGraphicFramePr>
          <p:cNvPr id="321" name="Google Shape;321;p15"/>
          <p:cNvGraphicFramePr/>
          <p:nvPr/>
        </p:nvGraphicFramePr>
        <p:xfrm>
          <a:off x="548640" y="1691640"/>
          <a:ext cx="7315200" cy="2834700"/>
        </p:xfrm>
        <a:graphic>
          <a:graphicData uri="http://schemas.openxmlformats.org/drawingml/2006/table">
            <a:tbl>
              <a:tblPr>
                <a:noFill/>
              </a:tblPr>
              <a:tblGrid>
                <a:gridCol w="2377450">
                  <a:extLst>
                    <a:ext uri="{9D8B030D-6E8A-4147-A177-3AD203B41FA5}">
                      <a16:colId xmlns:a16="http://schemas.microsoft.com/office/drawing/2014/main" val="20000"/>
                    </a:ext>
                  </a:extLst>
                </a:gridCol>
                <a:gridCol w="1737350">
                  <a:extLst>
                    <a:ext uri="{9D8B030D-6E8A-4147-A177-3AD203B41FA5}">
                      <a16:colId xmlns:a16="http://schemas.microsoft.com/office/drawing/2014/main" val="20001"/>
                    </a:ext>
                  </a:extLst>
                </a:gridCol>
                <a:gridCol w="1737350">
                  <a:extLst>
                    <a:ext uri="{9D8B030D-6E8A-4147-A177-3AD203B41FA5}">
                      <a16:colId xmlns:a16="http://schemas.microsoft.com/office/drawing/2014/main" val="20002"/>
                    </a:ext>
                  </a:extLst>
                </a:gridCol>
                <a:gridCol w="1463050">
                  <a:extLst>
                    <a:ext uri="{9D8B030D-6E8A-4147-A177-3AD203B41FA5}">
                      <a16:colId xmlns:a16="http://schemas.microsoft.com/office/drawing/2014/main" val="20003"/>
                    </a:ext>
                  </a:extLst>
                </a:gridCol>
              </a:tblGrid>
              <a:tr h="472450">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Variable</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Pre-Float Mean</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Post-Float Mean</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1350"/>
                        <a:buFont typeface="Calibri"/>
                        <a:buNone/>
                      </a:pPr>
                      <a:r>
                        <a:rPr lang="en-US" sz="1350" b="1" u="none" strike="noStrike" cap="none">
                          <a:solidFill>
                            <a:srgbClr val="FFFFFF"/>
                          </a:solidFill>
                          <a:latin typeface="Calibri"/>
                          <a:ea typeface="Calibri"/>
                          <a:cs typeface="Calibri"/>
                          <a:sym typeface="Calibri"/>
                        </a:rPr>
                        <a:t>Change</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72450">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Reserves ($bn)</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39.33</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36.93</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-2.40</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72450">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Exchange Rate (₦/$)</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221.19</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1,062.08</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+840.89</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72450">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Lending Rate (%)</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16.14</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14.01</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-2.13</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72450">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Remittances ($bn)</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19.84</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20.84</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+1.00</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72450">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FDI ($bn)</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4.57</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1.74</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A1A1A"/>
                        </a:buClr>
                        <a:buSzPts val="1350"/>
                        <a:buFont typeface="Calibri"/>
                        <a:buNone/>
                      </a:pPr>
                      <a:r>
                        <a:rPr lang="en-US" sz="1350" u="none" strike="noStrike" cap="none">
                          <a:solidFill>
                            <a:srgbClr val="1A1A1A"/>
                          </a:solidFill>
                          <a:latin typeface="Calibri"/>
                          <a:ea typeface="Calibri"/>
                          <a:cs typeface="Calibri"/>
                          <a:sym typeface="Calibri"/>
                        </a:rPr>
                        <a:t>-2.83</a:t>
                      </a:r>
                      <a:endParaRPr sz="1350" u="none" strike="noStrike" cap="none">
                        <a:latin typeface="Calibri"/>
                        <a:ea typeface="Calibri"/>
                        <a:cs typeface="Calibri"/>
                        <a:sym typeface="Calibri"/>
                      </a:endParaRPr>
                    </a:p>
                  </a:txBody>
                  <a:tcPr marL="91450" marR="91450" marT="45725" marB="45725" anchor="ctr">
                    <a:lnL w="9525" cap="flat" cmpd="sng">
                      <a:solidFill>
                        <a:srgbClr val="E3E6EA"/>
                      </a:solidFill>
                      <a:prstDash val="solid"/>
                      <a:round/>
                      <a:headEnd type="none" w="sm" len="sm"/>
                      <a:tailEnd type="none" w="sm" len="sm"/>
                    </a:lnL>
                    <a:lnR w="9525" cap="flat" cmpd="sng">
                      <a:solidFill>
                        <a:srgbClr val="E3E6EA"/>
                      </a:solidFill>
                      <a:prstDash val="solid"/>
                      <a:round/>
                      <a:headEnd type="none" w="sm" len="sm"/>
                      <a:tailEnd type="none" w="sm" len="sm"/>
                    </a:lnR>
                    <a:lnT w="9525" cap="flat" cmpd="sng">
                      <a:solidFill>
                        <a:srgbClr val="E3E6EA"/>
                      </a:solidFill>
                      <a:prstDash val="solid"/>
                      <a:round/>
                      <a:headEnd type="none" w="sm" len="sm"/>
                      <a:tailEnd type="none" w="sm" len="sm"/>
                    </a:lnT>
                    <a:lnB w="9525" cap="flat" cmpd="sng">
                      <a:solidFill>
                        <a:srgbClr val="E3E6EA"/>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322" name="Google Shape;322;p15"/>
          <p:cNvSpPr/>
          <p:nvPr/>
        </p:nvSpPr>
        <p:spPr>
          <a:xfrm>
            <a:off x="548640" y="1691640"/>
            <a:ext cx="7315200" cy="411480"/>
          </a:xfrm>
          <a:prstGeom prst="rect">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5"/>
          <p:cNvSpPr txBox="1"/>
          <p:nvPr/>
        </p:nvSpPr>
        <p:spPr>
          <a:xfrm>
            <a:off x="640080" y="1691640"/>
            <a:ext cx="219456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Variable</a:t>
            </a:r>
            <a:endParaRPr sz="1250" b="0" i="0" u="none" strike="noStrike" cap="none">
              <a:solidFill>
                <a:schemeClr val="dk1"/>
              </a:solidFill>
              <a:latin typeface="Calibri"/>
              <a:ea typeface="Calibri"/>
              <a:cs typeface="Calibri"/>
              <a:sym typeface="Calibri"/>
            </a:endParaRPr>
          </a:p>
        </p:txBody>
      </p:sp>
      <p:sp>
        <p:nvSpPr>
          <p:cNvPr id="324" name="Google Shape;324;p15"/>
          <p:cNvSpPr txBox="1"/>
          <p:nvPr/>
        </p:nvSpPr>
        <p:spPr>
          <a:xfrm>
            <a:off x="3017520" y="1691640"/>
            <a:ext cx="155448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Pre-Float Mean</a:t>
            </a:r>
            <a:endParaRPr sz="1250" b="0" i="0" u="none" strike="noStrike" cap="none">
              <a:solidFill>
                <a:schemeClr val="dk1"/>
              </a:solidFill>
              <a:latin typeface="Calibri"/>
              <a:ea typeface="Calibri"/>
              <a:cs typeface="Calibri"/>
              <a:sym typeface="Calibri"/>
            </a:endParaRPr>
          </a:p>
        </p:txBody>
      </p:sp>
      <p:sp>
        <p:nvSpPr>
          <p:cNvPr id="325" name="Google Shape;325;p15"/>
          <p:cNvSpPr txBox="1"/>
          <p:nvPr/>
        </p:nvSpPr>
        <p:spPr>
          <a:xfrm>
            <a:off x="4754880" y="1691640"/>
            <a:ext cx="155448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Post-Float Mean</a:t>
            </a:r>
            <a:endParaRPr sz="1250" b="0" i="0" u="none" strike="noStrike" cap="none">
              <a:solidFill>
                <a:schemeClr val="dk1"/>
              </a:solidFill>
              <a:latin typeface="Calibri"/>
              <a:ea typeface="Calibri"/>
              <a:cs typeface="Calibri"/>
              <a:sym typeface="Calibri"/>
            </a:endParaRPr>
          </a:p>
        </p:txBody>
      </p:sp>
      <p:sp>
        <p:nvSpPr>
          <p:cNvPr id="326" name="Google Shape;326;p15"/>
          <p:cNvSpPr txBox="1"/>
          <p:nvPr/>
        </p:nvSpPr>
        <p:spPr>
          <a:xfrm>
            <a:off x="6492240" y="1691640"/>
            <a:ext cx="1280160" cy="4114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50"/>
              <a:buFont typeface="Calibri"/>
              <a:buNone/>
            </a:pPr>
            <a:r>
              <a:rPr lang="en-US" sz="1250" b="1" i="0" u="none" strike="noStrike" cap="none">
                <a:solidFill>
                  <a:srgbClr val="FFFFFF"/>
                </a:solidFill>
                <a:latin typeface="Calibri"/>
                <a:ea typeface="Calibri"/>
                <a:cs typeface="Calibri"/>
                <a:sym typeface="Calibri"/>
              </a:rPr>
              <a:t>Change</a:t>
            </a:r>
            <a:endParaRPr sz="1250" b="0" i="0" u="none" strike="noStrike" cap="none">
              <a:solidFill>
                <a:schemeClr val="dk1"/>
              </a:solidFill>
              <a:latin typeface="Calibri"/>
              <a:ea typeface="Calibri"/>
              <a:cs typeface="Calibri"/>
              <a:sym typeface="Calibri"/>
            </a:endParaRPr>
          </a:p>
        </p:txBody>
      </p:sp>
      <p:sp>
        <p:nvSpPr>
          <p:cNvPr id="327" name="Google Shape;327;p15"/>
          <p:cNvSpPr/>
          <p:nvPr/>
        </p:nvSpPr>
        <p:spPr>
          <a:xfrm>
            <a:off x="8092440" y="1691640"/>
            <a:ext cx="3566160" cy="4663440"/>
          </a:xfrm>
          <a:prstGeom prst="roundRect">
            <a:avLst>
              <a:gd name="adj" fmla="val 2564"/>
            </a:avLst>
          </a:prstGeom>
          <a:solidFill>
            <a:srgbClr val="1F6F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5"/>
          <p:cNvSpPr txBox="1"/>
          <p:nvPr/>
        </p:nvSpPr>
        <p:spPr>
          <a:xfrm>
            <a:off x="8321040" y="1874520"/>
            <a:ext cx="310896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READING THE FDI SIGNAL</a:t>
            </a:r>
            <a:endParaRPr sz="1100" b="0" i="0" u="none" strike="noStrike" cap="none">
              <a:solidFill>
                <a:schemeClr val="dk1"/>
              </a:solidFill>
              <a:latin typeface="Calibri"/>
              <a:ea typeface="Calibri"/>
              <a:cs typeface="Calibri"/>
              <a:sym typeface="Calibri"/>
            </a:endParaRPr>
          </a:p>
        </p:txBody>
      </p:sp>
      <p:sp>
        <p:nvSpPr>
          <p:cNvPr id="329" name="Google Shape;329;p15"/>
          <p:cNvSpPr txBox="1"/>
          <p:nvPr/>
        </p:nvSpPr>
        <p:spPr>
          <a:xfrm>
            <a:off x="8321040" y="2240280"/>
            <a:ext cx="3108960" cy="1188720"/>
          </a:xfrm>
          <a:prstGeom prst="rect">
            <a:avLst/>
          </a:prstGeom>
          <a:noFill/>
          <a:ln>
            <a:noFill/>
          </a:ln>
        </p:spPr>
        <p:txBody>
          <a:bodyPr spcFirstLastPara="1" wrap="square" lIns="91425" tIns="45700" rIns="91425" bIns="45700" anchor="ctr" anchorCtr="0">
            <a:noAutofit/>
          </a:bodyPr>
          <a:lstStyle/>
          <a:p>
            <a:pPr marL="0" marR="0" lvl="0" indent="0" algn="l" rtl="0">
              <a:lnSpc>
                <a:spcPct val="128000"/>
              </a:lnSpc>
              <a:spcBef>
                <a:spcPts val="0"/>
              </a:spcBef>
              <a:spcAft>
                <a:spcPts val="0"/>
              </a:spcAft>
              <a:buClr>
                <a:srgbClr val="FFFFFF"/>
              </a:buClr>
              <a:buSzPts val="1250"/>
              <a:buFont typeface="Calibri"/>
              <a:buNone/>
            </a:pPr>
            <a:r>
              <a:rPr lang="en-US" sz="1250" b="0" i="0" u="none" strike="noStrike" cap="none" dirty="0">
                <a:solidFill>
                  <a:srgbClr val="FFFFFF"/>
                </a:solidFill>
                <a:latin typeface="Calibri"/>
                <a:ea typeface="Calibri"/>
                <a:cs typeface="Calibri"/>
                <a:sym typeface="Calibri"/>
              </a:rPr>
              <a:t>Unconditional means show FDI falling after the float (-$2.83bn), yet the VECM's dummy coefficient is positive.</a:t>
            </a:r>
            <a:endParaRPr sz="1250" b="0" i="0" u="none" strike="noStrike" cap="none" dirty="0">
              <a:solidFill>
                <a:schemeClr val="dk1"/>
              </a:solidFill>
              <a:latin typeface="Calibri"/>
              <a:ea typeface="Calibri"/>
              <a:cs typeface="Calibri"/>
              <a:sym typeface="Calibri"/>
            </a:endParaRPr>
          </a:p>
        </p:txBody>
      </p:sp>
      <p:sp>
        <p:nvSpPr>
          <p:cNvPr id="330" name="Google Shape;330;p15"/>
          <p:cNvSpPr txBox="1"/>
          <p:nvPr/>
        </p:nvSpPr>
        <p:spPr>
          <a:xfrm>
            <a:off x="8321040" y="3520440"/>
            <a:ext cx="3108960" cy="2651760"/>
          </a:xfrm>
          <a:prstGeom prst="rect">
            <a:avLst/>
          </a:prstGeom>
          <a:noFill/>
          <a:ln>
            <a:noFill/>
          </a:ln>
        </p:spPr>
        <p:txBody>
          <a:bodyPr spcFirstLastPara="1" wrap="square" lIns="91425" tIns="45700" rIns="91425" bIns="45700" anchor="ctr" anchorCtr="0">
            <a:noAutofit/>
          </a:bodyPr>
          <a:lstStyle/>
          <a:p>
            <a:pPr marL="0" marR="0" lvl="0" indent="0" algn="l" rtl="0">
              <a:lnSpc>
                <a:spcPct val="133333"/>
              </a:lnSpc>
              <a:spcBef>
                <a:spcPts val="0"/>
              </a:spcBef>
              <a:spcAft>
                <a:spcPts val="0"/>
              </a:spcAft>
              <a:buClr>
                <a:srgbClr val="E6F5EF"/>
              </a:buClr>
              <a:buSzPts val="1200"/>
              <a:buFont typeface="Calibri"/>
              <a:buNone/>
            </a:pPr>
            <a:r>
              <a:rPr lang="en-US" sz="1200" b="0" i="1" u="none" strike="noStrike" cap="none" dirty="0">
                <a:solidFill>
                  <a:srgbClr val="E6F5EF"/>
                </a:solidFill>
                <a:latin typeface="Calibri"/>
                <a:ea typeface="Calibri"/>
                <a:cs typeface="Calibri"/>
                <a:sym typeface="Calibri"/>
              </a:rPr>
              <a:t>These are not contradictory: the mean compares raw averages, while the VECM coefficient is a shift estimated after controlling for lagged system dynamics. Both are reported so the reader can judge the balance of evidence.</a:t>
            </a:r>
            <a:endParaRPr sz="1200" b="0" i="0" u="none" strike="noStrike" cap="none" dirty="0">
              <a:solidFill>
                <a:schemeClr val="dk1"/>
              </a:solidFill>
              <a:latin typeface="Calibri"/>
              <a:ea typeface="Calibri"/>
              <a:cs typeface="Calibri"/>
              <a:sym typeface="Calibri"/>
            </a:endParaRPr>
          </a:p>
        </p:txBody>
      </p:sp>
      <p:sp>
        <p:nvSpPr>
          <p:cNvPr id="331" name="Google Shape;331;p15"/>
          <p:cNvSpPr txBox="1"/>
          <p:nvPr/>
        </p:nvSpPr>
        <p:spPr>
          <a:xfrm>
            <a:off x="548640" y="4846320"/>
            <a:ext cx="7315200" cy="1371600"/>
          </a:xfrm>
          <a:prstGeom prst="rect">
            <a:avLst/>
          </a:prstGeom>
          <a:noFill/>
          <a:ln>
            <a:noFill/>
          </a:ln>
        </p:spPr>
        <p:txBody>
          <a:bodyPr spcFirstLastPara="1" wrap="square" lIns="91425" tIns="45700" rIns="91425" bIns="45700" anchor="ctr" anchorCtr="0">
            <a:noAutofit/>
          </a:bodyPr>
          <a:lstStyle/>
          <a:p>
            <a:pPr marL="0" marR="0" lvl="0" indent="0" algn="l" rtl="0">
              <a:lnSpc>
                <a:spcPct val="136000"/>
              </a:lnSpc>
              <a:spcBef>
                <a:spcPts val="0"/>
              </a:spcBef>
              <a:spcAft>
                <a:spcPts val="0"/>
              </a:spcAft>
              <a:buClr>
                <a:srgbClr val="5B6472"/>
              </a:buClr>
              <a:buSzPts val="1250"/>
              <a:buFont typeface="Calibri"/>
              <a:buNone/>
            </a:pPr>
            <a:r>
              <a:rPr lang="en-US" sz="1250" b="0" i="1" u="none" strike="noStrike" cap="none" dirty="0">
                <a:solidFill>
                  <a:srgbClr val="5B6472"/>
                </a:solidFill>
                <a:latin typeface="Calibri"/>
                <a:ea typeface="Calibri"/>
                <a:cs typeface="Calibri"/>
                <a:sym typeface="Calibri"/>
              </a:rPr>
              <a:t>Reserves and FDI both sit lower post-float in raw terms, while lending rates eased and remittances edged up — a mixed picture rather than a uniform "improvement" or "deterioration."</a:t>
            </a:r>
            <a:endParaRPr sz="1250" b="0" i="0" u="none" strike="noStrike" cap="none" dirty="0">
              <a:solidFill>
                <a:schemeClr val="dk1"/>
              </a:solidFill>
              <a:latin typeface="Calibri"/>
              <a:ea typeface="Calibri"/>
              <a:cs typeface="Calibri"/>
              <a:sym typeface="Calibri"/>
            </a:endParaRPr>
          </a:p>
        </p:txBody>
      </p:sp>
      <p:sp>
        <p:nvSpPr>
          <p:cNvPr id="333" name="Google Shape;333;p15"/>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13</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16"/>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STAGE 4 · SHOCK PROPAGATION</a:t>
            </a:r>
            <a:endParaRPr sz="1200" b="0" i="0" u="none" strike="noStrike" cap="none">
              <a:solidFill>
                <a:schemeClr val="dk1"/>
              </a:solidFill>
              <a:latin typeface="Calibri"/>
              <a:ea typeface="Calibri"/>
              <a:cs typeface="Calibri"/>
              <a:sym typeface="Calibri"/>
            </a:endParaRPr>
          </a:p>
        </p:txBody>
      </p:sp>
      <p:sp>
        <p:nvSpPr>
          <p:cNvPr id="340" name="Google Shape;340;p16"/>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How Shocks Ripple Into Reserves (5-Year Horizon)</a:t>
            </a:r>
            <a:endParaRPr sz="3000" b="0" i="0" u="none" strike="noStrike" cap="none">
              <a:solidFill>
                <a:schemeClr val="dk1"/>
              </a:solidFill>
              <a:latin typeface="Calibri"/>
              <a:ea typeface="Calibri"/>
              <a:cs typeface="Calibri"/>
              <a:sym typeface="Calibri"/>
            </a:endParaRPr>
          </a:p>
        </p:txBody>
      </p:sp>
      <p:sp>
        <p:nvSpPr>
          <p:cNvPr id="341" name="Google Shape;341;p16"/>
          <p:cNvSpPr txBox="1"/>
          <p:nvPr/>
        </p:nvSpPr>
        <p:spPr>
          <a:xfrm>
            <a:off x="548640" y="1481328"/>
            <a:ext cx="1106424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250"/>
              <a:buFont typeface="Calibri"/>
              <a:buNone/>
            </a:pPr>
            <a:r>
              <a:rPr lang="en-US" sz="1250" b="0" i="0" u="none" strike="noStrike" cap="none">
                <a:solidFill>
                  <a:srgbClr val="5B6472"/>
                </a:solidFill>
                <a:latin typeface="Calibri"/>
                <a:ea typeface="Calibri"/>
                <a:cs typeface="Calibri"/>
                <a:sym typeface="Calibri"/>
              </a:rPr>
              <a:t>Each panel traces reserves' response to a one-time shock in the labelled variable, with a 95% confidence band (orthogonalised responses).</a:t>
            </a:r>
            <a:endParaRPr sz="1250" b="0" i="0" u="none" strike="noStrike" cap="none">
              <a:solidFill>
                <a:schemeClr val="dk1"/>
              </a:solidFill>
              <a:latin typeface="Calibri"/>
              <a:ea typeface="Calibri"/>
              <a:cs typeface="Calibri"/>
              <a:sym typeface="Calibri"/>
            </a:endParaRPr>
          </a:p>
        </p:txBody>
      </p:sp>
      <p:sp>
        <p:nvSpPr>
          <p:cNvPr id="342" name="Google Shape;342;p16"/>
          <p:cNvSpPr/>
          <p:nvPr/>
        </p:nvSpPr>
        <p:spPr>
          <a:xfrm>
            <a:off x="502920" y="1965960"/>
            <a:ext cx="11201400" cy="2103120"/>
          </a:xfrm>
          <a:prstGeom prst="roundRect">
            <a:avLst>
              <a:gd name="adj" fmla="val 2609"/>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3" name="Google Shape;343;p16" descr="irf_row_reserves.png"/>
          <p:cNvPicPr preferRelativeResize="0"/>
          <p:nvPr/>
        </p:nvPicPr>
        <p:blipFill rotWithShape="1">
          <a:blip r:embed="rId3">
            <a:alphaModFix/>
          </a:blip>
          <a:srcRect/>
          <a:stretch/>
        </p:blipFill>
        <p:spPr>
          <a:xfrm>
            <a:off x="685800" y="2103120"/>
            <a:ext cx="10835640" cy="1432023"/>
          </a:xfrm>
          <a:prstGeom prst="rect">
            <a:avLst/>
          </a:prstGeom>
          <a:noFill/>
          <a:ln>
            <a:noFill/>
          </a:ln>
        </p:spPr>
      </p:pic>
      <p:sp>
        <p:nvSpPr>
          <p:cNvPr id="344" name="Google Shape;344;p16"/>
          <p:cNvSpPr txBox="1"/>
          <p:nvPr/>
        </p:nvSpPr>
        <p:spPr>
          <a:xfrm>
            <a:off x="548640" y="4160520"/>
            <a:ext cx="1106424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5B6472"/>
              </a:buClr>
              <a:buSzPts val="1050"/>
              <a:buFont typeface="Calibri"/>
              <a:buNone/>
            </a:pPr>
            <a:r>
              <a:rPr lang="en-US" sz="1050" b="0" i="1" u="none" strike="noStrike" cap="none" dirty="0">
                <a:solidFill>
                  <a:srgbClr val="5B6472"/>
                </a:solidFill>
                <a:latin typeface="Calibri"/>
                <a:ea typeface="Calibri"/>
                <a:cs typeface="Calibri"/>
                <a:sym typeface="Calibri"/>
              </a:rPr>
              <a:t>Horizon runs left to right within each panel, Year 0 to Year 5.</a:t>
            </a:r>
            <a:endParaRPr sz="1050" b="0" i="0" u="none" strike="noStrike" cap="none" dirty="0">
              <a:solidFill>
                <a:schemeClr val="dk1"/>
              </a:solidFill>
              <a:latin typeface="Calibri"/>
              <a:ea typeface="Calibri"/>
              <a:cs typeface="Calibri"/>
              <a:sym typeface="Calibri"/>
            </a:endParaRPr>
          </a:p>
        </p:txBody>
      </p:sp>
      <p:sp>
        <p:nvSpPr>
          <p:cNvPr id="345" name="Google Shape;345;p16"/>
          <p:cNvSpPr/>
          <p:nvPr/>
        </p:nvSpPr>
        <p:spPr>
          <a:xfrm>
            <a:off x="548640" y="4709160"/>
            <a:ext cx="11064240" cy="1417320"/>
          </a:xfrm>
          <a:prstGeom prst="roundRect">
            <a:avLst>
              <a:gd name="adj" fmla="val 5161"/>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6"/>
          <p:cNvSpPr txBox="1"/>
          <p:nvPr/>
        </p:nvSpPr>
        <p:spPr>
          <a:xfrm>
            <a:off x="822960" y="4846320"/>
            <a:ext cx="10424160" cy="1188720"/>
          </a:xfrm>
          <a:prstGeom prst="rect">
            <a:avLst/>
          </a:prstGeom>
          <a:noFill/>
          <a:ln>
            <a:noFill/>
          </a:ln>
        </p:spPr>
        <p:txBody>
          <a:bodyPr spcFirstLastPara="1" wrap="square" lIns="91425" tIns="45700" rIns="91425" bIns="45700" anchor="t" anchorCtr="0">
            <a:noAutofit/>
          </a:bodyPr>
          <a:lstStyle/>
          <a:p>
            <a:pPr marL="0" marR="0" lvl="0" indent="0" algn="l" rtl="0">
              <a:lnSpc>
                <a:spcPct val="118518"/>
              </a:lnSpc>
              <a:spcBef>
                <a:spcPts val="0"/>
              </a:spcBef>
              <a:spcAft>
                <a:spcPts val="0"/>
              </a:spcAft>
              <a:buClr>
                <a:srgbClr val="10243E"/>
              </a:buClr>
              <a:buSzPts val="1350"/>
              <a:buFont typeface="Calibri"/>
              <a:buNone/>
            </a:pPr>
            <a:r>
              <a:rPr lang="en-US" sz="1350" b="1" i="0" u="none" strike="noStrike" cap="none" dirty="0">
                <a:solidFill>
                  <a:srgbClr val="10243E"/>
                </a:solidFill>
                <a:latin typeface="Calibri"/>
                <a:ea typeface="Calibri"/>
                <a:cs typeface="Calibri"/>
                <a:sym typeface="Calibri"/>
              </a:rPr>
              <a:t>Explanation:  </a:t>
            </a:r>
            <a:r>
              <a:rPr lang="en-US" sz="1250" b="0" i="0" u="none" strike="noStrike" cap="none" dirty="0">
                <a:solidFill>
                  <a:srgbClr val="1A1A1A"/>
                </a:solidFill>
                <a:latin typeface="Calibri"/>
                <a:ea typeface="Calibri"/>
                <a:cs typeface="Calibri"/>
                <a:sym typeface="Calibri"/>
              </a:rPr>
              <a:t>shocks to the exchange rate move reserves almost as strongly as reserves' own shocks do, and the effect builds rather than fades over the horizon — a signature of the cointegrated, I(1) system. FDI and lending-rate shocks matter too, but on a far smaller scale. Confidence bands widen quickly, reflecting the sample's modest 20-year length, so treat magnitudes as directional rather than precise. The full 25-panel system grid (every variable's response to every shock) appears in the companion report.</a:t>
            </a:r>
            <a:endParaRPr sz="135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17"/>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STAGE 4 · SHOCK PROPAGATION</a:t>
            </a:r>
            <a:endParaRPr sz="1200" b="0" i="0" u="none" strike="noStrike" cap="none">
              <a:solidFill>
                <a:schemeClr val="dk1"/>
              </a:solidFill>
              <a:latin typeface="Calibri"/>
              <a:ea typeface="Calibri"/>
              <a:cs typeface="Calibri"/>
              <a:sym typeface="Calibri"/>
            </a:endParaRPr>
          </a:p>
        </p:txBody>
      </p:sp>
      <p:sp>
        <p:nvSpPr>
          <p:cNvPr id="355" name="Google Shape;355;p17"/>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What Drives the Forecast Error in Reserves?</a:t>
            </a:r>
            <a:endParaRPr sz="3000" b="0" i="0" u="none" strike="noStrike" cap="none">
              <a:solidFill>
                <a:schemeClr val="dk1"/>
              </a:solidFill>
              <a:latin typeface="Calibri"/>
              <a:ea typeface="Calibri"/>
              <a:cs typeface="Calibri"/>
              <a:sym typeface="Calibri"/>
            </a:endParaRPr>
          </a:p>
        </p:txBody>
      </p:sp>
      <p:pic>
        <p:nvPicPr>
          <p:cNvPr id="356" name="Google Shape;356;p17"/>
          <p:cNvPicPr preferRelativeResize="0"/>
          <p:nvPr/>
        </p:nvPicPr>
        <p:blipFill rotWithShape="1">
          <a:blip r:embed="rId3">
            <a:alphaModFix/>
          </a:blip>
          <a:srcRect/>
          <a:stretch/>
        </p:blipFill>
        <p:spPr>
          <a:xfrm>
            <a:off x="457200" y="1417320"/>
            <a:ext cx="5120640" cy="4297680"/>
          </a:xfrm>
          <a:prstGeom prst="rect">
            <a:avLst/>
          </a:prstGeom>
          <a:noFill/>
          <a:ln>
            <a:noFill/>
          </a:ln>
        </p:spPr>
      </p:pic>
      <p:sp>
        <p:nvSpPr>
          <p:cNvPr id="357" name="Google Shape;357;p17"/>
          <p:cNvSpPr txBox="1"/>
          <p:nvPr/>
        </p:nvSpPr>
        <p:spPr>
          <a:xfrm>
            <a:off x="457200" y="2834640"/>
            <a:ext cx="5120640" cy="54864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10243E"/>
              </a:buClr>
              <a:buSzPts val="2600"/>
              <a:buFont typeface="Cambria"/>
              <a:buNone/>
            </a:pPr>
            <a:r>
              <a:rPr lang="en-US" sz="2600" b="1" i="0" u="none" strike="noStrike" cap="none">
                <a:solidFill>
                  <a:srgbClr val="10243E"/>
                </a:solidFill>
                <a:latin typeface="Cambria"/>
                <a:ea typeface="Cambria"/>
                <a:cs typeface="Cambria"/>
                <a:sym typeface="Cambria"/>
              </a:rPr>
              <a:t>95.7%</a:t>
            </a:r>
            <a:endParaRPr sz="2600" b="0" i="0" u="none" strike="noStrike" cap="none">
              <a:solidFill>
                <a:schemeClr val="dk1"/>
              </a:solidFill>
              <a:latin typeface="Calibri"/>
              <a:ea typeface="Calibri"/>
              <a:cs typeface="Calibri"/>
              <a:sym typeface="Calibri"/>
            </a:endParaRPr>
          </a:p>
        </p:txBody>
      </p:sp>
      <p:sp>
        <p:nvSpPr>
          <p:cNvPr id="358" name="Google Shape;358;p17"/>
          <p:cNvSpPr txBox="1"/>
          <p:nvPr/>
        </p:nvSpPr>
        <p:spPr>
          <a:xfrm>
            <a:off x="457200" y="3337560"/>
            <a:ext cx="5120640" cy="36576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5B6472"/>
              </a:buClr>
              <a:buSzPts val="1150"/>
              <a:buFont typeface="Calibri"/>
              <a:buNone/>
            </a:pPr>
            <a:r>
              <a:rPr lang="en-US" sz="1150" b="0" i="0" u="none" strike="noStrike" cap="none">
                <a:solidFill>
                  <a:srgbClr val="5B6472"/>
                </a:solidFill>
                <a:latin typeface="Calibri"/>
                <a:ea typeface="Calibri"/>
                <a:cs typeface="Calibri"/>
                <a:sym typeface="Calibri"/>
              </a:rPr>
              <a:t>from the exchange rate alone</a:t>
            </a:r>
            <a:endParaRPr sz="1150" b="0" i="0" u="none" strike="noStrike" cap="none">
              <a:solidFill>
                <a:schemeClr val="dk1"/>
              </a:solidFill>
              <a:latin typeface="Calibri"/>
              <a:ea typeface="Calibri"/>
              <a:cs typeface="Calibri"/>
              <a:sym typeface="Calibri"/>
            </a:endParaRPr>
          </a:p>
        </p:txBody>
      </p:sp>
      <p:pic>
        <p:nvPicPr>
          <p:cNvPr id="359" name="Google Shape;359;p17" descr="fevd_charts_3.png"/>
          <p:cNvPicPr preferRelativeResize="0"/>
          <p:nvPr/>
        </p:nvPicPr>
        <p:blipFill rotWithShape="1">
          <a:blip r:embed="rId4">
            <a:alphaModFix/>
          </a:blip>
          <a:srcRect/>
          <a:stretch/>
        </p:blipFill>
        <p:spPr>
          <a:xfrm>
            <a:off x="6080760" y="1417320"/>
            <a:ext cx="4318020" cy="4434840"/>
          </a:xfrm>
          <a:prstGeom prst="rect">
            <a:avLst/>
          </a:prstGeom>
          <a:noFill/>
          <a:ln>
            <a:noFill/>
          </a:ln>
        </p:spPr>
      </p:pic>
      <p:sp>
        <p:nvSpPr>
          <p:cNvPr id="360" name="Google Shape;360;p17"/>
          <p:cNvSpPr/>
          <p:nvPr/>
        </p:nvSpPr>
        <p:spPr>
          <a:xfrm>
            <a:off x="548640" y="5760720"/>
            <a:ext cx="11064240" cy="777240"/>
          </a:xfrm>
          <a:prstGeom prst="roundRect">
            <a:avLst>
              <a:gd name="adj" fmla="val 7059"/>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7"/>
          <p:cNvSpPr txBox="1"/>
          <p:nvPr/>
        </p:nvSpPr>
        <p:spPr>
          <a:xfrm>
            <a:off x="777240" y="5870448"/>
            <a:ext cx="10607040" cy="594360"/>
          </a:xfrm>
          <a:prstGeom prst="rect">
            <a:avLst/>
          </a:prstGeom>
          <a:noFill/>
          <a:ln>
            <a:noFill/>
          </a:ln>
        </p:spPr>
        <p:txBody>
          <a:bodyPr spcFirstLastPara="1" wrap="square" lIns="91425" tIns="45700" rIns="91425" bIns="45700" anchor="t" anchorCtr="0">
            <a:noAutofit/>
          </a:bodyPr>
          <a:lstStyle/>
          <a:p>
            <a:pPr marL="0" marR="0" lvl="0" indent="0" algn="l" rtl="0">
              <a:lnSpc>
                <a:spcPct val="112000"/>
              </a:lnSpc>
              <a:spcBef>
                <a:spcPts val="0"/>
              </a:spcBef>
              <a:spcAft>
                <a:spcPts val="0"/>
              </a:spcAft>
              <a:buClr>
                <a:srgbClr val="10243E"/>
              </a:buClr>
              <a:buSzPts val="1250"/>
              <a:buFont typeface="Calibri"/>
              <a:buNone/>
            </a:pPr>
            <a:r>
              <a:rPr lang="en-US" sz="1250" b="1" i="0" u="none" strike="noStrike" cap="none" dirty="0">
                <a:solidFill>
                  <a:srgbClr val="10243E"/>
                </a:solidFill>
                <a:latin typeface="Calibri"/>
                <a:ea typeface="Calibri"/>
                <a:cs typeface="Calibri"/>
                <a:sym typeface="Calibri"/>
              </a:rPr>
              <a:t>The exchange rate explains 95.7% </a:t>
            </a:r>
            <a:r>
              <a:rPr lang="en-US" sz="1250" b="0" i="0" u="none" strike="noStrike" cap="none" dirty="0">
                <a:solidFill>
                  <a:srgbClr val="1A1A1A"/>
                </a:solidFill>
                <a:latin typeface="Calibri"/>
                <a:ea typeface="Calibri"/>
                <a:cs typeface="Calibri"/>
                <a:sym typeface="Calibri"/>
              </a:rPr>
              <a:t>of the 5-year-ahead forecast error variance in reserves — reserves' own shocks explain only 3.7%. The same pattern (right) repeats across nearly every variable, except FDI, where own-shocks retain a larger 17.8% share.</a:t>
            </a:r>
            <a:endParaRPr sz="125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18"/>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SYNTHESIS</a:t>
            </a:r>
            <a:endParaRPr sz="1200" b="0" i="0" u="none" strike="noStrike" cap="none">
              <a:solidFill>
                <a:schemeClr val="dk1"/>
              </a:solidFill>
              <a:latin typeface="Calibri"/>
              <a:ea typeface="Calibri"/>
              <a:cs typeface="Calibri"/>
              <a:sym typeface="Calibri"/>
            </a:endParaRPr>
          </a:p>
        </p:txBody>
      </p:sp>
      <p:sp>
        <p:nvSpPr>
          <p:cNvPr id="370" name="Google Shape;370;p18"/>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Five Key Findings</a:t>
            </a:r>
            <a:endParaRPr sz="3000" b="0" i="0" u="none" strike="noStrike" cap="none">
              <a:solidFill>
                <a:schemeClr val="dk1"/>
              </a:solidFill>
              <a:latin typeface="Calibri"/>
              <a:ea typeface="Calibri"/>
              <a:cs typeface="Calibri"/>
              <a:sym typeface="Calibri"/>
            </a:endParaRPr>
          </a:p>
        </p:txBody>
      </p:sp>
      <p:sp>
        <p:nvSpPr>
          <p:cNvPr id="371" name="Google Shape;371;p18"/>
          <p:cNvSpPr/>
          <p:nvPr/>
        </p:nvSpPr>
        <p:spPr>
          <a:xfrm>
            <a:off x="548640" y="1600200"/>
            <a:ext cx="502920" cy="502920"/>
          </a:xfrm>
          <a:prstGeom prst="roundRect">
            <a:avLst>
              <a:gd name="adj" fmla="val 50909"/>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8"/>
          <p:cNvSpPr txBox="1"/>
          <p:nvPr/>
        </p:nvSpPr>
        <p:spPr>
          <a:xfrm>
            <a:off x="548640" y="1600200"/>
            <a:ext cx="50292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1800" b="1" i="0" u="none" strike="noStrike" cap="none">
                <a:solidFill>
                  <a:srgbClr val="D4AF37"/>
                </a:solidFill>
                <a:latin typeface="Cambria"/>
                <a:ea typeface="Cambria"/>
                <a:cs typeface="Cambria"/>
                <a:sym typeface="Cambria"/>
              </a:rPr>
              <a:t>1</a:t>
            </a:r>
            <a:endParaRPr sz="1800" b="0" i="0" u="none" strike="noStrike" cap="none">
              <a:solidFill>
                <a:schemeClr val="dk1"/>
              </a:solidFill>
              <a:latin typeface="Calibri"/>
              <a:ea typeface="Calibri"/>
              <a:cs typeface="Calibri"/>
              <a:sym typeface="Calibri"/>
            </a:endParaRPr>
          </a:p>
        </p:txBody>
      </p:sp>
      <p:sp>
        <p:nvSpPr>
          <p:cNvPr id="373" name="Google Shape;373;p18"/>
          <p:cNvSpPr txBox="1"/>
          <p:nvPr/>
        </p:nvSpPr>
        <p:spPr>
          <a:xfrm>
            <a:off x="1234440" y="1554480"/>
            <a:ext cx="2743200" cy="822960"/>
          </a:xfrm>
          <a:prstGeom prst="rect">
            <a:avLst/>
          </a:prstGeom>
          <a:noFill/>
          <a:ln>
            <a:noFill/>
          </a:ln>
        </p:spPr>
        <p:txBody>
          <a:bodyPr spcFirstLastPara="1" wrap="square" lIns="91425" tIns="45700" rIns="91425" bIns="45700" anchor="t" anchorCtr="0">
            <a:noAutofit/>
          </a:bodyPr>
          <a:lstStyle/>
          <a:p>
            <a:pPr marL="0" marR="0" lvl="0" indent="0" algn="l" rtl="0">
              <a:lnSpc>
                <a:spcPct val="118518"/>
              </a:lnSpc>
              <a:spcBef>
                <a:spcPts val="0"/>
              </a:spcBef>
              <a:spcAft>
                <a:spcPts val="0"/>
              </a:spcAft>
              <a:buClr>
                <a:srgbClr val="10243E"/>
              </a:buClr>
              <a:buSzPts val="1350"/>
              <a:buFont typeface="Calibri"/>
              <a:buNone/>
            </a:pPr>
            <a:r>
              <a:rPr lang="en-US" sz="1350" b="1" i="0" u="none" strike="noStrike" cap="none">
                <a:solidFill>
                  <a:srgbClr val="10243E"/>
                </a:solidFill>
                <a:latin typeface="Calibri"/>
                <a:ea typeface="Calibri"/>
                <a:cs typeface="Calibri"/>
                <a:sym typeface="Calibri"/>
              </a:rPr>
              <a:t>Fast equilibrium correction</a:t>
            </a:r>
            <a:endParaRPr sz="1350" b="0" i="0" u="none" strike="noStrike" cap="none">
              <a:solidFill>
                <a:schemeClr val="dk1"/>
              </a:solidFill>
              <a:latin typeface="Calibri"/>
              <a:ea typeface="Calibri"/>
              <a:cs typeface="Calibri"/>
              <a:sym typeface="Calibri"/>
            </a:endParaRPr>
          </a:p>
        </p:txBody>
      </p:sp>
      <p:sp>
        <p:nvSpPr>
          <p:cNvPr id="374" name="Google Shape;374;p18"/>
          <p:cNvSpPr txBox="1"/>
          <p:nvPr/>
        </p:nvSpPr>
        <p:spPr>
          <a:xfrm>
            <a:off x="4160520" y="1554480"/>
            <a:ext cx="7452360" cy="822960"/>
          </a:xfrm>
          <a:prstGeom prst="rect">
            <a:avLst/>
          </a:prstGeom>
          <a:noFill/>
          <a:ln>
            <a:noFill/>
          </a:ln>
        </p:spPr>
        <p:txBody>
          <a:bodyPr spcFirstLastPara="1" wrap="square" lIns="91425" tIns="45700" rIns="91425" bIns="45700" anchor="t"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a:solidFill>
                  <a:srgbClr val="1A1A1A"/>
                </a:solidFill>
                <a:latin typeface="Calibri"/>
                <a:ea typeface="Calibri"/>
                <a:cs typeface="Calibri"/>
                <a:sym typeface="Calibri"/>
              </a:rPr>
              <a:t>Reserves close the bulk of any deviation from their long-run relationships within about a year — active management, not drift.</a:t>
            </a:r>
            <a:endParaRPr sz="1250" b="0" i="0" u="none" strike="noStrike" cap="none">
              <a:solidFill>
                <a:schemeClr val="dk1"/>
              </a:solidFill>
              <a:latin typeface="Calibri"/>
              <a:ea typeface="Calibri"/>
              <a:cs typeface="Calibri"/>
              <a:sym typeface="Calibri"/>
            </a:endParaRPr>
          </a:p>
        </p:txBody>
      </p:sp>
      <p:sp>
        <p:nvSpPr>
          <p:cNvPr id="375" name="Google Shape;375;p18"/>
          <p:cNvSpPr/>
          <p:nvPr/>
        </p:nvSpPr>
        <p:spPr>
          <a:xfrm>
            <a:off x="548640" y="2532888"/>
            <a:ext cx="502920" cy="502920"/>
          </a:xfrm>
          <a:prstGeom prst="roundRect">
            <a:avLst>
              <a:gd name="adj" fmla="val 50909"/>
            </a:avLst>
          </a:prstGeom>
          <a:solidFill>
            <a:srgbClr val="1F6F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8"/>
          <p:cNvSpPr txBox="1"/>
          <p:nvPr/>
        </p:nvSpPr>
        <p:spPr>
          <a:xfrm>
            <a:off x="548640" y="2532888"/>
            <a:ext cx="50292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1800" b="1" i="0" u="none" strike="noStrike" cap="none">
                <a:solidFill>
                  <a:srgbClr val="D4AF37"/>
                </a:solidFill>
                <a:latin typeface="Cambria"/>
                <a:ea typeface="Cambria"/>
                <a:cs typeface="Cambria"/>
                <a:sym typeface="Cambria"/>
              </a:rPr>
              <a:t>2</a:t>
            </a:r>
            <a:endParaRPr sz="1800" b="0" i="0" u="none" strike="noStrike" cap="none">
              <a:solidFill>
                <a:schemeClr val="dk1"/>
              </a:solidFill>
              <a:latin typeface="Calibri"/>
              <a:ea typeface="Calibri"/>
              <a:cs typeface="Calibri"/>
              <a:sym typeface="Calibri"/>
            </a:endParaRPr>
          </a:p>
        </p:txBody>
      </p:sp>
      <p:sp>
        <p:nvSpPr>
          <p:cNvPr id="377" name="Google Shape;377;p18"/>
          <p:cNvSpPr txBox="1"/>
          <p:nvPr/>
        </p:nvSpPr>
        <p:spPr>
          <a:xfrm>
            <a:off x="1234440" y="2487168"/>
            <a:ext cx="2743200" cy="822960"/>
          </a:xfrm>
          <a:prstGeom prst="rect">
            <a:avLst/>
          </a:prstGeom>
          <a:noFill/>
          <a:ln>
            <a:noFill/>
          </a:ln>
        </p:spPr>
        <p:txBody>
          <a:bodyPr spcFirstLastPara="1" wrap="square" lIns="91425" tIns="45700" rIns="91425" bIns="45700" anchor="t" anchorCtr="0">
            <a:noAutofit/>
          </a:bodyPr>
          <a:lstStyle/>
          <a:p>
            <a:pPr marL="0" marR="0" lvl="0" indent="0" algn="l" rtl="0">
              <a:lnSpc>
                <a:spcPct val="118518"/>
              </a:lnSpc>
              <a:spcBef>
                <a:spcPts val="0"/>
              </a:spcBef>
              <a:spcAft>
                <a:spcPts val="0"/>
              </a:spcAft>
              <a:buClr>
                <a:srgbClr val="10243E"/>
              </a:buClr>
              <a:buSzPts val="1350"/>
              <a:buFont typeface="Calibri"/>
              <a:buNone/>
            </a:pPr>
            <a:r>
              <a:rPr lang="en-US" sz="1350" b="1" i="0" u="none" strike="noStrike" cap="none">
                <a:solidFill>
                  <a:srgbClr val="10243E"/>
                </a:solidFill>
                <a:latin typeface="Calibri"/>
                <a:ea typeface="Calibri"/>
                <a:cs typeface="Calibri"/>
                <a:sym typeface="Calibri"/>
              </a:rPr>
              <a:t>The exchange rate leads reserves</a:t>
            </a:r>
            <a:endParaRPr sz="1350" b="0" i="0" u="none" strike="noStrike" cap="none">
              <a:solidFill>
                <a:schemeClr val="dk1"/>
              </a:solidFill>
              <a:latin typeface="Calibri"/>
              <a:ea typeface="Calibri"/>
              <a:cs typeface="Calibri"/>
              <a:sym typeface="Calibri"/>
            </a:endParaRPr>
          </a:p>
        </p:txBody>
      </p:sp>
      <p:sp>
        <p:nvSpPr>
          <p:cNvPr id="378" name="Google Shape;378;p18"/>
          <p:cNvSpPr txBox="1"/>
          <p:nvPr/>
        </p:nvSpPr>
        <p:spPr>
          <a:xfrm>
            <a:off x="4160520" y="2487168"/>
            <a:ext cx="7452360" cy="822960"/>
          </a:xfrm>
          <a:prstGeom prst="rect">
            <a:avLst/>
          </a:prstGeom>
          <a:noFill/>
          <a:ln>
            <a:noFill/>
          </a:ln>
        </p:spPr>
        <p:txBody>
          <a:bodyPr spcFirstLastPara="1" wrap="square" lIns="91425" tIns="45700" rIns="91425" bIns="45700" anchor="t"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a:solidFill>
                  <a:srgbClr val="1A1A1A"/>
                </a:solidFill>
                <a:latin typeface="Calibri"/>
                <a:ea typeface="Calibri"/>
                <a:cs typeface="Calibri"/>
                <a:sym typeface="Calibri"/>
              </a:rPr>
              <a:t>A weaker naira precedes reserve drawdowns the following year, consistent with reserves being spent to defend the currency.</a:t>
            </a:r>
            <a:endParaRPr sz="1250" b="0" i="0" u="none" strike="noStrike" cap="none">
              <a:solidFill>
                <a:schemeClr val="dk1"/>
              </a:solidFill>
              <a:latin typeface="Calibri"/>
              <a:ea typeface="Calibri"/>
              <a:cs typeface="Calibri"/>
              <a:sym typeface="Calibri"/>
            </a:endParaRPr>
          </a:p>
        </p:txBody>
      </p:sp>
      <p:sp>
        <p:nvSpPr>
          <p:cNvPr id="379" name="Google Shape;379;p18"/>
          <p:cNvSpPr/>
          <p:nvPr/>
        </p:nvSpPr>
        <p:spPr>
          <a:xfrm>
            <a:off x="548640" y="3465576"/>
            <a:ext cx="502920" cy="502920"/>
          </a:xfrm>
          <a:prstGeom prst="roundRect">
            <a:avLst>
              <a:gd name="adj" fmla="val 50909"/>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18"/>
          <p:cNvSpPr txBox="1"/>
          <p:nvPr/>
        </p:nvSpPr>
        <p:spPr>
          <a:xfrm>
            <a:off x="548640" y="3465576"/>
            <a:ext cx="50292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1800" b="1" i="0" u="none" strike="noStrike" cap="none">
                <a:solidFill>
                  <a:srgbClr val="D4AF37"/>
                </a:solidFill>
                <a:latin typeface="Cambria"/>
                <a:ea typeface="Cambria"/>
                <a:cs typeface="Cambria"/>
                <a:sym typeface="Cambria"/>
              </a:rPr>
              <a:t>3</a:t>
            </a:r>
            <a:endParaRPr sz="1800" b="0" i="0" u="none" strike="noStrike" cap="none">
              <a:solidFill>
                <a:schemeClr val="dk1"/>
              </a:solidFill>
              <a:latin typeface="Calibri"/>
              <a:ea typeface="Calibri"/>
              <a:cs typeface="Calibri"/>
              <a:sym typeface="Calibri"/>
            </a:endParaRPr>
          </a:p>
        </p:txBody>
      </p:sp>
      <p:sp>
        <p:nvSpPr>
          <p:cNvPr id="381" name="Google Shape;381;p18"/>
          <p:cNvSpPr txBox="1"/>
          <p:nvPr/>
        </p:nvSpPr>
        <p:spPr>
          <a:xfrm>
            <a:off x="1234440" y="3419856"/>
            <a:ext cx="2743200" cy="822960"/>
          </a:xfrm>
          <a:prstGeom prst="rect">
            <a:avLst/>
          </a:prstGeom>
          <a:noFill/>
          <a:ln>
            <a:noFill/>
          </a:ln>
        </p:spPr>
        <p:txBody>
          <a:bodyPr spcFirstLastPara="1" wrap="square" lIns="91425" tIns="45700" rIns="91425" bIns="45700" anchor="t" anchorCtr="0">
            <a:noAutofit/>
          </a:bodyPr>
          <a:lstStyle/>
          <a:p>
            <a:pPr marL="0" marR="0" lvl="0" indent="0" algn="l" rtl="0">
              <a:lnSpc>
                <a:spcPct val="118518"/>
              </a:lnSpc>
              <a:spcBef>
                <a:spcPts val="0"/>
              </a:spcBef>
              <a:spcAft>
                <a:spcPts val="0"/>
              </a:spcAft>
              <a:buClr>
                <a:srgbClr val="10243E"/>
              </a:buClr>
              <a:buSzPts val="1350"/>
              <a:buFont typeface="Calibri"/>
              <a:buNone/>
            </a:pPr>
            <a:r>
              <a:rPr lang="en-US" sz="1350" b="1" i="0" u="none" strike="noStrike" cap="none">
                <a:solidFill>
                  <a:srgbClr val="10243E"/>
                </a:solidFill>
                <a:latin typeface="Calibri"/>
                <a:ea typeface="Calibri"/>
                <a:cs typeface="Calibri"/>
                <a:sym typeface="Calibri"/>
              </a:rPr>
              <a:t>A genuine 2023 regime change</a:t>
            </a:r>
            <a:endParaRPr sz="1350" b="0" i="0" u="none" strike="noStrike" cap="none">
              <a:solidFill>
                <a:schemeClr val="dk1"/>
              </a:solidFill>
              <a:latin typeface="Calibri"/>
              <a:ea typeface="Calibri"/>
              <a:cs typeface="Calibri"/>
              <a:sym typeface="Calibri"/>
            </a:endParaRPr>
          </a:p>
        </p:txBody>
      </p:sp>
      <p:sp>
        <p:nvSpPr>
          <p:cNvPr id="382" name="Google Shape;382;p18"/>
          <p:cNvSpPr txBox="1"/>
          <p:nvPr/>
        </p:nvSpPr>
        <p:spPr>
          <a:xfrm>
            <a:off x="4160520" y="3419856"/>
            <a:ext cx="7452360" cy="822960"/>
          </a:xfrm>
          <a:prstGeom prst="rect">
            <a:avLst/>
          </a:prstGeom>
          <a:noFill/>
          <a:ln>
            <a:noFill/>
          </a:ln>
        </p:spPr>
        <p:txBody>
          <a:bodyPr spcFirstLastPara="1" wrap="square" lIns="91425" tIns="45700" rIns="91425" bIns="45700" anchor="t"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dirty="0">
                <a:solidFill>
                  <a:srgbClr val="1A1A1A"/>
                </a:solidFill>
                <a:latin typeface="Calibri"/>
                <a:ea typeface="Calibri"/>
                <a:cs typeface="Calibri"/>
                <a:sym typeface="Calibri"/>
              </a:rPr>
              <a:t>The FX-float dummy is significant in four of five equations — pre- and post-2023 dynamics should be pooled with care.</a:t>
            </a:r>
            <a:endParaRPr sz="1250" b="0" i="0" u="none" strike="noStrike" cap="none" dirty="0">
              <a:solidFill>
                <a:schemeClr val="dk1"/>
              </a:solidFill>
              <a:latin typeface="Calibri"/>
              <a:ea typeface="Calibri"/>
              <a:cs typeface="Calibri"/>
              <a:sym typeface="Calibri"/>
            </a:endParaRPr>
          </a:p>
        </p:txBody>
      </p:sp>
      <p:sp>
        <p:nvSpPr>
          <p:cNvPr id="383" name="Google Shape;383;p18"/>
          <p:cNvSpPr/>
          <p:nvPr/>
        </p:nvSpPr>
        <p:spPr>
          <a:xfrm>
            <a:off x="548640" y="4398264"/>
            <a:ext cx="502920" cy="502920"/>
          </a:xfrm>
          <a:prstGeom prst="roundRect">
            <a:avLst>
              <a:gd name="adj" fmla="val 50909"/>
            </a:avLst>
          </a:prstGeom>
          <a:solidFill>
            <a:srgbClr val="1F6F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8"/>
          <p:cNvSpPr txBox="1"/>
          <p:nvPr/>
        </p:nvSpPr>
        <p:spPr>
          <a:xfrm>
            <a:off x="548640" y="4398264"/>
            <a:ext cx="50292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1800" b="1" i="0" u="none" strike="noStrike" cap="none">
                <a:solidFill>
                  <a:srgbClr val="D4AF37"/>
                </a:solidFill>
                <a:latin typeface="Cambria"/>
                <a:ea typeface="Cambria"/>
                <a:cs typeface="Cambria"/>
                <a:sym typeface="Cambria"/>
              </a:rPr>
              <a:t>4</a:t>
            </a:r>
            <a:endParaRPr sz="1800" b="0" i="0" u="none" strike="noStrike" cap="none">
              <a:solidFill>
                <a:schemeClr val="dk1"/>
              </a:solidFill>
              <a:latin typeface="Calibri"/>
              <a:ea typeface="Calibri"/>
              <a:cs typeface="Calibri"/>
              <a:sym typeface="Calibri"/>
            </a:endParaRPr>
          </a:p>
        </p:txBody>
      </p:sp>
      <p:sp>
        <p:nvSpPr>
          <p:cNvPr id="385" name="Google Shape;385;p18"/>
          <p:cNvSpPr txBox="1"/>
          <p:nvPr/>
        </p:nvSpPr>
        <p:spPr>
          <a:xfrm>
            <a:off x="1234440" y="4352544"/>
            <a:ext cx="2743200" cy="822960"/>
          </a:xfrm>
          <a:prstGeom prst="rect">
            <a:avLst/>
          </a:prstGeom>
          <a:noFill/>
          <a:ln>
            <a:noFill/>
          </a:ln>
        </p:spPr>
        <p:txBody>
          <a:bodyPr spcFirstLastPara="1" wrap="square" lIns="91425" tIns="45700" rIns="91425" bIns="45700" anchor="t" anchorCtr="0">
            <a:noAutofit/>
          </a:bodyPr>
          <a:lstStyle/>
          <a:p>
            <a:pPr marL="0" marR="0" lvl="0" indent="0" algn="l" rtl="0">
              <a:lnSpc>
                <a:spcPct val="118518"/>
              </a:lnSpc>
              <a:spcBef>
                <a:spcPts val="0"/>
              </a:spcBef>
              <a:spcAft>
                <a:spcPts val="0"/>
              </a:spcAft>
              <a:buClr>
                <a:srgbClr val="10243E"/>
              </a:buClr>
              <a:buSzPts val="1350"/>
              <a:buFont typeface="Calibri"/>
              <a:buNone/>
            </a:pPr>
            <a:r>
              <a:rPr lang="en-US" sz="1350" b="1" i="0" u="none" strike="noStrike" cap="none">
                <a:solidFill>
                  <a:srgbClr val="10243E"/>
                </a:solidFill>
                <a:latin typeface="Calibri"/>
                <a:ea typeface="Calibri"/>
                <a:cs typeface="Calibri"/>
                <a:sym typeface="Calibri"/>
              </a:rPr>
              <a:t>One dominant shock channel</a:t>
            </a:r>
            <a:endParaRPr sz="1350" b="0" i="0" u="none" strike="noStrike" cap="none">
              <a:solidFill>
                <a:schemeClr val="dk1"/>
              </a:solidFill>
              <a:latin typeface="Calibri"/>
              <a:ea typeface="Calibri"/>
              <a:cs typeface="Calibri"/>
              <a:sym typeface="Calibri"/>
            </a:endParaRPr>
          </a:p>
        </p:txBody>
      </p:sp>
      <p:sp>
        <p:nvSpPr>
          <p:cNvPr id="386" name="Google Shape;386;p18"/>
          <p:cNvSpPr txBox="1"/>
          <p:nvPr/>
        </p:nvSpPr>
        <p:spPr>
          <a:xfrm>
            <a:off x="4160520" y="4352544"/>
            <a:ext cx="7452360" cy="822960"/>
          </a:xfrm>
          <a:prstGeom prst="rect">
            <a:avLst/>
          </a:prstGeom>
          <a:noFill/>
          <a:ln>
            <a:noFill/>
          </a:ln>
        </p:spPr>
        <p:txBody>
          <a:bodyPr spcFirstLastPara="1" wrap="square" lIns="91425" tIns="45700" rIns="91425" bIns="45700" anchor="t"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dirty="0">
                <a:solidFill>
                  <a:srgbClr val="1A1A1A"/>
                </a:solidFill>
                <a:latin typeface="Calibri"/>
                <a:ea typeface="Calibri"/>
                <a:cs typeface="Calibri"/>
                <a:sym typeface="Calibri"/>
              </a:rPr>
              <a:t>The exchange rate explains 95%+ of the forecast-error variance in reserves, the lending rate, and remittances alike.</a:t>
            </a:r>
            <a:endParaRPr sz="1250" b="0" i="0" u="none" strike="noStrike" cap="none" dirty="0">
              <a:solidFill>
                <a:schemeClr val="dk1"/>
              </a:solidFill>
              <a:latin typeface="Calibri"/>
              <a:ea typeface="Calibri"/>
              <a:cs typeface="Calibri"/>
              <a:sym typeface="Calibri"/>
            </a:endParaRPr>
          </a:p>
        </p:txBody>
      </p:sp>
      <p:sp>
        <p:nvSpPr>
          <p:cNvPr id="387" name="Google Shape;387;p18"/>
          <p:cNvSpPr/>
          <p:nvPr/>
        </p:nvSpPr>
        <p:spPr>
          <a:xfrm>
            <a:off x="548640" y="5330952"/>
            <a:ext cx="502920" cy="502920"/>
          </a:xfrm>
          <a:prstGeom prst="roundRect">
            <a:avLst>
              <a:gd name="adj" fmla="val 50909"/>
            </a:avLst>
          </a:prstGeom>
          <a:solidFill>
            <a:srgbClr val="10243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8"/>
          <p:cNvSpPr txBox="1"/>
          <p:nvPr/>
        </p:nvSpPr>
        <p:spPr>
          <a:xfrm>
            <a:off x="548640" y="5330952"/>
            <a:ext cx="502920" cy="5029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D4AF37"/>
              </a:buClr>
              <a:buSzPts val="1800"/>
              <a:buFont typeface="Cambria"/>
              <a:buNone/>
            </a:pPr>
            <a:r>
              <a:rPr lang="en-US" sz="1800" b="1" i="0" u="none" strike="noStrike" cap="none">
                <a:solidFill>
                  <a:srgbClr val="D4AF37"/>
                </a:solidFill>
                <a:latin typeface="Cambria"/>
                <a:ea typeface="Cambria"/>
                <a:cs typeface="Cambria"/>
                <a:sym typeface="Cambria"/>
              </a:rPr>
              <a:t>5</a:t>
            </a:r>
            <a:endParaRPr sz="1800" b="0" i="0" u="none" strike="noStrike" cap="none">
              <a:solidFill>
                <a:schemeClr val="dk1"/>
              </a:solidFill>
              <a:latin typeface="Calibri"/>
              <a:ea typeface="Calibri"/>
              <a:cs typeface="Calibri"/>
              <a:sym typeface="Calibri"/>
            </a:endParaRPr>
          </a:p>
        </p:txBody>
      </p:sp>
      <p:sp>
        <p:nvSpPr>
          <p:cNvPr id="389" name="Google Shape;389;p18"/>
          <p:cNvSpPr txBox="1"/>
          <p:nvPr/>
        </p:nvSpPr>
        <p:spPr>
          <a:xfrm>
            <a:off x="1234440" y="5285232"/>
            <a:ext cx="2743200" cy="822960"/>
          </a:xfrm>
          <a:prstGeom prst="rect">
            <a:avLst/>
          </a:prstGeom>
          <a:noFill/>
          <a:ln>
            <a:noFill/>
          </a:ln>
        </p:spPr>
        <p:txBody>
          <a:bodyPr spcFirstLastPara="1" wrap="square" lIns="91425" tIns="45700" rIns="91425" bIns="45700" anchor="t" anchorCtr="0">
            <a:noAutofit/>
          </a:bodyPr>
          <a:lstStyle/>
          <a:p>
            <a:pPr marL="0" marR="0" lvl="0" indent="0" algn="l" rtl="0">
              <a:lnSpc>
                <a:spcPct val="118518"/>
              </a:lnSpc>
              <a:spcBef>
                <a:spcPts val="0"/>
              </a:spcBef>
              <a:spcAft>
                <a:spcPts val="0"/>
              </a:spcAft>
              <a:buClr>
                <a:srgbClr val="10243E"/>
              </a:buClr>
              <a:buSzPts val="1350"/>
              <a:buFont typeface="Calibri"/>
              <a:buNone/>
            </a:pPr>
            <a:r>
              <a:rPr lang="en-US" sz="1350" b="1" i="0" u="none" strike="noStrike" cap="none">
                <a:solidFill>
                  <a:srgbClr val="10243E"/>
                </a:solidFill>
                <a:latin typeface="Calibri"/>
                <a:ea typeface="Calibri"/>
                <a:cs typeface="Calibri"/>
                <a:sym typeface="Calibri"/>
              </a:rPr>
              <a:t>FDI behaves differently</a:t>
            </a:r>
            <a:endParaRPr sz="1350" b="0" i="0" u="none" strike="noStrike" cap="none">
              <a:solidFill>
                <a:schemeClr val="dk1"/>
              </a:solidFill>
              <a:latin typeface="Calibri"/>
              <a:ea typeface="Calibri"/>
              <a:cs typeface="Calibri"/>
              <a:sym typeface="Calibri"/>
            </a:endParaRPr>
          </a:p>
        </p:txBody>
      </p:sp>
      <p:sp>
        <p:nvSpPr>
          <p:cNvPr id="390" name="Google Shape;390;p18"/>
          <p:cNvSpPr txBox="1"/>
          <p:nvPr/>
        </p:nvSpPr>
        <p:spPr>
          <a:xfrm>
            <a:off x="4160520" y="5285232"/>
            <a:ext cx="7452360" cy="822960"/>
          </a:xfrm>
          <a:prstGeom prst="rect">
            <a:avLst/>
          </a:prstGeom>
          <a:noFill/>
          <a:ln>
            <a:noFill/>
          </a:ln>
        </p:spPr>
        <p:txBody>
          <a:bodyPr spcFirstLastPara="1" wrap="square" lIns="91425" tIns="45700" rIns="91425" bIns="45700" anchor="t"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dirty="0">
                <a:solidFill>
                  <a:srgbClr val="1A1A1A"/>
                </a:solidFill>
                <a:latin typeface="Calibri"/>
                <a:ea typeface="Calibri"/>
                <a:cs typeface="Calibri"/>
                <a:sym typeface="Calibri"/>
              </a:rPr>
              <a:t>It is the only variable substantially driven by its own shocks (17.8%) rather than the exchange rate — and it weakened after the float.</a:t>
            </a:r>
            <a:endParaRPr sz="1250" b="0" i="0" u="none" strike="noStrike" cap="none" dirty="0">
              <a:solidFill>
                <a:schemeClr val="dk1"/>
              </a:solidFill>
              <a:latin typeface="Calibri"/>
              <a:ea typeface="Calibri"/>
              <a:cs typeface="Calibri"/>
              <a:sym typeface="Calibri"/>
            </a:endParaRPr>
          </a:p>
        </p:txBody>
      </p:sp>
      <p:sp>
        <p:nvSpPr>
          <p:cNvPr id="392" name="Google Shape;392;p18"/>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16</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9"/>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SYNTHESIS</a:t>
            </a:r>
            <a:endParaRPr sz="1200" b="0" i="0" u="none" strike="noStrike" cap="none">
              <a:solidFill>
                <a:schemeClr val="dk1"/>
              </a:solidFill>
              <a:latin typeface="Calibri"/>
              <a:ea typeface="Calibri"/>
              <a:cs typeface="Calibri"/>
              <a:sym typeface="Calibri"/>
            </a:endParaRPr>
          </a:p>
        </p:txBody>
      </p:sp>
      <p:sp>
        <p:nvSpPr>
          <p:cNvPr id="399" name="Google Shape;399;p19"/>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Policy Implications</a:t>
            </a:r>
            <a:endParaRPr sz="3000" b="0" i="0" u="none" strike="noStrike" cap="none">
              <a:solidFill>
                <a:schemeClr val="dk1"/>
              </a:solidFill>
              <a:latin typeface="Calibri"/>
              <a:ea typeface="Calibri"/>
              <a:cs typeface="Calibri"/>
              <a:sym typeface="Calibri"/>
            </a:endParaRPr>
          </a:p>
        </p:txBody>
      </p:sp>
      <p:sp>
        <p:nvSpPr>
          <p:cNvPr id="400" name="Google Shape;400;p19"/>
          <p:cNvSpPr/>
          <p:nvPr/>
        </p:nvSpPr>
        <p:spPr>
          <a:xfrm>
            <a:off x="548640" y="1691640"/>
            <a:ext cx="11064240" cy="1417320"/>
          </a:xfrm>
          <a:prstGeom prst="roundRect">
            <a:avLst>
              <a:gd name="adj" fmla="val 5161"/>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9"/>
          <p:cNvSpPr txBox="1"/>
          <p:nvPr/>
        </p:nvSpPr>
        <p:spPr>
          <a:xfrm>
            <a:off x="822960" y="1828800"/>
            <a:ext cx="105156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500"/>
              <a:buFont typeface="Calibri"/>
              <a:buNone/>
            </a:pPr>
            <a:r>
              <a:rPr lang="en-US" sz="1500" b="1" i="0" u="none" strike="noStrike" cap="none">
                <a:solidFill>
                  <a:srgbClr val="1F6F5C"/>
                </a:solidFill>
                <a:latin typeface="Calibri"/>
                <a:ea typeface="Calibri"/>
                <a:cs typeface="Calibri"/>
                <a:sym typeface="Calibri"/>
              </a:rPr>
              <a:t>Diversify the shock exposure</a:t>
            </a:r>
            <a:endParaRPr sz="1500" b="0" i="0" u="none" strike="noStrike" cap="none">
              <a:solidFill>
                <a:schemeClr val="dk1"/>
              </a:solidFill>
              <a:latin typeface="Calibri"/>
              <a:ea typeface="Calibri"/>
              <a:cs typeface="Calibri"/>
              <a:sym typeface="Calibri"/>
            </a:endParaRPr>
          </a:p>
        </p:txBody>
      </p:sp>
      <p:sp>
        <p:nvSpPr>
          <p:cNvPr id="402" name="Google Shape;402;p19"/>
          <p:cNvSpPr txBox="1"/>
          <p:nvPr/>
        </p:nvSpPr>
        <p:spPr>
          <a:xfrm>
            <a:off x="822960" y="2194560"/>
            <a:ext cx="10515600" cy="822960"/>
          </a:xfrm>
          <a:prstGeom prst="rect">
            <a:avLst/>
          </a:prstGeom>
          <a:noFill/>
          <a:ln>
            <a:noFill/>
          </a:ln>
        </p:spPr>
        <p:txBody>
          <a:bodyPr spcFirstLastPara="1" wrap="square" lIns="91425" tIns="45700" rIns="91425" bIns="45700" anchor="ctr"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a:solidFill>
                  <a:srgbClr val="1A1A1A"/>
                </a:solidFill>
                <a:latin typeface="Calibri"/>
                <a:ea typeface="Calibri"/>
                <a:cs typeface="Calibri"/>
                <a:sym typeface="Calibri"/>
              </a:rPr>
              <a:t>With one channel driving nearly all forecast-error variance, reserve resilience depends on developing inflow sources whose shocks aren't perfectly correlated with the exchange rate — formal remittance channels and non-oil FDI are candidates.</a:t>
            </a:r>
            <a:endParaRPr sz="1250" b="0" i="0" u="none" strike="noStrike" cap="none">
              <a:solidFill>
                <a:schemeClr val="dk1"/>
              </a:solidFill>
              <a:latin typeface="Calibri"/>
              <a:ea typeface="Calibri"/>
              <a:cs typeface="Calibri"/>
              <a:sym typeface="Calibri"/>
            </a:endParaRPr>
          </a:p>
        </p:txBody>
      </p:sp>
      <p:sp>
        <p:nvSpPr>
          <p:cNvPr id="403" name="Google Shape;403;p19"/>
          <p:cNvSpPr/>
          <p:nvPr/>
        </p:nvSpPr>
        <p:spPr>
          <a:xfrm>
            <a:off x="548640" y="3291840"/>
            <a:ext cx="11064240" cy="1417320"/>
          </a:xfrm>
          <a:prstGeom prst="roundRect">
            <a:avLst>
              <a:gd name="adj" fmla="val 5161"/>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9"/>
          <p:cNvSpPr txBox="1"/>
          <p:nvPr/>
        </p:nvSpPr>
        <p:spPr>
          <a:xfrm>
            <a:off x="822960" y="3429000"/>
            <a:ext cx="105156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500"/>
              <a:buFont typeface="Calibri"/>
              <a:buNone/>
            </a:pPr>
            <a:r>
              <a:rPr lang="en-US" sz="1500" b="1" i="0" u="none" strike="noStrike" cap="none">
                <a:solidFill>
                  <a:srgbClr val="1F6F5C"/>
                </a:solidFill>
                <a:latin typeface="Calibri"/>
                <a:ea typeface="Calibri"/>
                <a:cs typeface="Calibri"/>
                <a:sym typeface="Calibri"/>
              </a:rPr>
              <a:t>Treat 2023 as a hard break in modelling</a:t>
            </a:r>
            <a:endParaRPr sz="1500" b="0" i="0" u="none" strike="noStrike" cap="none">
              <a:solidFill>
                <a:schemeClr val="dk1"/>
              </a:solidFill>
              <a:latin typeface="Calibri"/>
              <a:ea typeface="Calibri"/>
              <a:cs typeface="Calibri"/>
              <a:sym typeface="Calibri"/>
            </a:endParaRPr>
          </a:p>
        </p:txBody>
      </p:sp>
      <p:sp>
        <p:nvSpPr>
          <p:cNvPr id="405" name="Google Shape;405;p19"/>
          <p:cNvSpPr txBox="1"/>
          <p:nvPr/>
        </p:nvSpPr>
        <p:spPr>
          <a:xfrm>
            <a:off x="822960" y="3794760"/>
            <a:ext cx="10515600" cy="822960"/>
          </a:xfrm>
          <a:prstGeom prst="rect">
            <a:avLst/>
          </a:prstGeom>
          <a:noFill/>
          <a:ln>
            <a:noFill/>
          </a:ln>
        </p:spPr>
        <p:txBody>
          <a:bodyPr spcFirstLastPara="1" wrap="square" lIns="91425" tIns="45700" rIns="91425" bIns="45700" anchor="ctr"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a:solidFill>
                  <a:srgbClr val="1A1A1A"/>
                </a:solidFill>
                <a:latin typeface="Calibri"/>
                <a:ea typeface="Calibri"/>
                <a:cs typeface="Calibri"/>
                <a:sym typeface="Calibri"/>
              </a:rPr>
              <a:t>Forecasting or stress-testing exercises that pool pre- and post-float data without a structural adjustment risk misstating both the mean levels and the short-run dynamics of the system.</a:t>
            </a:r>
            <a:endParaRPr sz="1250" b="0" i="0" u="none" strike="noStrike" cap="none">
              <a:solidFill>
                <a:schemeClr val="dk1"/>
              </a:solidFill>
              <a:latin typeface="Calibri"/>
              <a:ea typeface="Calibri"/>
              <a:cs typeface="Calibri"/>
              <a:sym typeface="Calibri"/>
            </a:endParaRPr>
          </a:p>
        </p:txBody>
      </p:sp>
      <p:sp>
        <p:nvSpPr>
          <p:cNvPr id="406" name="Google Shape;406;p19"/>
          <p:cNvSpPr/>
          <p:nvPr/>
        </p:nvSpPr>
        <p:spPr>
          <a:xfrm>
            <a:off x="548640" y="4892040"/>
            <a:ext cx="11064240" cy="1417320"/>
          </a:xfrm>
          <a:prstGeom prst="roundRect">
            <a:avLst>
              <a:gd name="adj" fmla="val 5161"/>
            </a:avLst>
          </a:prstGeom>
          <a:solidFill>
            <a:srgbClr val="F7F8FA"/>
          </a:solidFill>
          <a:ln w="12700" cap="flat" cmpd="sng">
            <a:solidFill>
              <a:srgbClr val="E3E6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9"/>
          <p:cNvSpPr txBox="1"/>
          <p:nvPr/>
        </p:nvSpPr>
        <p:spPr>
          <a:xfrm>
            <a:off x="822960" y="5029200"/>
            <a:ext cx="105156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500"/>
              <a:buFont typeface="Calibri"/>
              <a:buNone/>
            </a:pPr>
            <a:r>
              <a:rPr lang="en-US" sz="1500" b="1" i="0" u="none" strike="noStrike" cap="none">
                <a:solidFill>
                  <a:srgbClr val="1F6F5C"/>
                </a:solidFill>
                <a:latin typeface="Calibri"/>
                <a:ea typeface="Calibri"/>
                <a:cs typeface="Calibri"/>
                <a:sym typeface="Calibri"/>
              </a:rPr>
              <a:t>Watch the FDI–reserves link post-float</a:t>
            </a:r>
            <a:endParaRPr sz="1500" b="0" i="0" u="none" strike="noStrike" cap="none">
              <a:solidFill>
                <a:schemeClr val="dk1"/>
              </a:solidFill>
              <a:latin typeface="Calibri"/>
              <a:ea typeface="Calibri"/>
              <a:cs typeface="Calibri"/>
              <a:sym typeface="Calibri"/>
            </a:endParaRPr>
          </a:p>
        </p:txBody>
      </p:sp>
      <p:sp>
        <p:nvSpPr>
          <p:cNvPr id="408" name="Google Shape;408;p19"/>
          <p:cNvSpPr txBox="1"/>
          <p:nvPr/>
        </p:nvSpPr>
        <p:spPr>
          <a:xfrm>
            <a:off x="822960" y="5394960"/>
            <a:ext cx="10515600" cy="822960"/>
          </a:xfrm>
          <a:prstGeom prst="rect">
            <a:avLst/>
          </a:prstGeom>
          <a:noFill/>
          <a:ln>
            <a:noFill/>
          </a:ln>
        </p:spPr>
        <p:txBody>
          <a:bodyPr spcFirstLastPara="1" wrap="square" lIns="91425" tIns="45700" rIns="91425" bIns="45700" anchor="ctr" anchorCtr="0">
            <a:noAutofit/>
          </a:bodyPr>
          <a:lstStyle/>
          <a:p>
            <a:pPr marL="0" marR="0" lvl="0" indent="0" algn="l" rtl="0">
              <a:lnSpc>
                <a:spcPct val="128000"/>
              </a:lnSpc>
              <a:spcBef>
                <a:spcPts val="0"/>
              </a:spcBef>
              <a:spcAft>
                <a:spcPts val="0"/>
              </a:spcAft>
              <a:buClr>
                <a:srgbClr val="1A1A1A"/>
              </a:buClr>
              <a:buSzPts val="1250"/>
              <a:buFont typeface="Calibri"/>
              <a:buNone/>
            </a:pPr>
            <a:r>
              <a:rPr lang="en-US" sz="1250" b="0" i="0" u="none" strike="noStrike" cap="none">
                <a:solidFill>
                  <a:srgbClr val="1A1A1A"/>
                </a:solidFill>
                <a:latin typeface="Calibri"/>
                <a:ea typeface="Calibri"/>
                <a:cs typeface="Calibri"/>
                <a:sym typeface="Calibri"/>
              </a:rPr>
              <a:t>FDI's weaker post-float showing, alongside its still-significant short-run contribution to reserve accumulation, makes it a variable worth monitoring closely as the new FX regime matures.</a:t>
            </a:r>
            <a:endParaRPr sz="1250" b="0" i="0" u="none" strike="noStrike" cap="none">
              <a:solidFill>
                <a:schemeClr val="dk1"/>
              </a:solidFill>
              <a:latin typeface="Calibri"/>
              <a:ea typeface="Calibri"/>
              <a:cs typeface="Calibri"/>
              <a:sym typeface="Calibri"/>
            </a:endParaRPr>
          </a:p>
        </p:txBody>
      </p:sp>
      <p:sp>
        <p:nvSpPr>
          <p:cNvPr id="410" name="Google Shape;410;p19"/>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17</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20"/>
          <p:cNvSpPr txBox="1"/>
          <p:nvPr/>
        </p:nvSpPr>
        <p:spPr>
          <a:xfrm>
            <a:off x="548640" y="320040"/>
            <a:ext cx="1005840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F6F5C"/>
              </a:buClr>
              <a:buSzPts val="1200"/>
              <a:buFont typeface="Calibri"/>
              <a:buNone/>
            </a:pPr>
            <a:r>
              <a:rPr lang="en-US" sz="1200" b="1" i="0" u="none" strike="noStrike" cap="none">
                <a:solidFill>
                  <a:srgbClr val="1F6F5C"/>
                </a:solidFill>
                <a:latin typeface="Calibri"/>
                <a:ea typeface="Calibri"/>
                <a:cs typeface="Calibri"/>
                <a:sym typeface="Calibri"/>
              </a:rPr>
              <a:t>CAVEATS</a:t>
            </a:r>
            <a:endParaRPr sz="1200" b="0" i="0" u="none" strike="noStrike" cap="none">
              <a:solidFill>
                <a:schemeClr val="dk1"/>
              </a:solidFill>
              <a:latin typeface="Calibri"/>
              <a:ea typeface="Calibri"/>
              <a:cs typeface="Calibri"/>
              <a:sym typeface="Calibri"/>
            </a:endParaRPr>
          </a:p>
        </p:txBody>
      </p:sp>
      <p:sp>
        <p:nvSpPr>
          <p:cNvPr id="417" name="Google Shape;417;p20"/>
          <p:cNvSpPr txBox="1"/>
          <p:nvPr/>
        </p:nvSpPr>
        <p:spPr>
          <a:xfrm>
            <a:off x="548640" y="621792"/>
            <a:ext cx="11064240" cy="8229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10243E"/>
              </a:buClr>
              <a:buSzPts val="3000"/>
              <a:buFont typeface="Cambria"/>
              <a:buNone/>
            </a:pPr>
            <a:r>
              <a:rPr lang="en-US" sz="3000" b="1" i="0" u="none" strike="noStrike" cap="none">
                <a:solidFill>
                  <a:srgbClr val="10243E"/>
                </a:solidFill>
                <a:latin typeface="Cambria"/>
                <a:ea typeface="Cambria"/>
                <a:cs typeface="Cambria"/>
                <a:sym typeface="Cambria"/>
              </a:rPr>
              <a:t>Limitations of the Analysis</a:t>
            </a:r>
            <a:endParaRPr sz="3000" b="0" i="0" u="none" strike="noStrike" cap="none">
              <a:solidFill>
                <a:schemeClr val="dk1"/>
              </a:solidFill>
              <a:latin typeface="Calibri"/>
              <a:ea typeface="Calibri"/>
              <a:cs typeface="Calibri"/>
              <a:sym typeface="Calibri"/>
            </a:endParaRPr>
          </a:p>
        </p:txBody>
      </p:sp>
      <p:sp>
        <p:nvSpPr>
          <p:cNvPr id="418" name="Google Shape;418;p20"/>
          <p:cNvSpPr/>
          <p:nvPr/>
        </p:nvSpPr>
        <p:spPr>
          <a:xfrm>
            <a:off x="548640" y="1645920"/>
            <a:ext cx="128016" cy="128016"/>
          </a:xfrm>
          <a:prstGeom prst="ellipse">
            <a:avLst/>
          </a:prstGeom>
          <a:solidFill>
            <a:srgbClr val="D4A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0"/>
          <p:cNvSpPr txBox="1"/>
          <p:nvPr/>
        </p:nvSpPr>
        <p:spPr>
          <a:xfrm>
            <a:off x="822960" y="1463040"/>
            <a:ext cx="5074920" cy="1371600"/>
          </a:xfrm>
          <a:prstGeom prst="rect">
            <a:avLst/>
          </a:prstGeom>
          <a:noFill/>
          <a:ln>
            <a:noFill/>
          </a:ln>
        </p:spPr>
        <p:txBody>
          <a:bodyPr spcFirstLastPara="1" wrap="square" lIns="91425" tIns="45700" rIns="91425" bIns="45700" anchor="t" anchorCtr="0">
            <a:noAutofit/>
          </a:bodyPr>
          <a:lstStyle/>
          <a:p>
            <a:pPr marL="0" marR="0" lvl="0" indent="0" algn="l" rtl="0">
              <a:lnSpc>
                <a:spcPct val="125000"/>
              </a:lnSpc>
              <a:spcBef>
                <a:spcPts val="0"/>
              </a:spcBef>
              <a:spcAft>
                <a:spcPts val="0"/>
              </a:spcAft>
              <a:buClr>
                <a:srgbClr val="1A1A1A"/>
              </a:buClr>
              <a:buSzPts val="1200"/>
              <a:buFont typeface="Calibri"/>
              <a:buNone/>
            </a:pPr>
            <a:r>
              <a:rPr lang="en-US" sz="1200" b="0" i="0" u="none" strike="noStrike" cap="none">
                <a:solidFill>
                  <a:srgbClr val="1A1A1A"/>
                </a:solidFill>
                <a:latin typeface="Calibri"/>
                <a:ea typeface="Calibri"/>
                <a:cs typeface="Calibri"/>
                <a:sym typeface="Calibri"/>
              </a:rPr>
              <a:t>Twenty annual observations is a small sample for a five-variable VECM/VAR system; coefficient and variance-decomposition estimates carry wide uncertainty, visible in the IRF confidence bands.</a:t>
            </a:r>
            <a:endParaRPr sz="1200" b="0" i="0" u="none" strike="noStrike" cap="none">
              <a:solidFill>
                <a:schemeClr val="dk1"/>
              </a:solidFill>
              <a:latin typeface="Calibri"/>
              <a:ea typeface="Calibri"/>
              <a:cs typeface="Calibri"/>
              <a:sym typeface="Calibri"/>
            </a:endParaRPr>
          </a:p>
        </p:txBody>
      </p:sp>
      <p:sp>
        <p:nvSpPr>
          <p:cNvPr id="420" name="Google Shape;420;p20"/>
          <p:cNvSpPr/>
          <p:nvPr/>
        </p:nvSpPr>
        <p:spPr>
          <a:xfrm>
            <a:off x="6263640" y="1645920"/>
            <a:ext cx="128016" cy="128016"/>
          </a:xfrm>
          <a:prstGeom prst="ellipse">
            <a:avLst/>
          </a:prstGeom>
          <a:solidFill>
            <a:srgbClr val="D4A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0"/>
          <p:cNvSpPr txBox="1"/>
          <p:nvPr/>
        </p:nvSpPr>
        <p:spPr>
          <a:xfrm>
            <a:off x="6537960" y="1463040"/>
            <a:ext cx="5074920" cy="1371600"/>
          </a:xfrm>
          <a:prstGeom prst="rect">
            <a:avLst/>
          </a:prstGeom>
          <a:noFill/>
          <a:ln>
            <a:noFill/>
          </a:ln>
        </p:spPr>
        <p:txBody>
          <a:bodyPr spcFirstLastPara="1" wrap="square" lIns="91425" tIns="45700" rIns="91425" bIns="45700" anchor="t" anchorCtr="0">
            <a:noAutofit/>
          </a:bodyPr>
          <a:lstStyle/>
          <a:p>
            <a:pPr marL="0" marR="0" lvl="0" indent="0" algn="l" rtl="0">
              <a:lnSpc>
                <a:spcPct val="125000"/>
              </a:lnSpc>
              <a:spcBef>
                <a:spcPts val="0"/>
              </a:spcBef>
              <a:spcAft>
                <a:spcPts val="0"/>
              </a:spcAft>
              <a:buClr>
                <a:srgbClr val="1A1A1A"/>
              </a:buClr>
              <a:buSzPts val="1200"/>
              <a:buFont typeface="Calibri"/>
              <a:buNone/>
            </a:pPr>
            <a:r>
              <a:rPr lang="en-US" sz="1200" b="0" i="0" u="none" strike="noStrike" cap="none">
                <a:solidFill>
                  <a:srgbClr val="1A1A1A"/>
                </a:solidFill>
                <a:latin typeface="Calibri"/>
                <a:ea typeface="Calibri"/>
                <a:cs typeface="Calibri"/>
                <a:sym typeface="Calibri"/>
              </a:rPr>
              <a:t>Unit root evidence is mixed for some series under the constant-and-trend specification; classifying every series as strictly I(1) is a working assumption, not a certainty.</a:t>
            </a:r>
            <a:endParaRPr sz="1200" b="0" i="0" u="none" strike="noStrike" cap="none">
              <a:solidFill>
                <a:schemeClr val="dk1"/>
              </a:solidFill>
              <a:latin typeface="Calibri"/>
              <a:ea typeface="Calibri"/>
              <a:cs typeface="Calibri"/>
              <a:sym typeface="Calibri"/>
            </a:endParaRPr>
          </a:p>
        </p:txBody>
      </p:sp>
      <p:sp>
        <p:nvSpPr>
          <p:cNvPr id="422" name="Google Shape;422;p20"/>
          <p:cNvSpPr/>
          <p:nvPr/>
        </p:nvSpPr>
        <p:spPr>
          <a:xfrm>
            <a:off x="548640" y="3154680"/>
            <a:ext cx="128016" cy="128016"/>
          </a:xfrm>
          <a:prstGeom prst="ellipse">
            <a:avLst/>
          </a:prstGeom>
          <a:solidFill>
            <a:srgbClr val="D4A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0"/>
          <p:cNvSpPr txBox="1"/>
          <p:nvPr/>
        </p:nvSpPr>
        <p:spPr>
          <a:xfrm>
            <a:off x="822960" y="2971800"/>
            <a:ext cx="5074920" cy="1371600"/>
          </a:xfrm>
          <a:prstGeom prst="rect">
            <a:avLst/>
          </a:prstGeom>
          <a:noFill/>
          <a:ln>
            <a:noFill/>
          </a:ln>
        </p:spPr>
        <p:txBody>
          <a:bodyPr spcFirstLastPara="1" wrap="square" lIns="91425" tIns="45700" rIns="91425" bIns="45700" anchor="t" anchorCtr="0">
            <a:noAutofit/>
          </a:bodyPr>
          <a:lstStyle/>
          <a:p>
            <a:pPr marL="0" marR="0" lvl="0" indent="0" algn="l" rtl="0">
              <a:lnSpc>
                <a:spcPct val="125000"/>
              </a:lnSpc>
              <a:spcBef>
                <a:spcPts val="0"/>
              </a:spcBef>
              <a:spcAft>
                <a:spcPts val="0"/>
              </a:spcAft>
              <a:buClr>
                <a:srgbClr val="1A1A1A"/>
              </a:buClr>
              <a:buSzPts val="1200"/>
              <a:buFont typeface="Calibri"/>
              <a:buNone/>
            </a:pPr>
            <a:r>
              <a:rPr lang="en-US" sz="1200" b="0" i="0" u="none" strike="noStrike" cap="none">
                <a:solidFill>
                  <a:srgbClr val="1A1A1A"/>
                </a:solidFill>
                <a:latin typeface="Calibri"/>
                <a:ea typeface="Calibri"/>
                <a:cs typeface="Calibri"/>
                <a:sym typeface="Calibri"/>
              </a:rPr>
              <a:t>Missing WDI data points were filled by linear interpolation, which can understate genuine short-run volatility in the interpolated years.</a:t>
            </a:r>
            <a:endParaRPr sz="1200" b="0" i="0" u="none" strike="noStrike" cap="none">
              <a:solidFill>
                <a:schemeClr val="dk1"/>
              </a:solidFill>
              <a:latin typeface="Calibri"/>
              <a:ea typeface="Calibri"/>
              <a:cs typeface="Calibri"/>
              <a:sym typeface="Calibri"/>
            </a:endParaRPr>
          </a:p>
        </p:txBody>
      </p:sp>
      <p:sp>
        <p:nvSpPr>
          <p:cNvPr id="424" name="Google Shape;424;p20"/>
          <p:cNvSpPr/>
          <p:nvPr/>
        </p:nvSpPr>
        <p:spPr>
          <a:xfrm>
            <a:off x="6263640" y="3154680"/>
            <a:ext cx="128016" cy="128016"/>
          </a:xfrm>
          <a:prstGeom prst="ellipse">
            <a:avLst/>
          </a:prstGeom>
          <a:solidFill>
            <a:srgbClr val="D4A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0"/>
          <p:cNvSpPr txBox="1"/>
          <p:nvPr/>
        </p:nvSpPr>
        <p:spPr>
          <a:xfrm>
            <a:off x="6537960" y="2971800"/>
            <a:ext cx="5074920" cy="1371600"/>
          </a:xfrm>
          <a:prstGeom prst="rect">
            <a:avLst/>
          </a:prstGeom>
          <a:noFill/>
          <a:ln>
            <a:noFill/>
          </a:ln>
        </p:spPr>
        <p:txBody>
          <a:bodyPr spcFirstLastPara="1" wrap="square" lIns="91425" tIns="45700" rIns="91425" bIns="45700" anchor="t" anchorCtr="0">
            <a:noAutofit/>
          </a:bodyPr>
          <a:lstStyle/>
          <a:p>
            <a:pPr marL="0" marR="0" lvl="0" indent="0" algn="l" rtl="0">
              <a:lnSpc>
                <a:spcPct val="125000"/>
              </a:lnSpc>
              <a:spcBef>
                <a:spcPts val="0"/>
              </a:spcBef>
              <a:spcAft>
                <a:spcPts val="0"/>
              </a:spcAft>
              <a:buClr>
                <a:srgbClr val="1A1A1A"/>
              </a:buClr>
              <a:buSzPts val="1200"/>
              <a:buFont typeface="Calibri"/>
              <a:buNone/>
            </a:pPr>
            <a:r>
              <a:rPr lang="en-US" sz="1200" b="0" i="0" u="none" strike="noStrike" cap="none" dirty="0">
                <a:solidFill>
                  <a:srgbClr val="1A1A1A"/>
                </a:solidFill>
                <a:latin typeface="Calibri"/>
                <a:ea typeface="Calibri"/>
                <a:cs typeface="Calibri"/>
                <a:sym typeface="Calibri"/>
              </a:rPr>
              <a:t>The series used throughout are levels in original units (US$ billions, ₦ per US$, %), not log-transformed</a:t>
            </a:r>
            <a:r>
              <a:rPr lang="en-US" sz="1200" dirty="0">
                <a:solidFill>
                  <a:srgbClr val="1A1A1A"/>
                </a:solidFill>
                <a:latin typeface="Calibri"/>
                <a:ea typeface="Calibri"/>
                <a:cs typeface="Calibri"/>
                <a:sym typeface="Calibri"/>
              </a:rPr>
              <a:t>. Hence,</a:t>
            </a:r>
            <a:r>
              <a:rPr lang="en-US" sz="1200" b="0" i="0" u="none" strike="noStrike" cap="none" dirty="0">
                <a:solidFill>
                  <a:srgbClr val="1A1A1A"/>
                </a:solidFill>
                <a:latin typeface="Calibri"/>
                <a:ea typeface="Calibri"/>
                <a:cs typeface="Calibri"/>
                <a:sym typeface="Calibri"/>
              </a:rPr>
              <a:t> coefficients should be read as level effects, not elasticities.</a:t>
            </a:r>
            <a:endParaRPr sz="1200" b="0" i="0" u="none" strike="noStrike" cap="none" dirty="0">
              <a:solidFill>
                <a:schemeClr val="dk1"/>
              </a:solidFill>
              <a:latin typeface="Calibri"/>
              <a:ea typeface="Calibri"/>
              <a:cs typeface="Calibri"/>
              <a:sym typeface="Calibri"/>
            </a:endParaRPr>
          </a:p>
        </p:txBody>
      </p:sp>
      <p:sp>
        <p:nvSpPr>
          <p:cNvPr id="426" name="Google Shape;426;p20"/>
          <p:cNvSpPr/>
          <p:nvPr/>
        </p:nvSpPr>
        <p:spPr>
          <a:xfrm>
            <a:off x="548640" y="4663440"/>
            <a:ext cx="128016" cy="128016"/>
          </a:xfrm>
          <a:prstGeom prst="ellipse">
            <a:avLst/>
          </a:prstGeom>
          <a:solidFill>
            <a:srgbClr val="D4A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0"/>
          <p:cNvSpPr txBox="1"/>
          <p:nvPr/>
        </p:nvSpPr>
        <p:spPr>
          <a:xfrm>
            <a:off x="822960" y="4480560"/>
            <a:ext cx="5074920" cy="1371600"/>
          </a:xfrm>
          <a:prstGeom prst="rect">
            <a:avLst/>
          </a:prstGeom>
          <a:noFill/>
          <a:ln>
            <a:noFill/>
          </a:ln>
        </p:spPr>
        <p:txBody>
          <a:bodyPr spcFirstLastPara="1" wrap="square" lIns="91425" tIns="45700" rIns="91425" bIns="45700" anchor="t" anchorCtr="0">
            <a:noAutofit/>
          </a:bodyPr>
          <a:lstStyle/>
          <a:p>
            <a:pPr marL="0" marR="0" lvl="0" indent="0" algn="l" rtl="0">
              <a:lnSpc>
                <a:spcPct val="125000"/>
              </a:lnSpc>
              <a:spcBef>
                <a:spcPts val="0"/>
              </a:spcBef>
              <a:spcAft>
                <a:spcPts val="0"/>
              </a:spcAft>
              <a:buClr>
                <a:srgbClr val="1A1A1A"/>
              </a:buClr>
              <a:buSzPts val="1200"/>
              <a:buFont typeface="Calibri"/>
              <a:buNone/>
            </a:pPr>
            <a:r>
              <a:rPr lang="en-US" sz="1200" b="0" i="0" u="none" strike="noStrike" cap="none">
                <a:solidFill>
                  <a:srgbClr val="1A1A1A"/>
                </a:solidFill>
                <a:latin typeface="Calibri"/>
                <a:ea typeface="Calibri"/>
                <a:cs typeface="Calibri"/>
                <a:sym typeface="Calibri"/>
              </a:rPr>
              <a:t>USD-denominated reserve, remittance, and FDI figures can be mechanically affected by 2023–24 valuation and reporting changes tied to the exchange-rate unification itself.</a:t>
            </a:r>
            <a:endParaRPr sz="1200" b="0" i="0" u="none" strike="noStrike" cap="none">
              <a:solidFill>
                <a:schemeClr val="dk1"/>
              </a:solidFill>
              <a:latin typeface="Calibri"/>
              <a:ea typeface="Calibri"/>
              <a:cs typeface="Calibri"/>
              <a:sym typeface="Calibri"/>
            </a:endParaRPr>
          </a:p>
        </p:txBody>
      </p:sp>
      <p:sp>
        <p:nvSpPr>
          <p:cNvPr id="428" name="Google Shape;428;p20"/>
          <p:cNvSpPr/>
          <p:nvPr/>
        </p:nvSpPr>
        <p:spPr>
          <a:xfrm>
            <a:off x="6263640" y="4663440"/>
            <a:ext cx="128016" cy="128016"/>
          </a:xfrm>
          <a:prstGeom prst="ellipse">
            <a:avLst/>
          </a:prstGeom>
          <a:solidFill>
            <a:srgbClr val="D4AF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0"/>
          <p:cNvSpPr txBox="1"/>
          <p:nvPr/>
        </p:nvSpPr>
        <p:spPr>
          <a:xfrm>
            <a:off x="6537960" y="4480560"/>
            <a:ext cx="5074920" cy="1371600"/>
          </a:xfrm>
          <a:prstGeom prst="rect">
            <a:avLst/>
          </a:prstGeom>
          <a:noFill/>
          <a:ln>
            <a:noFill/>
          </a:ln>
        </p:spPr>
        <p:txBody>
          <a:bodyPr spcFirstLastPara="1" wrap="square" lIns="91425" tIns="45700" rIns="91425" bIns="45700" anchor="t" anchorCtr="0">
            <a:noAutofit/>
          </a:bodyPr>
          <a:lstStyle/>
          <a:p>
            <a:pPr marL="0" marR="0" lvl="0" indent="0" algn="l" rtl="0">
              <a:lnSpc>
                <a:spcPct val="125000"/>
              </a:lnSpc>
              <a:spcBef>
                <a:spcPts val="0"/>
              </a:spcBef>
              <a:spcAft>
                <a:spcPts val="0"/>
              </a:spcAft>
              <a:buClr>
                <a:srgbClr val="1A1A1A"/>
              </a:buClr>
              <a:buSzPts val="1200"/>
              <a:buFont typeface="Calibri"/>
              <a:buNone/>
            </a:pPr>
            <a:r>
              <a:rPr lang="en-US" sz="1200" b="0" i="0" u="none" strike="noStrike" cap="none" dirty="0">
                <a:solidFill>
                  <a:srgbClr val="1A1A1A"/>
                </a:solidFill>
                <a:latin typeface="Calibri"/>
                <a:ea typeface="Calibri"/>
                <a:cs typeface="Calibri"/>
                <a:sym typeface="Calibri"/>
              </a:rPr>
              <a:t>The VECM is a reduced-form, associational model; its coefficients describe statistical relationships, not verified causal policy effects.</a:t>
            </a:r>
            <a:endParaRPr sz="1200" b="0" i="0" u="none" strike="noStrike" cap="none" dirty="0">
              <a:solidFill>
                <a:schemeClr val="dk1"/>
              </a:solidFill>
              <a:latin typeface="Calibri"/>
              <a:ea typeface="Calibri"/>
              <a:cs typeface="Calibri"/>
              <a:sym typeface="Calibri"/>
            </a:endParaRPr>
          </a:p>
        </p:txBody>
      </p:sp>
      <p:sp>
        <p:nvSpPr>
          <p:cNvPr id="431" name="Google Shape;431;p20"/>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18</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102136"/>
        </a:solidFill>
        <a:effectLst/>
      </p:bgPr>
    </p:bg>
    <p:spTree>
      <p:nvGrpSpPr>
        <p:cNvPr id="1" name="Shape 436"/>
        <p:cNvGrpSpPr/>
        <p:nvPr/>
      </p:nvGrpSpPr>
      <p:grpSpPr>
        <a:xfrm>
          <a:off x="0" y="0"/>
          <a:ext cx="0" cy="0"/>
          <a:chOff x="0" y="0"/>
          <a:chExt cx="0" cy="0"/>
        </a:xfrm>
      </p:grpSpPr>
      <p:sp>
        <p:nvSpPr>
          <p:cNvPr id="437" name="Google Shape;437;p21"/>
          <p:cNvSpPr/>
          <p:nvPr/>
        </p:nvSpPr>
        <p:spPr>
          <a:xfrm>
            <a:off x="9418320" y="-2011680"/>
            <a:ext cx="5943600" cy="5943600"/>
          </a:xfrm>
          <a:prstGeom prst="ellipse">
            <a:avLst/>
          </a:prstGeom>
          <a:solidFill>
            <a:srgbClr val="173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1"/>
          <p:cNvSpPr txBox="1"/>
          <p:nvPr/>
        </p:nvSpPr>
        <p:spPr>
          <a:xfrm>
            <a:off x="548640" y="548640"/>
            <a:ext cx="73152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D4AF37"/>
              </a:buClr>
              <a:buSzPts val="1300"/>
              <a:buFont typeface="Calibri"/>
              <a:buNone/>
            </a:pPr>
            <a:r>
              <a:rPr lang="en-US" sz="1300" b="1" i="0" u="none" strike="noStrike" cap="none">
                <a:solidFill>
                  <a:srgbClr val="D4AF37"/>
                </a:solidFill>
                <a:latin typeface="Calibri"/>
                <a:ea typeface="Calibri"/>
                <a:cs typeface="Calibri"/>
                <a:sym typeface="Calibri"/>
              </a:rPr>
              <a:t>CONCLUSION</a:t>
            </a:r>
            <a:endParaRPr sz="1300" b="0" i="0" u="none" strike="noStrike" cap="none">
              <a:solidFill>
                <a:schemeClr val="dk1"/>
              </a:solidFill>
              <a:latin typeface="Calibri"/>
              <a:ea typeface="Calibri"/>
              <a:cs typeface="Calibri"/>
              <a:sym typeface="Calibri"/>
            </a:endParaRPr>
          </a:p>
        </p:txBody>
      </p:sp>
      <p:sp>
        <p:nvSpPr>
          <p:cNvPr id="439" name="Google Shape;439;p21"/>
          <p:cNvSpPr txBox="1"/>
          <p:nvPr/>
        </p:nvSpPr>
        <p:spPr>
          <a:xfrm>
            <a:off x="548640" y="914400"/>
            <a:ext cx="10515600" cy="1371600"/>
          </a:xfrm>
          <a:prstGeom prst="rect">
            <a:avLst/>
          </a:prstGeom>
          <a:noFill/>
          <a:ln>
            <a:noFill/>
          </a:ln>
        </p:spPr>
        <p:txBody>
          <a:bodyPr spcFirstLastPara="1" wrap="square" lIns="91425" tIns="45700" rIns="91425" bIns="45700" anchor="ctr" anchorCtr="0">
            <a:noAutofit/>
          </a:bodyPr>
          <a:lstStyle/>
          <a:p>
            <a:pPr marL="0" marR="0" lvl="0" indent="0" algn="l" rtl="0">
              <a:lnSpc>
                <a:spcPct val="113333"/>
              </a:lnSpc>
              <a:spcBef>
                <a:spcPts val="0"/>
              </a:spcBef>
              <a:spcAft>
                <a:spcPts val="0"/>
              </a:spcAft>
              <a:buClr>
                <a:srgbClr val="FFFFFF"/>
              </a:buClr>
              <a:buSzPts val="3000"/>
              <a:buFont typeface="Cambria"/>
              <a:buNone/>
            </a:pPr>
            <a:r>
              <a:rPr lang="en-US" sz="3000" b="1" i="0" u="none" strike="noStrike" cap="none" dirty="0">
                <a:solidFill>
                  <a:srgbClr val="FFFFFF"/>
                </a:solidFill>
                <a:latin typeface="Cambria"/>
                <a:ea typeface="Cambria"/>
                <a:cs typeface="Cambria"/>
                <a:sym typeface="Cambria"/>
              </a:rPr>
              <a:t>Reserves Are Anchored, but Anchored</a:t>
            </a:r>
            <a:endParaRPr sz="3000" b="0" i="0" u="none" strike="noStrike" cap="none" dirty="0">
              <a:solidFill>
                <a:schemeClr val="dk1"/>
              </a:solidFill>
              <a:latin typeface="Calibri"/>
              <a:ea typeface="Calibri"/>
              <a:cs typeface="Calibri"/>
              <a:sym typeface="Calibri"/>
            </a:endParaRPr>
          </a:p>
          <a:p>
            <a:pPr marL="0" marR="0" lvl="0" indent="0" algn="l" rtl="0">
              <a:lnSpc>
                <a:spcPct val="113333"/>
              </a:lnSpc>
              <a:spcBef>
                <a:spcPts val="0"/>
              </a:spcBef>
              <a:spcAft>
                <a:spcPts val="0"/>
              </a:spcAft>
              <a:buClr>
                <a:srgbClr val="FFFFFF"/>
              </a:buClr>
              <a:buSzPts val="3000"/>
              <a:buFont typeface="Cambria"/>
              <a:buNone/>
            </a:pPr>
            <a:r>
              <a:rPr lang="en-US" sz="3000" b="1" i="0" u="none" strike="noStrike" cap="none" dirty="0">
                <a:solidFill>
                  <a:srgbClr val="FFFFFF"/>
                </a:solidFill>
                <a:latin typeface="Cambria"/>
                <a:ea typeface="Cambria"/>
                <a:cs typeface="Cambria"/>
                <a:sym typeface="Cambria"/>
              </a:rPr>
              <a:t>to One Dominant Channel</a:t>
            </a:r>
            <a:endParaRPr sz="3000" b="0" i="0" u="none" strike="noStrike" cap="none" dirty="0">
              <a:solidFill>
                <a:schemeClr val="dk1"/>
              </a:solidFill>
              <a:latin typeface="Calibri"/>
              <a:ea typeface="Calibri"/>
              <a:cs typeface="Calibri"/>
              <a:sym typeface="Calibri"/>
            </a:endParaRPr>
          </a:p>
        </p:txBody>
      </p:sp>
      <p:sp>
        <p:nvSpPr>
          <p:cNvPr id="440" name="Google Shape;440;p21"/>
          <p:cNvSpPr txBox="1"/>
          <p:nvPr/>
        </p:nvSpPr>
        <p:spPr>
          <a:xfrm>
            <a:off x="548640" y="2514600"/>
            <a:ext cx="10424160" cy="2377440"/>
          </a:xfrm>
          <a:prstGeom prst="rect">
            <a:avLst/>
          </a:prstGeom>
          <a:noFill/>
          <a:ln>
            <a:noFill/>
          </a:ln>
        </p:spPr>
        <p:txBody>
          <a:bodyPr spcFirstLastPara="1" wrap="square" lIns="91425" tIns="45700" rIns="91425" bIns="45700" anchor="t" anchorCtr="0">
            <a:noAutofit/>
          </a:bodyPr>
          <a:lstStyle/>
          <a:p>
            <a:pPr marL="0" marR="0" lvl="0" indent="0" algn="l" rtl="0">
              <a:lnSpc>
                <a:spcPct val="153333"/>
              </a:lnSpc>
              <a:spcBef>
                <a:spcPts val="0"/>
              </a:spcBef>
              <a:spcAft>
                <a:spcPts val="0"/>
              </a:spcAft>
              <a:buClr>
                <a:srgbClr val="E6EAF0"/>
              </a:buClr>
              <a:buSzPts val="1500"/>
              <a:buFont typeface="Calibri"/>
              <a:buNone/>
            </a:pPr>
            <a:r>
              <a:rPr lang="en-US" sz="1500" b="0" i="0" u="none" strike="noStrike" cap="none" dirty="0">
                <a:solidFill>
                  <a:srgbClr val="E6EAF0"/>
                </a:solidFill>
                <a:latin typeface="Calibri"/>
                <a:ea typeface="Calibri"/>
                <a:cs typeface="Calibri"/>
                <a:sym typeface="Calibri"/>
              </a:rPr>
              <a:t>Nigeria's external reserves are cointegrated with the exchange rate, lending rate, remittances, and FDI across three distinct long-run relationships, and adjust quickly, within about a year, when those relationships are disturbed. The 2023 FX float marks a clear structural break in the system, and the exchange rate stands out as the dominant transmission channel for shocks reaching reserves. Reserve resilience going forward will depend less on managing the exchange rate alone, and more on diversifying the inflow channels (remittances and FDI)</a:t>
            </a:r>
            <a:r>
              <a:rPr lang="en-US" sz="1500" dirty="0">
                <a:solidFill>
                  <a:srgbClr val="E6EAF0"/>
                </a:solidFill>
                <a:latin typeface="Calibri"/>
                <a:ea typeface="Calibri"/>
                <a:cs typeface="Calibri"/>
                <a:sym typeface="Calibri"/>
              </a:rPr>
              <a:t>,</a:t>
            </a:r>
            <a:r>
              <a:rPr lang="en-US" sz="1500" b="0" i="0" u="none" strike="noStrike" cap="none" dirty="0">
                <a:solidFill>
                  <a:srgbClr val="E6EAF0"/>
                </a:solidFill>
                <a:latin typeface="Calibri"/>
                <a:ea typeface="Calibri"/>
                <a:cs typeface="Calibri"/>
                <a:sym typeface="Calibri"/>
              </a:rPr>
              <a:t> that currently move in its shadow.</a:t>
            </a:r>
            <a:endParaRPr sz="1500" b="0" i="0" u="none" strike="noStrike" cap="none" dirty="0">
              <a:solidFill>
                <a:schemeClr val="dk1"/>
              </a:solidFill>
              <a:latin typeface="Calibri"/>
              <a:ea typeface="Calibri"/>
              <a:cs typeface="Calibri"/>
              <a:sym typeface="Calibri"/>
            </a:endParaRPr>
          </a:p>
        </p:txBody>
      </p:sp>
      <p:sp>
        <p:nvSpPr>
          <p:cNvPr id="442" name="Google Shape;442;p21"/>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00" b="0" i="0" u="none" strike="noStrike" cap="none">
                <a:solidFill>
                  <a:srgbClr val="5B6472"/>
                </a:solidFill>
                <a:latin typeface="Calibri"/>
                <a:ea typeface="Calibri"/>
                <a:cs typeface="Calibri"/>
                <a:sym typeface="Calibri"/>
              </a:rPr>
              <a:t>19</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102136"/>
        </a:solidFill>
        <a:effectLst/>
      </p:bgPr>
    </p:bg>
    <p:spTree>
      <p:nvGrpSpPr>
        <p:cNvPr id="1" name="Shape 447"/>
        <p:cNvGrpSpPr/>
        <p:nvPr/>
      </p:nvGrpSpPr>
      <p:grpSpPr>
        <a:xfrm>
          <a:off x="0" y="0"/>
          <a:ext cx="0" cy="0"/>
          <a:chOff x="0" y="0"/>
          <a:chExt cx="0" cy="0"/>
        </a:xfrm>
      </p:grpSpPr>
      <p:sp>
        <p:nvSpPr>
          <p:cNvPr id="448" name="Google Shape;448;p22"/>
          <p:cNvSpPr/>
          <p:nvPr/>
        </p:nvSpPr>
        <p:spPr>
          <a:xfrm>
            <a:off x="-2286000" y="3657600"/>
            <a:ext cx="5943600" cy="5943600"/>
          </a:xfrm>
          <a:prstGeom prst="ellipse">
            <a:avLst/>
          </a:prstGeom>
          <a:solidFill>
            <a:srgbClr val="1730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49" name="Google Shape;449;p22"/>
          <p:cNvSpPr txBox="1"/>
          <p:nvPr/>
        </p:nvSpPr>
        <p:spPr>
          <a:xfrm>
            <a:off x="731520" y="2286000"/>
            <a:ext cx="9144000" cy="10058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400"/>
              <a:buFont typeface="Cambria"/>
              <a:buNone/>
            </a:pPr>
            <a:r>
              <a:rPr lang="en-US" sz="4800" b="1" i="0" u="none" strike="noStrike" cap="none">
                <a:solidFill>
                  <a:srgbClr val="FFFFFF"/>
                </a:solidFill>
                <a:latin typeface="Cambria"/>
                <a:ea typeface="Cambria"/>
                <a:cs typeface="Cambria"/>
                <a:sym typeface="Cambria"/>
              </a:rPr>
              <a:t>Thank You</a:t>
            </a:r>
            <a:endParaRPr sz="4800" b="0" i="0" u="none" strike="noStrike" cap="none">
              <a:solidFill>
                <a:schemeClr val="dk1"/>
              </a:solidFill>
              <a:latin typeface="Calibri"/>
              <a:ea typeface="Calibri"/>
              <a:cs typeface="Calibri"/>
              <a:sym typeface="Calibri"/>
            </a:endParaRPr>
          </a:p>
        </p:txBody>
      </p:sp>
      <p:sp>
        <p:nvSpPr>
          <p:cNvPr id="450" name="Google Shape;450;p22"/>
          <p:cNvSpPr txBox="1"/>
          <p:nvPr/>
        </p:nvSpPr>
        <p:spPr>
          <a:xfrm>
            <a:off x="731520" y="3246120"/>
            <a:ext cx="82296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FE0EF"/>
              </a:buClr>
              <a:buSzPts val="1500"/>
              <a:buFont typeface="Calibri"/>
              <a:buNone/>
            </a:pPr>
            <a:r>
              <a:rPr lang="en-US" sz="1600" b="0" i="1" u="none" strike="noStrike" cap="none" dirty="0">
                <a:solidFill>
                  <a:srgbClr val="CFE0EF"/>
                </a:solidFill>
                <a:latin typeface="Calibri"/>
                <a:ea typeface="Calibri"/>
                <a:cs typeface="Calibri"/>
                <a:sym typeface="Calibri"/>
              </a:rPr>
              <a:t>Full data pipeline, diagnostics, and estimation python code available on request.</a:t>
            </a:r>
            <a:endParaRPr sz="1600" b="0" i="0" u="none" strike="noStrike" cap="none" dirty="0">
              <a:solidFill>
                <a:schemeClr val="dk1"/>
              </a:solidFill>
              <a:latin typeface="Calibri"/>
              <a:ea typeface="Calibri"/>
              <a:cs typeface="Calibri"/>
              <a:sym typeface="Calibri"/>
            </a:endParaRPr>
          </a:p>
        </p:txBody>
      </p:sp>
      <p:cxnSp>
        <p:nvCxnSpPr>
          <p:cNvPr id="451" name="Google Shape;451;p22"/>
          <p:cNvCxnSpPr/>
          <p:nvPr/>
        </p:nvCxnSpPr>
        <p:spPr>
          <a:xfrm>
            <a:off x="731520" y="3931920"/>
            <a:ext cx="2011680" cy="0"/>
          </a:xfrm>
          <a:prstGeom prst="straightConnector1">
            <a:avLst/>
          </a:prstGeom>
          <a:noFill/>
          <a:ln w="25400" cap="flat" cmpd="sng">
            <a:solidFill>
              <a:srgbClr val="D4AF37"/>
            </a:solidFill>
            <a:prstDash val="solid"/>
            <a:round/>
            <a:headEnd type="none" w="sm" len="sm"/>
            <a:tailEnd type="none" w="sm" len="sm"/>
          </a:ln>
        </p:spPr>
      </p:cxnSp>
      <p:sp>
        <p:nvSpPr>
          <p:cNvPr id="452" name="Google Shape;452;p22"/>
          <p:cNvSpPr txBox="1"/>
          <p:nvPr/>
        </p:nvSpPr>
        <p:spPr>
          <a:xfrm>
            <a:off x="731520" y="4114800"/>
            <a:ext cx="54864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500"/>
              <a:buFont typeface="Calibri"/>
              <a:buNone/>
            </a:pPr>
            <a:r>
              <a:rPr lang="en-US" sz="1600" b="1" i="0" u="none" strike="noStrike" cap="none" dirty="0">
                <a:solidFill>
                  <a:srgbClr val="FFFFFF"/>
                </a:solidFill>
                <a:latin typeface="Calibri"/>
                <a:ea typeface="Calibri"/>
                <a:cs typeface="Calibri"/>
                <a:sym typeface="Calibri"/>
              </a:rPr>
              <a:t>Ridwan </a:t>
            </a:r>
            <a:r>
              <a:rPr lang="en-US" sz="1600" b="1" i="0" u="none" strike="noStrike" cap="none" dirty="0" err="1">
                <a:solidFill>
                  <a:srgbClr val="FFFFFF"/>
                </a:solidFill>
                <a:latin typeface="Calibri"/>
                <a:ea typeface="Calibri"/>
                <a:cs typeface="Calibri"/>
                <a:sym typeface="Calibri"/>
              </a:rPr>
              <a:t>Okeshola</a:t>
            </a:r>
            <a:endParaRPr sz="1600" b="0" i="0" u="none" strike="noStrike" cap="none" dirty="0">
              <a:solidFill>
                <a:schemeClr val="dk1"/>
              </a:solidFill>
              <a:latin typeface="Calibri"/>
              <a:ea typeface="Calibri"/>
              <a:cs typeface="Calibri"/>
              <a:sym typeface="Calibri"/>
            </a:endParaRPr>
          </a:p>
        </p:txBody>
      </p:sp>
      <p:sp>
        <p:nvSpPr>
          <p:cNvPr id="453" name="Google Shape;453;p22"/>
          <p:cNvSpPr txBox="1"/>
          <p:nvPr/>
        </p:nvSpPr>
        <p:spPr>
          <a:xfrm>
            <a:off x="731520" y="4480560"/>
            <a:ext cx="9601200" cy="36576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AEC2D6"/>
              </a:buClr>
              <a:buSzPts val="1200"/>
              <a:buFont typeface="Calibri"/>
              <a:buNone/>
            </a:pPr>
            <a:r>
              <a:rPr lang="en-US" sz="1400" b="0" i="0" u="none" strike="noStrike" cap="none" dirty="0">
                <a:solidFill>
                  <a:srgbClr val="AEC2D6"/>
                </a:solidFill>
                <a:latin typeface="Calibri"/>
                <a:ea typeface="Calibri"/>
                <a:cs typeface="Calibri"/>
                <a:sym typeface="Calibri"/>
              </a:rPr>
              <a:t>Financial / Economic Analyst</a:t>
            </a:r>
            <a:endParaRPr sz="1400" b="0" i="0" u="none" strike="noStrike" cap="none" dirty="0">
              <a:solidFill>
                <a:schemeClr val="dk1"/>
              </a:solidFill>
              <a:latin typeface="Calibri"/>
              <a:ea typeface="Calibri"/>
              <a:cs typeface="Calibri"/>
              <a:sym typeface="Calibri"/>
            </a:endParaRPr>
          </a:p>
        </p:txBody>
      </p:sp>
      <p:sp>
        <p:nvSpPr>
          <p:cNvPr id="455" name="Google Shape;455;p22"/>
          <p:cNvSpPr txBox="1"/>
          <p:nvPr/>
        </p:nvSpPr>
        <p:spPr>
          <a:xfrm>
            <a:off x="11185855" y="6473952"/>
            <a:ext cx="457200" cy="27432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5B6472"/>
              </a:buClr>
              <a:buSzPts val="1000"/>
              <a:buFont typeface="Calibri"/>
              <a:buNone/>
            </a:pPr>
            <a:r>
              <a:rPr lang="en-US" sz="1050" b="0" i="0" u="none" strike="noStrike" cap="none">
                <a:solidFill>
                  <a:srgbClr val="5B6472"/>
                </a:solidFill>
                <a:latin typeface="Calibri"/>
                <a:ea typeface="Calibri"/>
                <a:cs typeface="Calibri"/>
                <a:sym typeface="Calibri"/>
              </a:rPr>
              <a:t>20</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TotalTime>
  <Words>2623</Words>
  <Application>Microsoft Office PowerPoint</Application>
  <PresentationFormat>Widescreen</PresentationFormat>
  <Paragraphs>435</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pc</dc:creator>
  <cp:lastModifiedBy>pc</cp:lastModifiedBy>
  <cp:revision>2</cp:revision>
  <dcterms:created xsi:type="dcterms:W3CDTF">2026-09-16T06:03:00Z</dcterms:created>
  <dcterms:modified xsi:type="dcterms:W3CDTF">2026-09-16T06:37:15Z</dcterms:modified>
</cp:coreProperties>
</file>